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2.xml" ContentType="application/vnd.openxmlformats-officedocument.presentationml.notesSlide+xml"/>
  <Override PartName="/ppt/tags/tag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18"/>
  </p:notesMasterIdLst>
  <p:handoutMasterIdLst>
    <p:handoutMasterId r:id="rId19"/>
  </p:handoutMasterIdLst>
  <p:sldIdLst>
    <p:sldId id="525" r:id="rId2"/>
    <p:sldId id="526" r:id="rId3"/>
    <p:sldId id="527" r:id="rId4"/>
    <p:sldId id="969" r:id="rId5"/>
    <p:sldId id="970" r:id="rId6"/>
    <p:sldId id="971" r:id="rId7"/>
    <p:sldId id="972" r:id="rId8"/>
    <p:sldId id="973" r:id="rId9"/>
    <p:sldId id="974" r:id="rId10"/>
    <p:sldId id="975" r:id="rId11"/>
    <p:sldId id="977" r:id="rId12"/>
    <p:sldId id="978" r:id="rId13"/>
    <p:sldId id="979" r:id="rId14"/>
    <p:sldId id="980" r:id="rId15"/>
    <p:sldId id="976" r:id="rId16"/>
    <p:sldId id="577" r:id="rId17"/>
  </p:sldIdLst>
  <p:sldSz cx="9144000" cy="6858000" type="screen4x3"/>
  <p:notesSz cx="10234613" cy="7099300"/>
  <p:custDataLst>
    <p:tags r:id="rId20"/>
  </p:custDataLst>
  <p:defaultTextStyle>
    <a:defPPr>
      <a:defRPr lang="en-US"/>
    </a:defPPr>
    <a:lvl1pPr algn="l" rtl="0" eaLnBrk="0" fontAlgn="base" hangingPunct="0">
      <a:spcBef>
        <a:spcPct val="0"/>
      </a:spcBef>
      <a:spcAft>
        <a:spcPct val="0"/>
      </a:spcAft>
      <a:defRPr sz="2400" kern="1200">
        <a:solidFill>
          <a:schemeClr val="tx1"/>
        </a:solidFill>
        <a:latin typeface="Arial" pitchFamily="34" charset="0"/>
        <a:ea typeface="ＭＳ Ｐゴシック" pitchFamily="34" charset="-128"/>
        <a:cs typeface="+mn-cs"/>
      </a:defRPr>
    </a:lvl1pPr>
    <a:lvl2pPr marL="457200" algn="l" rtl="0" eaLnBrk="0" fontAlgn="base" hangingPunct="0">
      <a:spcBef>
        <a:spcPct val="0"/>
      </a:spcBef>
      <a:spcAft>
        <a:spcPct val="0"/>
      </a:spcAft>
      <a:defRPr sz="2400" kern="1200">
        <a:solidFill>
          <a:schemeClr val="tx1"/>
        </a:solidFill>
        <a:latin typeface="Arial" pitchFamily="34" charset="0"/>
        <a:ea typeface="ＭＳ Ｐゴシック" pitchFamily="34" charset="-128"/>
        <a:cs typeface="+mn-cs"/>
      </a:defRPr>
    </a:lvl2pPr>
    <a:lvl3pPr marL="914400" algn="l" rtl="0" eaLnBrk="0" fontAlgn="base" hangingPunct="0">
      <a:spcBef>
        <a:spcPct val="0"/>
      </a:spcBef>
      <a:spcAft>
        <a:spcPct val="0"/>
      </a:spcAft>
      <a:defRPr sz="2400" kern="1200">
        <a:solidFill>
          <a:schemeClr val="tx1"/>
        </a:solidFill>
        <a:latin typeface="Arial" pitchFamily="34" charset="0"/>
        <a:ea typeface="ＭＳ Ｐゴシック" pitchFamily="34" charset="-128"/>
        <a:cs typeface="+mn-cs"/>
      </a:defRPr>
    </a:lvl3pPr>
    <a:lvl4pPr marL="1371600" algn="l" rtl="0" eaLnBrk="0" fontAlgn="base" hangingPunct="0">
      <a:spcBef>
        <a:spcPct val="0"/>
      </a:spcBef>
      <a:spcAft>
        <a:spcPct val="0"/>
      </a:spcAft>
      <a:defRPr sz="2400" kern="1200">
        <a:solidFill>
          <a:schemeClr val="tx1"/>
        </a:solidFill>
        <a:latin typeface="Arial" pitchFamily="34" charset="0"/>
        <a:ea typeface="ＭＳ Ｐゴシック" pitchFamily="34" charset="-128"/>
        <a:cs typeface="+mn-cs"/>
      </a:defRPr>
    </a:lvl4pPr>
    <a:lvl5pPr marL="1828800" algn="l" rtl="0" eaLnBrk="0" fontAlgn="base" hangingPunct="0">
      <a:spcBef>
        <a:spcPct val="0"/>
      </a:spcBef>
      <a:spcAft>
        <a:spcPct val="0"/>
      </a:spcAft>
      <a:defRPr sz="2400" kern="1200">
        <a:solidFill>
          <a:schemeClr val="tx1"/>
        </a:solidFill>
        <a:latin typeface="Arial" pitchFamily="34" charset="0"/>
        <a:ea typeface="ＭＳ Ｐゴシック" pitchFamily="34" charset="-128"/>
        <a:cs typeface="+mn-cs"/>
      </a:defRPr>
    </a:lvl5pPr>
    <a:lvl6pPr marL="2286000" algn="l" defTabSz="914400" rtl="0" eaLnBrk="1" latinLnBrk="0" hangingPunct="1">
      <a:defRPr sz="2400" kern="1200">
        <a:solidFill>
          <a:schemeClr val="tx1"/>
        </a:solidFill>
        <a:latin typeface="Arial" pitchFamily="34" charset="0"/>
        <a:ea typeface="ＭＳ Ｐゴシック" pitchFamily="34" charset="-128"/>
        <a:cs typeface="+mn-cs"/>
      </a:defRPr>
    </a:lvl6pPr>
    <a:lvl7pPr marL="2743200" algn="l" defTabSz="914400" rtl="0" eaLnBrk="1" latinLnBrk="0" hangingPunct="1">
      <a:defRPr sz="2400" kern="1200">
        <a:solidFill>
          <a:schemeClr val="tx1"/>
        </a:solidFill>
        <a:latin typeface="Arial" pitchFamily="34" charset="0"/>
        <a:ea typeface="ＭＳ Ｐゴシック" pitchFamily="34" charset="-128"/>
        <a:cs typeface="+mn-cs"/>
      </a:defRPr>
    </a:lvl7pPr>
    <a:lvl8pPr marL="3200400" algn="l" defTabSz="914400" rtl="0" eaLnBrk="1" latinLnBrk="0" hangingPunct="1">
      <a:defRPr sz="2400" kern="1200">
        <a:solidFill>
          <a:schemeClr val="tx1"/>
        </a:solidFill>
        <a:latin typeface="Arial" pitchFamily="34" charset="0"/>
        <a:ea typeface="ＭＳ Ｐゴシック" pitchFamily="34" charset="-128"/>
        <a:cs typeface="+mn-cs"/>
      </a:defRPr>
    </a:lvl8pPr>
    <a:lvl9pPr marL="3657600" algn="l" defTabSz="914400" rtl="0" eaLnBrk="1" latinLnBrk="0" hangingPunct="1">
      <a:defRPr sz="2400" kern="1200">
        <a:solidFill>
          <a:schemeClr val="tx1"/>
        </a:solidFill>
        <a:latin typeface="Arial" pitchFamily="34"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882" autoAdjust="0"/>
    <p:restoredTop sz="94795" autoAdjust="0"/>
  </p:normalViewPr>
  <p:slideViewPr>
    <p:cSldViewPr>
      <p:cViewPr varScale="1">
        <p:scale>
          <a:sx n="120" d="100"/>
          <a:sy n="120" d="100"/>
        </p:scale>
        <p:origin x="736"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0946" name="Rectangle 2"/>
          <p:cNvSpPr>
            <a:spLocks noGrp="1" noChangeArrowheads="1"/>
          </p:cNvSpPr>
          <p:nvPr>
            <p:ph type="hdr" sz="quarter"/>
          </p:nvPr>
        </p:nvSpPr>
        <p:spPr bwMode="auto">
          <a:xfrm>
            <a:off x="0" y="0"/>
            <a:ext cx="4434999" cy="35496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defRPr sz="1300" smtClean="0">
                <a:latin typeface="Arial" charset="0"/>
                <a:ea typeface="ＭＳ Ｐゴシック" pitchFamily="1" charset="-128"/>
              </a:defRPr>
            </a:lvl1pPr>
          </a:lstStyle>
          <a:p>
            <a:pPr>
              <a:defRPr/>
            </a:pPr>
            <a:endParaRPr lang="en-US"/>
          </a:p>
        </p:txBody>
      </p:sp>
      <p:sp>
        <p:nvSpPr>
          <p:cNvPr id="210947" name="Rectangle 3"/>
          <p:cNvSpPr>
            <a:spLocks noGrp="1" noChangeArrowheads="1"/>
          </p:cNvSpPr>
          <p:nvPr>
            <p:ph type="dt" sz="quarter" idx="1"/>
          </p:nvPr>
        </p:nvSpPr>
        <p:spPr bwMode="auto">
          <a:xfrm>
            <a:off x="5799614" y="0"/>
            <a:ext cx="4434999" cy="35496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a:defRPr sz="1300" smtClean="0">
                <a:latin typeface="Arial" charset="0"/>
                <a:ea typeface="ＭＳ Ｐゴシック" pitchFamily="1" charset="-128"/>
              </a:defRPr>
            </a:lvl1pPr>
          </a:lstStyle>
          <a:p>
            <a:pPr>
              <a:defRPr/>
            </a:pPr>
            <a:endParaRPr lang="en-US"/>
          </a:p>
        </p:txBody>
      </p:sp>
      <p:sp>
        <p:nvSpPr>
          <p:cNvPr id="210948" name="Rectangle 4"/>
          <p:cNvSpPr>
            <a:spLocks noGrp="1" noChangeArrowheads="1"/>
          </p:cNvSpPr>
          <p:nvPr>
            <p:ph type="ftr" sz="quarter" idx="2"/>
          </p:nvPr>
        </p:nvSpPr>
        <p:spPr bwMode="auto">
          <a:xfrm>
            <a:off x="0" y="6744335"/>
            <a:ext cx="4434999" cy="35496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defRPr sz="1300" smtClean="0">
                <a:latin typeface="Arial" charset="0"/>
                <a:ea typeface="ＭＳ Ｐゴシック" pitchFamily="1" charset="-128"/>
              </a:defRPr>
            </a:lvl1pPr>
          </a:lstStyle>
          <a:p>
            <a:pPr>
              <a:defRPr/>
            </a:pPr>
            <a:endParaRPr lang="en-US"/>
          </a:p>
        </p:txBody>
      </p:sp>
      <p:sp>
        <p:nvSpPr>
          <p:cNvPr id="210949" name="Rectangle 5"/>
          <p:cNvSpPr>
            <a:spLocks noGrp="1" noChangeArrowheads="1"/>
          </p:cNvSpPr>
          <p:nvPr>
            <p:ph type="sldNum" sz="quarter" idx="3"/>
          </p:nvPr>
        </p:nvSpPr>
        <p:spPr bwMode="auto">
          <a:xfrm>
            <a:off x="5799614" y="6744335"/>
            <a:ext cx="4434999" cy="35496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a:defRPr sz="1300" smtClean="0">
                <a:latin typeface="Arial" charset="0"/>
                <a:ea typeface="ＭＳ Ｐゴシック" pitchFamily="1" charset="-128"/>
              </a:defRPr>
            </a:lvl1pPr>
          </a:lstStyle>
          <a:p>
            <a:pPr>
              <a:defRPr/>
            </a:pPr>
            <a:fld id="{758FBA6B-A8FE-4DEC-A23E-D0DDDFAED791}" type="slidenum">
              <a:rPr lang="en-US"/>
              <a:pPr>
                <a:defRPr/>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4434999" cy="354965"/>
          </a:xfrm>
          <a:prstGeom prst="rect">
            <a:avLst/>
          </a:prstGeom>
          <a:noFill/>
          <a:ln w="9525">
            <a:noFill/>
            <a:miter lim="800000"/>
            <a:headEnd/>
            <a:tailEnd/>
          </a:ln>
        </p:spPr>
        <p:txBody>
          <a:bodyPr vert="horz" wrap="square" lIns="99048" tIns="49524" rIns="99048" bIns="49524" numCol="1" anchor="t" anchorCtr="0" compatLnSpc="1">
            <a:prstTxWarp prst="textNoShape">
              <a:avLst/>
            </a:prstTxWarp>
          </a:bodyPr>
          <a:lstStyle>
            <a:lvl1pPr>
              <a:defRPr sz="1300" smtClean="0">
                <a:latin typeface="Arial" charset="0"/>
                <a:ea typeface="ＭＳ Ｐゴシック" pitchFamily="1" charset="-128"/>
              </a:defRPr>
            </a:lvl1pPr>
          </a:lstStyle>
          <a:p>
            <a:pPr>
              <a:defRPr/>
            </a:pPr>
            <a:endParaRPr lang="en-US"/>
          </a:p>
        </p:txBody>
      </p:sp>
      <p:sp>
        <p:nvSpPr>
          <p:cNvPr id="11267" name="Rectangle 3"/>
          <p:cNvSpPr>
            <a:spLocks noGrp="1" noChangeArrowheads="1"/>
          </p:cNvSpPr>
          <p:nvPr>
            <p:ph type="dt" idx="1"/>
          </p:nvPr>
        </p:nvSpPr>
        <p:spPr bwMode="auto">
          <a:xfrm>
            <a:off x="5799614" y="0"/>
            <a:ext cx="4434999" cy="354965"/>
          </a:xfrm>
          <a:prstGeom prst="rect">
            <a:avLst/>
          </a:prstGeom>
          <a:noFill/>
          <a:ln w="9525">
            <a:noFill/>
            <a:miter lim="800000"/>
            <a:headEnd/>
            <a:tailEnd/>
          </a:ln>
        </p:spPr>
        <p:txBody>
          <a:bodyPr vert="horz" wrap="square" lIns="99048" tIns="49524" rIns="99048" bIns="49524" numCol="1" anchor="t" anchorCtr="0" compatLnSpc="1">
            <a:prstTxWarp prst="textNoShape">
              <a:avLst/>
            </a:prstTxWarp>
          </a:bodyPr>
          <a:lstStyle>
            <a:lvl1pPr algn="r">
              <a:defRPr sz="1300" smtClean="0">
                <a:latin typeface="Arial" charset="0"/>
                <a:ea typeface="ＭＳ Ｐゴシック" pitchFamily="1" charset="-128"/>
              </a:defRPr>
            </a:lvl1pPr>
          </a:lstStyle>
          <a:p>
            <a:pPr>
              <a:defRPr/>
            </a:pPr>
            <a:endParaRPr lang="en-US"/>
          </a:p>
        </p:txBody>
      </p:sp>
      <p:sp>
        <p:nvSpPr>
          <p:cNvPr id="50180" name="Rectangle 4"/>
          <p:cNvSpPr>
            <a:spLocks noGrp="1" noRot="1" noChangeAspect="1" noChangeArrowheads="1" noTextEdit="1"/>
          </p:cNvSpPr>
          <p:nvPr>
            <p:ph type="sldImg" idx="2"/>
          </p:nvPr>
        </p:nvSpPr>
        <p:spPr bwMode="auto">
          <a:xfrm>
            <a:off x="3341688" y="531813"/>
            <a:ext cx="3551237" cy="2662237"/>
          </a:xfrm>
          <a:prstGeom prst="rect">
            <a:avLst/>
          </a:prstGeom>
          <a:noFill/>
          <a:ln w="9525">
            <a:solidFill>
              <a:srgbClr val="000000"/>
            </a:solidFill>
            <a:miter lim="800000"/>
            <a:headEnd/>
            <a:tailEnd/>
          </a:ln>
        </p:spPr>
      </p:sp>
      <p:sp>
        <p:nvSpPr>
          <p:cNvPr id="11269" name="Rectangle 5"/>
          <p:cNvSpPr>
            <a:spLocks noGrp="1" noChangeArrowheads="1"/>
          </p:cNvSpPr>
          <p:nvPr>
            <p:ph type="body" sz="quarter" idx="3"/>
          </p:nvPr>
        </p:nvSpPr>
        <p:spPr bwMode="auto">
          <a:xfrm>
            <a:off x="1364615" y="3372168"/>
            <a:ext cx="7505383" cy="3194685"/>
          </a:xfrm>
          <a:prstGeom prst="rect">
            <a:avLst/>
          </a:prstGeom>
          <a:noFill/>
          <a:ln w="9525">
            <a:noFill/>
            <a:miter lim="800000"/>
            <a:headEnd/>
            <a:tailEnd/>
          </a:ln>
        </p:spPr>
        <p:txBody>
          <a:bodyPr vert="horz" wrap="square" lIns="99048" tIns="49524" rIns="99048" bIns="4952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270" name="Rectangle 6"/>
          <p:cNvSpPr>
            <a:spLocks noGrp="1" noChangeArrowheads="1"/>
          </p:cNvSpPr>
          <p:nvPr>
            <p:ph type="ftr" sz="quarter" idx="4"/>
          </p:nvPr>
        </p:nvSpPr>
        <p:spPr bwMode="auto">
          <a:xfrm>
            <a:off x="0" y="6744335"/>
            <a:ext cx="4434999" cy="354965"/>
          </a:xfrm>
          <a:prstGeom prst="rect">
            <a:avLst/>
          </a:prstGeom>
          <a:noFill/>
          <a:ln w="9525">
            <a:noFill/>
            <a:miter lim="800000"/>
            <a:headEnd/>
            <a:tailEnd/>
          </a:ln>
        </p:spPr>
        <p:txBody>
          <a:bodyPr vert="horz" wrap="square" lIns="99048" tIns="49524" rIns="99048" bIns="49524" numCol="1" anchor="b" anchorCtr="0" compatLnSpc="1">
            <a:prstTxWarp prst="textNoShape">
              <a:avLst/>
            </a:prstTxWarp>
          </a:bodyPr>
          <a:lstStyle>
            <a:lvl1pPr>
              <a:defRPr sz="1300" smtClean="0">
                <a:latin typeface="Arial" charset="0"/>
                <a:ea typeface="ＭＳ Ｐゴシック" pitchFamily="1" charset="-128"/>
              </a:defRPr>
            </a:lvl1pPr>
          </a:lstStyle>
          <a:p>
            <a:pPr>
              <a:defRPr/>
            </a:pPr>
            <a:endParaRPr lang="en-US"/>
          </a:p>
        </p:txBody>
      </p:sp>
      <p:sp>
        <p:nvSpPr>
          <p:cNvPr id="11271" name="Rectangle 7"/>
          <p:cNvSpPr>
            <a:spLocks noGrp="1" noChangeArrowheads="1"/>
          </p:cNvSpPr>
          <p:nvPr>
            <p:ph type="sldNum" sz="quarter" idx="5"/>
          </p:nvPr>
        </p:nvSpPr>
        <p:spPr bwMode="auto">
          <a:xfrm>
            <a:off x="5799614" y="6744335"/>
            <a:ext cx="4434999" cy="354965"/>
          </a:xfrm>
          <a:prstGeom prst="rect">
            <a:avLst/>
          </a:prstGeom>
          <a:noFill/>
          <a:ln w="9525">
            <a:noFill/>
            <a:miter lim="800000"/>
            <a:headEnd/>
            <a:tailEnd/>
          </a:ln>
        </p:spPr>
        <p:txBody>
          <a:bodyPr vert="horz" wrap="square" lIns="99048" tIns="49524" rIns="99048" bIns="49524" numCol="1" anchor="b" anchorCtr="0" compatLnSpc="1">
            <a:prstTxWarp prst="textNoShape">
              <a:avLst/>
            </a:prstTxWarp>
          </a:bodyPr>
          <a:lstStyle>
            <a:lvl1pPr algn="r">
              <a:defRPr sz="1300" smtClean="0">
                <a:latin typeface="Arial" charset="0"/>
                <a:ea typeface="ＭＳ Ｐゴシック" pitchFamily="1" charset="-128"/>
              </a:defRPr>
            </a:lvl1pPr>
          </a:lstStyle>
          <a:p>
            <a:pPr>
              <a:defRPr/>
            </a:pPr>
            <a:fld id="{13C79CBF-DE1A-45EA-9D70-643B1B1B3E0D}"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1pPr>
    <a:lvl2pPr marL="4572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C01C4ED-CC6F-48D7-A211-57D0E65BE23B}" type="slidenum">
              <a:rPr lang="en-US"/>
              <a:pPr/>
              <a:t>1</a:t>
            </a:fld>
            <a:endParaRPr lang="en-US"/>
          </a:p>
        </p:txBody>
      </p:sp>
      <p:sp>
        <p:nvSpPr>
          <p:cNvPr id="11266" name="Rectangle 2"/>
          <p:cNvSpPr>
            <a:spLocks noGrp="1" noRot="1" noChangeAspect="1" noChangeArrowheads="1" noTextEdit="1"/>
          </p:cNvSpPr>
          <p:nvPr>
            <p:ph type="sldImg"/>
          </p:nvPr>
        </p:nvSpPr>
        <p:spPr>
          <a:ln/>
        </p:spPr>
      </p:sp>
      <p:sp>
        <p:nvSpPr>
          <p:cNvPr id="11267" name="Rectangle 3"/>
          <p:cNvSpPr>
            <a:spLocks noGrp="1" noChangeArrowheads="1"/>
          </p:cNvSpPr>
          <p:nvPr>
            <p:ph type="body" idx="1"/>
          </p:nvPr>
        </p:nvSpPr>
        <p:spPr/>
        <p:txBody>
          <a:bodyPr/>
          <a:lstStyle/>
          <a:p>
            <a:r>
              <a:rPr lang="en-US" dirty="0"/>
              <a:t>We don't have to understand every reaction</a:t>
            </a:r>
          </a:p>
          <a:p>
            <a:r>
              <a:rPr lang="en-US" dirty="0"/>
              <a:t>Start with reactions that occur in water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77FCB-4C76-944D-1F19-9EDC15A6D79D}"/>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EBDFDFBE-045D-6B07-5EDB-6DDCEB87EC13}"/>
              </a:ext>
            </a:extLst>
          </p:cNvPr>
          <p:cNvSpPr>
            <a:spLocks noGrp="1" noChangeArrowheads="1"/>
          </p:cNvSpPr>
          <p:nvPr>
            <p:ph type="sldNum" sz="quarter" idx="5"/>
          </p:nvPr>
        </p:nvSpPr>
        <p:spPr>
          <a:ln/>
        </p:spPr>
        <p:txBody>
          <a:bodyPr/>
          <a:lstStyle/>
          <a:p>
            <a:fld id="{FC01C4ED-CC6F-48D7-A211-57D0E65BE23B}" type="slidenum">
              <a:rPr lang="en-US"/>
              <a:pPr/>
              <a:t>15</a:t>
            </a:fld>
            <a:endParaRPr lang="en-US"/>
          </a:p>
        </p:txBody>
      </p:sp>
      <p:sp>
        <p:nvSpPr>
          <p:cNvPr id="11266" name="Rectangle 2">
            <a:extLst>
              <a:ext uri="{FF2B5EF4-FFF2-40B4-BE49-F238E27FC236}">
                <a16:creationId xmlns:a16="http://schemas.microsoft.com/office/drawing/2014/main" id="{E19C2488-A9EB-2507-4CD6-569A809ECC46}"/>
              </a:ext>
            </a:extLst>
          </p:cNvPr>
          <p:cNvSpPr>
            <a:spLocks noGrp="1" noRot="1" noChangeAspect="1" noChangeArrowheads="1" noTextEdit="1"/>
          </p:cNvSpPr>
          <p:nvPr>
            <p:ph type="sldImg"/>
          </p:nvPr>
        </p:nvSpPr>
        <p:spPr>
          <a:ln/>
        </p:spPr>
      </p:sp>
      <p:sp>
        <p:nvSpPr>
          <p:cNvPr id="11267" name="Rectangle 3">
            <a:extLst>
              <a:ext uri="{FF2B5EF4-FFF2-40B4-BE49-F238E27FC236}">
                <a16:creationId xmlns:a16="http://schemas.microsoft.com/office/drawing/2014/main" id="{F61B35C9-24C4-900C-B84B-13BF02CAAAC0}"/>
              </a:ext>
            </a:extLst>
          </p:cNvPr>
          <p:cNvSpPr>
            <a:spLocks noGrp="1" noChangeArrowheads="1"/>
          </p:cNvSpPr>
          <p:nvPr>
            <p:ph type="body" idx="1"/>
          </p:nvPr>
        </p:nvSpPr>
        <p:spPr/>
        <p:txBody>
          <a:bodyPr/>
          <a:lstStyle/>
          <a:p>
            <a:r>
              <a:rPr lang="en-US" dirty="0"/>
              <a:t>We don't have to understand every reaction</a:t>
            </a:r>
          </a:p>
          <a:p>
            <a:r>
              <a:rPr lang="en-US" dirty="0"/>
              <a:t>Start with reactions that occur in water</a:t>
            </a:r>
          </a:p>
        </p:txBody>
      </p:sp>
    </p:spTree>
    <p:extLst>
      <p:ext uri="{BB962C8B-B14F-4D97-AF65-F5344CB8AC3E}">
        <p14:creationId xmlns:p14="http://schemas.microsoft.com/office/powerpoint/2010/main" val="11321986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3075"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400" smtClean="0">
                <a:latin typeface="Arial" charset="0"/>
                <a:ea typeface="ＭＳ Ｐゴシック" pitchFamily="1" charset="-128"/>
              </a:defRPr>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a:defRPr sz="1400" smtClean="0">
                <a:latin typeface="Arial" charset="0"/>
                <a:ea typeface="ＭＳ Ｐゴシック" pitchFamily="1" charset="-128"/>
              </a:defRPr>
            </a:lvl1pPr>
          </a:lstStyle>
          <a:p>
            <a:pPr>
              <a:defRPr/>
            </a:pPr>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rtl="0" eaLnBrk="0" fontAlgn="base" hangingPunct="0">
        <a:spcBef>
          <a:spcPct val="0"/>
        </a:spcBef>
        <a:spcAft>
          <a:spcPct val="0"/>
        </a:spcAft>
        <a:defRPr sz="4400">
          <a:solidFill>
            <a:schemeClr val="accent2"/>
          </a:solidFill>
          <a:latin typeface="+mj-lt"/>
          <a:ea typeface="+mj-ea"/>
          <a:cs typeface="+mj-cs"/>
        </a:defRPr>
      </a:lvl1pPr>
      <a:lvl2pPr algn="ctr" rtl="0" eaLnBrk="0" fontAlgn="base" hangingPunct="0">
        <a:spcBef>
          <a:spcPct val="0"/>
        </a:spcBef>
        <a:spcAft>
          <a:spcPct val="0"/>
        </a:spcAft>
        <a:defRPr sz="4400">
          <a:solidFill>
            <a:schemeClr val="accent2"/>
          </a:solidFill>
          <a:latin typeface="Arial" charset="0"/>
          <a:ea typeface="ＭＳ Ｐゴシック" pitchFamily="1" charset="-128"/>
        </a:defRPr>
      </a:lvl2pPr>
      <a:lvl3pPr algn="ctr" rtl="0" eaLnBrk="0" fontAlgn="base" hangingPunct="0">
        <a:spcBef>
          <a:spcPct val="0"/>
        </a:spcBef>
        <a:spcAft>
          <a:spcPct val="0"/>
        </a:spcAft>
        <a:defRPr sz="4400">
          <a:solidFill>
            <a:schemeClr val="accent2"/>
          </a:solidFill>
          <a:latin typeface="Arial" charset="0"/>
          <a:ea typeface="ＭＳ Ｐゴシック" pitchFamily="1" charset="-128"/>
        </a:defRPr>
      </a:lvl3pPr>
      <a:lvl4pPr algn="ctr" rtl="0" eaLnBrk="0" fontAlgn="base" hangingPunct="0">
        <a:spcBef>
          <a:spcPct val="0"/>
        </a:spcBef>
        <a:spcAft>
          <a:spcPct val="0"/>
        </a:spcAft>
        <a:defRPr sz="4400">
          <a:solidFill>
            <a:schemeClr val="accent2"/>
          </a:solidFill>
          <a:latin typeface="Arial" charset="0"/>
          <a:ea typeface="ＭＳ Ｐゴシック" pitchFamily="1" charset="-128"/>
        </a:defRPr>
      </a:lvl4pPr>
      <a:lvl5pPr algn="ctr" rtl="0" eaLnBrk="0" fontAlgn="base" hangingPunct="0">
        <a:spcBef>
          <a:spcPct val="0"/>
        </a:spcBef>
        <a:spcAft>
          <a:spcPct val="0"/>
        </a:spcAft>
        <a:defRPr sz="4400">
          <a:solidFill>
            <a:schemeClr val="accent2"/>
          </a:solidFill>
          <a:latin typeface="Arial" charset="0"/>
          <a:ea typeface="ＭＳ Ｐゴシック" pitchFamily="1" charset="-128"/>
        </a:defRPr>
      </a:lvl5pPr>
      <a:lvl6pPr marL="457200" algn="ctr" rtl="0" fontAlgn="base">
        <a:spcBef>
          <a:spcPct val="0"/>
        </a:spcBef>
        <a:spcAft>
          <a:spcPct val="0"/>
        </a:spcAft>
        <a:defRPr sz="4400">
          <a:solidFill>
            <a:schemeClr val="accent2"/>
          </a:solidFill>
          <a:latin typeface="Arial" charset="0"/>
          <a:ea typeface="ＭＳ Ｐゴシック" pitchFamily="1" charset="-128"/>
        </a:defRPr>
      </a:lvl6pPr>
      <a:lvl7pPr marL="914400" algn="ctr" rtl="0" fontAlgn="base">
        <a:spcBef>
          <a:spcPct val="0"/>
        </a:spcBef>
        <a:spcAft>
          <a:spcPct val="0"/>
        </a:spcAft>
        <a:defRPr sz="4400">
          <a:solidFill>
            <a:schemeClr val="accent2"/>
          </a:solidFill>
          <a:latin typeface="Arial" charset="0"/>
          <a:ea typeface="ＭＳ Ｐゴシック" pitchFamily="1" charset="-128"/>
        </a:defRPr>
      </a:lvl7pPr>
      <a:lvl8pPr marL="1371600" algn="ctr" rtl="0" fontAlgn="base">
        <a:spcBef>
          <a:spcPct val="0"/>
        </a:spcBef>
        <a:spcAft>
          <a:spcPct val="0"/>
        </a:spcAft>
        <a:defRPr sz="4400">
          <a:solidFill>
            <a:schemeClr val="accent2"/>
          </a:solidFill>
          <a:latin typeface="Arial" charset="0"/>
          <a:ea typeface="ＭＳ Ｐゴシック" pitchFamily="1" charset="-128"/>
        </a:defRPr>
      </a:lvl8pPr>
      <a:lvl9pPr marL="1828800" algn="ctr" rtl="0" fontAlgn="base">
        <a:spcBef>
          <a:spcPct val="0"/>
        </a:spcBef>
        <a:spcAft>
          <a:spcPct val="0"/>
        </a:spcAft>
        <a:defRPr sz="4400">
          <a:solidFill>
            <a:schemeClr val="accent2"/>
          </a:solidFill>
          <a:latin typeface="Arial" charset="0"/>
          <a:ea typeface="ＭＳ Ｐゴシック" pitchFamily="1" charset="-128"/>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accent2"/>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hyperlink" Target="https://www.purdue.edu/science/careers/find_internship_research/getting_started_with_research/what_is_research.html" TargetMode="Externa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link.springer.com/article/10.1007/s43681-024-00493-8"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28600" y="533400"/>
            <a:ext cx="8610600" cy="762000"/>
          </a:xfrm>
        </p:spPr>
        <p:txBody>
          <a:bodyPr/>
          <a:lstStyle/>
          <a:p>
            <a:r>
              <a:rPr lang="en-US" b="1" dirty="0">
                <a:solidFill>
                  <a:schemeClr val="accent2"/>
                </a:solidFill>
              </a:rPr>
              <a:t>What is Research?</a:t>
            </a:r>
            <a:endParaRPr lang="en-US" dirty="0"/>
          </a:p>
        </p:txBody>
      </p:sp>
      <p:sp>
        <p:nvSpPr>
          <p:cNvPr id="8196" name="Rectangle 4"/>
          <p:cNvSpPr>
            <a:spLocks noChangeArrowheads="1"/>
          </p:cNvSpPr>
          <p:nvPr/>
        </p:nvSpPr>
        <p:spPr bwMode="auto">
          <a:xfrm>
            <a:off x="1667582" y="2514600"/>
            <a:ext cx="5894562" cy="769441"/>
          </a:xfrm>
          <a:prstGeom prst="rect">
            <a:avLst/>
          </a:prstGeom>
          <a:noFill/>
          <a:ln w="9525">
            <a:noFill/>
            <a:miter lim="800000"/>
            <a:headEnd/>
            <a:tailEnd/>
          </a:ln>
        </p:spPr>
        <p:txBody>
          <a:bodyPr wrap="none">
            <a:spAutoFit/>
          </a:bodyPr>
          <a:lstStyle/>
          <a:p>
            <a:pPr algn="ctr"/>
            <a:r>
              <a:rPr lang="en-US" sz="4400" b="1" dirty="0">
                <a:solidFill>
                  <a:schemeClr val="accent2"/>
                </a:solidFill>
              </a:rPr>
              <a:t>What are your ideas?</a:t>
            </a:r>
            <a:endParaRPr lang="en-US" sz="4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a:xfrm>
            <a:off x="685800" y="228600"/>
            <a:ext cx="7772400" cy="685800"/>
          </a:xfrm>
        </p:spPr>
        <p:txBody>
          <a:bodyPr/>
          <a:lstStyle/>
          <a:p>
            <a:pPr eaLnBrk="1" hangingPunct="1"/>
            <a:r>
              <a:rPr lang="en-US" sz="4000" dirty="0"/>
              <a:t>What is Research</a:t>
            </a:r>
            <a:endParaRPr lang="en-US" dirty="0"/>
          </a:p>
        </p:txBody>
      </p:sp>
      <p:sp>
        <p:nvSpPr>
          <p:cNvPr id="5123" name="Rectangle 3"/>
          <p:cNvSpPr>
            <a:spLocks noGrp="1" noChangeArrowheads="1"/>
          </p:cNvSpPr>
          <p:nvPr>
            <p:ph type="body" idx="1"/>
          </p:nvPr>
        </p:nvSpPr>
        <p:spPr>
          <a:xfrm>
            <a:off x="304800" y="1066800"/>
            <a:ext cx="8382000" cy="4953000"/>
          </a:xfrm>
        </p:spPr>
        <p:txBody>
          <a:bodyPr/>
          <a:lstStyle/>
          <a:p>
            <a:pPr algn="just" eaLnBrk="1" hangingPunct="1">
              <a:lnSpc>
                <a:spcPct val="80000"/>
              </a:lnSpc>
            </a:pPr>
            <a:r>
              <a:rPr lang="en-US" sz="2800" dirty="0"/>
              <a:t>Google AI:</a:t>
            </a:r>
          </a:p>
          <a:p>
            <a:pPr lvl="1" algn="just" eaLnBrk="1" hangingPunct="1">
              <a:lnSpc>
                <a:spcPct val="80000"/>
              </a:lnSpc>
            </a:pPr>
            <a:r>
              <a:rPr lang="en-US" sz="2400" dirty="0"/>
              <a:t>Research is the systematic, diligent investigation into a subject to discover new facts, verify existing information, or establish a deeper understanding. Derived from the Old French word </a:t>
            </a:r>
            <a:r>
              <a:rPr lang="en-US" sz="2400" dirty="0" err="1"/>
              <a:t>recerchier</a:t>
            </a:r>
            <a:r>
              <a:rPr lang="en-US" sz="2400" dirty="0"/>
              <a:t> (meaning to "search closely"), it encompasses both the process of gathering knowledge and the resulting findings.</a:t>
            </a:r>
          </a:p>
          <a:p>
            <a:pPr lvl="1" algn="just" eaLnBrk="1" hangingPunct="1">
              <a:lnSpc>
                <a:spcPct val="80000"/>
              </a:lnSpc>
            </a:pPr>
            <a:endParaRPr lang="en-US" sz="2400" dirty="0"/>
          </a:p>
          <a:p>
            <a:pPr algn="just" eaLnBrk="1" hangingPunct="1">
              <a:lnSpc>
                <a:spcPct val="80000"/>
              </a:lnSpc>
            </a:pPr>
            <a:r>
              <a:rPr lang="en-US" sz="2800" dirty="0">
                <a:hlinkClick r:id="rId3"/>
              </a:rPr>
              <a:t>Purdue University</a:t>
            </a:r>
            <a:endParaRPr lang="en-US" sz="2800" dirty="0"/>
          </a:p>
          <a:p>
            <a:pPr lvl="1" algn="just" eaLnBrk="1" hangingPunct="1">
              <a:lnSpc>
                <a:spcPct val="80000"/>
              </a:lnSpc>
            </a:pPr>
            <a:r>
              <a:rPr lang="en-US" sz="2000" dirty="0">
                <a:sym typeface="Wingdings" pitchFamily="2" charset="2"/>
              </a:rPr>
              <a:t>Research is the pursuit of new knowledge through the process of discovery. Scientific research involves diligent inquiry and systematic observation of phenomena. Most scientific research projects involve experimentation, often requiring testing the effect of changing conditions on the results. The conditions under which specific observations are made must be carefully controlled, and records must be meticulously maintained. This ensures that observations and results can be are reproduced. Scientific research can be basic (fundamental) or applied.</a:t>
            </a:r>
          </a:p>
        </p:txBody>
      </p:sp>
    </p:spTree>
    <p:custDataLst>
      <p:tags r:id="rId1"/>
    </p:custData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Effect transition="in" filter="wipe(left)">
                                      <p:cBhvr>
                                        <p:cTn id="7" dur="500"/>
                                        <p:tgtEl>
                                          <p:spTgt spid="51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123">
                                            <p:txEl>
                                              <p:pRg st="3" end="3"/>
                                            </p:txEl>
                                          </p:spTgt>
                                        </p:tgtEl>
                                        <p:attrNameLst>
                                          <p:attrName>style.visibility</p:attrName>
                                        </p:attrNameLst>
                                      </p:cBhvr>
                                      <p:to>
                                        <p:strVal val="visible"/>
                                      </p:to>
                                    </p:set>
                                    <p:animEffect transition="in" filter="wipe(left)">
                                      <p:cBhvr>
                                        <p:cTn id="12" dur="500"/>
                                        <p:tgtEl>
                                          <p:spTgt spid="5123">
                                            <p:txEl>
                                              <p:pRg st="3" end="3"/>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5123">
                                            <p:txEl>
                                              <p:pRg st="4" end="4"/>
                                            </p:txEl>
                                          </p:spTgt>
                                        </p:tgtEl>
                                        <p:attrNameLst>
                                          <p:attrName>style.visibility</p:attrName>
                                        </p:attrNameLst>
                                      </p:cBhvr>
                                      <p:to>
                                        <p:strVal val="visible"/>
                                      </p:to>
                                    </p:set>
                                    <p:animEffect transition="in" filter="wipe(left)">
                                      <p:cBhvr>
                                        <p:cTn id="15" dur="500"/>
                                        <p:tgtEl>
                                          <p:spTgt spid="512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uiExpand="1"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a:xfrm>
            <a:off x="685800" y="533400"/>
            <a:ext cx="7772400" cy="457200"/>
          </a:xfrm>
          <a:noFill/>
        </p:spPr>
        <p:txBody>
          <a:bodyPr lIns="90488" tIns="44450" rIns="90488" bIns="44450"/>
          <a:lstStyle/>
          <a:p>
            <a:pPr eaLnBrk="1" hangingPunct="1"/>
            <a:r>
              <a:rPr lang="en-US" sz="3200" b="1" dirty="0"/>
              <a:t>Often broken down into two types</a:t>
            </a:r>
          </a:p>
        </p:txBody>
      </p:sp>
      <p:sp>
        <p:nvSpPr>
          <p:cNvPr id="16387" name="Rectangle 3"/>
          <p:cNvSpPr>
            <a:spLocks noGrp="1" noChangeArrowheads="1"/>
          </p:cNvSpPr>
          <p:nvPr>
            <p:ph type="body" idx="1"/>
          </p:nvPr>
        </p:nvSpPr>
        <p:spPr>
          <a:xfrm>
            <a:off x="685800" y="1219200"/>
            <a:ext cx="8001000" cy="4953000"/>
          </a:xfrm>
          <a:noFill/>
        </p:spPr>
        <p:txBody>
          <a:bodyPr lIns="90488" tIns="44450" rIns="90488" bIns="44450"/>
          <a:lstStyle/>
          <a:p>
            <a:pPr eaLnBrk="1" hangingPunct="1"/>
            <a:r>
              <a:rPr lang="en-US" dirty="0"/>
              <a:t>Basic (National Science Foundation)</a:t>
            </a:r>
          </a:p>
          <a:p>
            <a:pPr lvl="1" eaLnBrk="1" hangingPunct="1"/>
            <a:r>
              <a:rPr lang="en-US" dirty="0"/>
              <a:t>The objective of basic research is to gain more comprehensive knowledge or understanding of the subject under study, without specific applications in mind. In industry, basic research is defined as research that advances scientific knowledge but does not have specific immediate commercial objectives, although it may be in fields of present or potential commercial interest.</a:t>
            </a:r>
          </a:p>
          <a:p>
            <a:pPr lvl="1" eaLnBrk="1" hangingPunct="1"/>
            <a:r>
              <a:rPr lang="en-US" dirty="0"/>
              <a:t>Almost all of our research will be of this type.</a:t>
            </a:r>
          </a:p>
        </p:txBody>
      </p:sp>
    </p:spTree>
    <p:custDataLst>
      <p:tags r:id="rId1"/>
    </p:custDataLst>
  </p:cSld>
  <p:clrMapOvr>
    <a:masterClrMapping/>
  </p:clrMapOvr>
  <p:transition>
    <p:fade thruBlk="1"/>
  </p:transition>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9BAD761-105D-1A4D-94C6-30B246DDFC1E}"/>
            </a:ext>
          </a:extLst>
        </p:cNvPr>
        <p:cNvGrpSpPr/>
        <p:nvPr/>
      </p:nvGrpSpPr>
      <p:grpSpPr>
        <a:xfrm>
          <a:off x="0" y="0"/>
          <a:ext cx="0" cy="0"/>
          <a:chOff x="0" y="0"/>
          <a:chExt cx="0" cy="0"/>
        </a:xfrm>
      </p:grpSpPr>
      <p:sp>
        <p:nvSpPr>
          <p:cNvPr id="10243" name="Rectangle 2">
            <a:extLst>
              <a:ext uri="{FF2B5EF4-FFF2-40B4-BE49-F238E27FC236}">
                <a16:creationId xmlns:a16="http://schemas.microsoft.com/office/drawing/2014/main" id="{AE0BEC62-BB30-50DF-85A2-F78358E8C914}"/>
              </a:ext>
            </a:extLst>
          </p:cNvPr>
          <p:cNvSpPr>
            <a:spLocks noGrp="1" noChangeArrowheads="1"/>
          </p:cNvSpPr>
          <p:nvPr>
            <p:ph type="title"/>
          </p:nvPr>
        </p:nvSpPr>
        <p:spPr>
          <a:xfrm>
            <a:off x="685800" y="533400"/>
            <a:ext cx="7772400" cy="457200"/>
          </a:xfrm>
          <a:noFill/>
        </p:spPr>
        <p:txBody>
          <a:bodyPr lIns="90488" tIns="44450" rIns="90488" bIns="44450"/>
          <a:lstStyle/>
          <a:p>
            <a:pPr eaLnBrk="1" hangingPunct="1"/>
            <a:r>
              <a:rPr lang="en-US" sz="3200" b="1" dirty="0"/>
              <a:t>Often broken down into two types</a:t>
            </a:r>
          </a:p>
        </p:txBody>
      </p:sp>
      <p:sp>
        <p:nvSpPr>
          <p:cNvPr id="16387" name="Rectangle 3">
            <a:extLst>
              <a:ext uri="{FF2B5EF4-FFF2-40B4-BE49-F238E27FC236}">
                <a16:creationId xmlns:a16="http://schemas.microsoft.com/office/drawing/2014/main" id="{C8D72106-68A8-9FFE-0A19-B4BF66EB3FB7}"/>
              </a:ext>
            </a:extLst>
          </p:cNvPr>
          <p:cNvSpPr>
            <a:spLocks noGrp="1" noChangeArrowheads="1"/>
          </p:cNvSpPr>
          <p:nvPr>
            <p:ph type="body" idx="1"/>
          </p:nvPr>
        </p:nvSpPr>
        <p:spPr>
          <a:xfrm>
            <a:off x="685800" y="1371600"/>
            <a:ext cx="8001000" cy="4953000"/>
          </a:xfrm>
          <a:noFill/>
        </p:spPr>
        <p:txBody>
          <a:bodyPr lIns="90488" tIns="44450" rIns="90488" bIns="44450"/>
          <a:lstStyle/>
          <a:p>
            <a:pPr eaLnBrk="1" hangingPunct="1"/>
            <a:r>
              <a:rPr lang="en-US" dirty="0"/>
              <a:t>Applied (National Science Foundation)</a:t>
            </a:r>
          </a:p>
          <a:p>
            <a:pPr lvl="1" eaLnBrk="1" hangingPunct="1"/>
            <a:r>
              <a:rPr lang="en-US" dirty="0"/>
              <a:t>Applied research is aimed at gaining knowledge or understanding to determine the means by which a specific, recognized need may be met. In industry, applied research includes investigations oriented to discovering new scientific knowledge that has specific commercial objectives with respect to products, processes, or services.</a:t>
            </a:r>
          </a:p>
        </p:txBody>
      </p:sp>
    </p:spTree>
    <p:custDataLst>
      <p:tags r:id="rId1"/>
    </p:custDataLst>
    <p:extLst>
      <p:ext uri="{BB962C8B-B14F-4D97-AF65-F5344CB8AC3E}">
        <p14:creationId xmlns:p14="http://schemas.microsoft.com/office/powerpoint/2010/main" val="2582360001"/>
      </p:ext>
    </p:extLst>
  </p:cSld>
  <p:clrMapOvr>
    <a:masterClrMapping/>
  </p:clrMapOvr>
  <p:transition>
    <p:fade thruBlk="1"/>
  </p:transition>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3194B06A-FEE9-78EF-8B2F-1881E9888FBC}"/>
            </a:ext>
          </a:extLst>
        </p:cNvPr>
        <p:cNvGrpSpPr/>
        <p:nvPr/>
      </p:nvGrpSpPr>
      <p:grpSpPr>
        <a:xfrm>
          <a:off x="0" y="0"/>
          <a:ext cx="0" cy="0"/>
          <a:chOff x="0" y="0"/>
          <a:chExt cx="0" cy="0"/>
        </a:xfrm>
      </p:grpSpPr>
      <p:sp>
        <p:nvSpPr>
          <p:cNvPr id="10243" name="Rectangle 2">
            <a:extLst>
              <a:ext uri="{FF2B5EF4-FFF2-40B4-BE49-F238E27FC236}">
                <a16:creationId xmlns:a16="http://schemas.microsoft.com/office/drawing/2014/main" id="{0FF20166-8744-B043-7A87-D761A574D620}"/>
              </a:ext>
            </a:extLst>
          </p:cNvPr>
          <p:cNvSpPr>
            <a:spLocks noGrp="1" noChangeArrowheads="1"/>
          </p:cNvSpPr>
          <p:nvPr>
            <p:ph type="title"/>
          </p:nvPr>
        </p:nvSpPr>
        <p:spPr>
          <a:xfrm>
            <a:off x="571500" y="533400"/>
            <a:ext cx="8001000" cy="457200"/>
          </a:xfrm>
          <a:noFill/>
        </p:spPr>
        <p:txBody>
          <a:bodyPr lIns="90488" tIns="44450" rIns="90488" bIns="44450"/>
          <a:lstStyle/>
          <a:p>
            <a:pPr eaLnBrk="1" hangingPunct="1"/>
            <a:r>
              <a:rPr lang="en-US" sz="3200" b="1" dirty="0"/>
              <a:t>Can also be broken down by methods</a:t>
            </a:r>
          </a:p>
        </p:txBody>
      </p:sp>
      <p:sp>
        <p:nvSpPr>
          <p:cNvPr id="16387" name="Rectangle 3">
            <a:extLst>
              <a:ext uri="{FF2B5EF4-FFF2-40B4-BE49-F238E27FC236}">
                <a16:creationId xmlns:a16="http://schemas.microsoft.com/office/drawing/2014/main" id="{98330E15-CD79-82C2-7027-A24ABB48D629}"/>
              </a:ext>
            </a:extLst>
          </p:cNvPr>
          <p:cNvSpPr>
            <a:spLocks noGrp="1" noChangeArrowheads="1"/>
          </p:cNvSpPr>
          <p:nvPr>
            <p:ph type="body" idx="1"/>
          </p:nvPr>
        </p:nvSpPr>
        <p:spPr>
          <a:xfrm>
            <a:off x="685800" y="1371600"/>
            <a:ext cx="8001000" cy="4953000"/>
          </a:xfrm>
          <a:noFill/>
        </p:spPr>
        <p:txBody>
          <a:bodyPr lIns="90488" tIns="44450" rIns="90488" bIns="44450"/>
          <a:lstStyle/>
          <a:p>
            <a:pPr eaLnBrk="1" hangingPunct="1"/>
            <a:r>
              <a:rPr lang="en-US" dirty="0"/>
              <a:t>Exploratory</a:t>
            </a:r>
          </a:p>
          <a:p>
            <a:pPr lvl="1" eaLnBrk="1" hangingPunct="1"/>
            <a:r>
              <a:rPr lang="en-US" dirty="0"/>
              <a:t>Used to investigate a problem or topic that isn’t clearly defined. It helps gain background information and formulate hypotheses rather than providing final, conclusive answers.</a:t>
            </a:r>
          </a:p>
          <a:p>
            <a:pPr lvl="1" eaLnBrk="1" hangingPunct="1"/>
            <a:r>
              <a:rPr lang="en-US" dirty="0"/>
              <a:t>Methods include qualitative research like interviews, focus groups, and case studies.</a:t>
            </a:r>
          </a:p>
        </p:txBody>
      </p:sp>
    </p:spTree>
    <p:custDataLst>
      <p:tags r:id="rId1"/>
    </p:custDataLst>
    <p:extLst>
      <p:ext uri="{BB962C8B-B14F-4D97-AF65-F5344CB8AC3E}">
        <p14:creationId xmlns:p14="http://schemas.microsoft.com/office/powerpoint/2010/main" val="140268570"/>
      </p:ext>
    </p:extLst>
  </p:cSld>
  <p:clrMapOvr>
    <a:masterClrMapping/>
  </p:clrMapOvr>
  <p:transition>
    <p:fade thruBlk="1"/>
  </p:transition>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F7F5095D-0B93-2817-535B-FC0FC783330E}"/>
            </a:ext>
          </a:extLst>
        </p:cNvPr>
        <p:cNvGrpSpPr/>
        <p:nvPr/>
      </p:nvGrpSpPr>
      <p:grpSpPr>
        <a:xfrm>
          <a:off x="0" y="0"/>
          <a:ext cx="0" cy="0"/>
          <a:chOff x="0" y="0"/>
          <a:chExt cx="0" cy="0"/>
        </a:xfrm>
      </p:grpSpPr>
      <p:sp>
        <p:nvSpPr>
          <p:cNvPr id="10243" name="Rectangle 2">
            <a:extLst>
              <a:ext uri="{FF2B5EF4-FFF2-40B4-BE49-F238E27FC236}">
                <a16:creationId xmlns:a16="http://schemas.microsoft.com/office/drawing/2014/main" id="{93D7D7F7-3D43-7921-1763-48F77FE88A26}"/>
              </a:ext>
            </a:extLst>
          </p:cNvPr>
          <p:cNvSpPr>
            <a:spLocks noGrp="1" noChangeArrowheads="1"/>
          </p:cNvSpPr>
          <p:nvPr>
            <p:ph type="title"/>
          </p:nvPr>
        </p:nvSpPr>
        <p:spPr>
          <a:xfrm>
            <a:off x="571500" y="533400"/>
            <a:ext cx="8001000" cy="457200"/>
          </a:xfrm>
          <a:noFill/>
        </p:spPr>
        <p:txBody>
          <a:bodyPr lIns="90488" tIns="44450" rIns="90488" bIns="44450"/>
          <a:lstStyle/>
          <a:p>
            <a:pPr eaLnBrk="1" hangingPunct="1"/>
            <a:r>
              <a:rPr lang="en-US" sz="3200" b="1" dirty="0"/>
              <a:t>Can also be broken down by methods</a:t>
            </a:r>
          </a:p>
        </p:txBody>
      </p:sp>
      <p:sp>
        <p:nvSpPr>
          <p:cNvPr id="16387" name="Rectangle 3">
            <a:extLst>
              <a:ext uri="{FF2B5EF4-FFF2-40B4-BE49-F238E27FC236}">
                <a16:creationId xmlns:a16="http://schemas.microsoft.com/office/drawing/2014/main" id="{EBD67736-AC7D-D27F-057D-16E28A0DF356}"/>
              </a:ext>
            </a:extLst>
          </p:cNvPr>
          <p:cNvSpPr>
            <a:spLocks noGrp="1" noChangeArrowheads="1"/>
          </p:cNvSpPr>
          <p:nvPr>
            <p:ph type="body" idx="1"/>
          </p:nvPr>
        </p:nvSpPr>
        <p:spPr>
          <a:xfrm>
            <a:off x="685800" y="1371600"/>
            <a:ext cx="8001000" cy="4953000"/>
          </a:xfrm>
          <a:noFill/>
        </p:spPr>
        <p:txBody>
          <a:bodyPr lIns="90488" tIns="44450" rIns="90488" bIns="44450"/>
          <a:lstStyle/>
          <a:p>
            <a:pPr eaLnBrk="1" hangingPunct="1"/>
            <a:r>
              <a:rPr lang="en-US" dirty="0"/>
              <a:t>Descriptive</a:t>
            </a:r>
          </a:p>
          <a:p>
            <a:pPr lvl="1" eaLnBrk="1" hangingPunct="1"/>
            <a:r>
              <a:rPr lang="en-US" dirty="0"/>
              <a:t>Designed to systematically observe and describe the characteristics of a population, phenomenon, or situation without manipulating variables.</a:t>
            </a:r>
          </a:p>
          <a:p>
            <a:pPr lvl="1" eaLnBrk="1" hangingPunct="1"/>
            <a:r>
              <a:rPr lang="en-US" dirty="0"/>
              <a:t>Methods include surveys, observations, and cross-sectional studies.</a:t>
            </a:r>
          </a:p>
        </p:txBody>
      </p:sp>
    </p:spTree>
    <p:custDataLst>
      <p:tags r:id="rId1"/>
    </p:custDataLst>
    <p:extLst>
      <p:ext uri="{BB962C8B-B14F-4D97-AF65-F5344CB8AC3E}">
        <p14:creationId xmlns:p14="http://schemas.microsoft.com/office/powerpoint/2010/main" val="2122126416"/>
      </p:ext>
    </p:extLst>
  </p:cSld>
  <p:clrMapOvr>
    <a:masterClrMapping/>
  </p:clrMapOvr>
  <p:transition>
    <p:fade thruBlk="1"/>
  </p:transition>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06C881E7-95D4-9938-6975-E32A14AD706E}"/>
            </a:ext>
          </a:extLst>
        </p:cNvPr>
        <p:cNvGrpSpPr/>
        <p:nvPr/>
      </p:nvGrpSpPr>
      <p:grpSpPr>
        <a:xfrm>
          <a:off x="0" y="0"/>
          <a:ext cx="0" cy="0"/>
          <a:chOff x="0" y="0"/>
          <a:chExt cx="0" cy="0"/>
        </a:xfrm>
      </p:grpSpPr>
      <p:sp>
        <p:nvSpPr>
          <p:cNvPr id="10243" name="Rectangle 2">
            <a:extLst>
              <a:ext uri="{FF2B5EF4-FFF2-40B4-BE49-F238E27FC236}">
                <a16:creationId xmlns:a16="http://schemas.microsoft.com/office/drawing/2014/main" id="{5ACC16FC-C815-4394-8A73-79E325DEF4A9}"/>
              </a:ext>
            </a:extLst>
          </p:cNvPr>
          <p:cNvSpPr>
            <a:spLocks noGrp="1" noChangeArrowheads="1"/>
          </p:cNvSpPr>
          <p:nvPr>
            <p:ph type="title"/>
          </p:nvPr>
        </p:nvSpPr>
        <p:spPr>
          <a:xfrm>
            <a:off x="571500" y="533400"/>
            <a:ext cx="8001000" cy="457200"/>
          </a:xfrm>
          <a:noFill/>
        </p:spPr>
        <p:txBody>
          <a:bodyPr lIns="90488" tIns="44450" rIns="90488" bIns="44450"/>
          <a:lstStyle/>
          <a:p>
            <a:pPr eaLnBrk="1" hangingPunct="1"/>
            <a:r>
              <a:rPr lang="en-US" sz="3200" b="1" dirty="0"/>
              <a:t>Can also be broken down by methods</a:t>
            </a:r>
          </a:p>
        </p:txBody>
      </p:sp>
      <p:sp>
        <p:nvSpPr>
          <p:cNvPr id="16387" name="Rectangle 3">
            <a:extLst>
              <a:ext uri="{FF2B5EF4-FFF2-40B4-BE49-F238E27FC236}">
                <a16:creationId xmlns:a16="http://schemas.microsoft.com/office/drawing/2014/main" id="{41F8C0F5-F746-BB17-9819-E7E6E0179E9F}"/>
              </a:ext>
            </a:extLst>
          </p:cNvPr>
          <p:cNvSpPr>
            <a:spLocks noGrp="1" noChangeArrowheads="1"/>
          </p:cNvSpPr>
          <p:nvPr>
            <p:ph type="body" idx="1"/>
          </p:nvPr>
        </p:nvSpPr>
        <p:spPr>
          <a:xfrm>
            <a:off x="685800" y="1371600"/>
            <a:ext cx="8001000" cy="4953000"/>
          </a:xfrm>
          <a:noFill/>
        </p:spPr>
        <p:txBody>
          <a:bodyPr lIns="90488" tIns="44450" rIns="90488" bIns="44450"/>
          <a:lstStyle/>
          <a:p>
            <a:pPr eaLnBrk="1" hangingPunct="1"/>
            <a:r>
              <a:rPr lang="en-US" dirty="0"/>
              <a:t>Correlational</a:t>
            </a:r>
          </a:p>
          <a:p>
            <a:pPr lvl="1" eaLnBrk="1" hangingPunct="1"/>
            <a:r>
              <a:rPr lang="en-US" dirty="0"/>
              <a:t>Examines the statistical relationship or association between two or more variables. It reveals patterns but cannot prove that one variable causes another.</a:t>
            </a:r>
          </a:p>
          <a:p>
            <a:pPr lvl="1" eaLnBrk="1" hangingPunct="1"/>
            <a:r>
              <a:rPr lang="en-US" dirty="0"/>
              <a:t> Methods include statistical analysis of natural occurrences or archival data.</a:t>
            </a:r>
          </a:p>
        </p:txBody>
      </p:sp>
    </p:spTree>
    <p:custDataLst>
      <p:tags r:id="rId1"/>
    </p:custDataLst>
    <p:extLst>
      <p:ext uri="{BB962C8B-B14F-4D97-AF65-F5344CB8AC3E}">
        <p14:creationId xmlns:p14="http://schemas.microsoft.com/office/powerpoint/2010/main" val="847294285"/>
      </p:ext>
    </p:extLst>
  </p:cSld>
  <p:clrMapOvr>
    <a:masterClrMapping/>
  </p:clrMapOvr>
  <p:transition>
    <p:fade thruBlk="1"/>
  </p:transition>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2957A8AA-AA8E-5214-2BF2-49DC347BDE6C}"/>
            </a:ext>
          </a:extLst>
        </p:cNvPr>
        <p:cNvGrpSpPr/>
        <p:nvPr/>
      </p:nvGrpSpPr>
      <p:grpSpPr>
        <a:xfrm>
          <a:off x="0" y="0"/>
          <a:ext cx="0" cy="0"/>
          <a:chOff x="0" y="0"/>
          <a:chExt cx="0" cy="0"/>
        </a:xfrm>
      </p:grpSpPr>
      <p:sp>
        <p:nvSpPr>
          <p:cNvPr id="10243" name="Rectangle 2">
            <a:extLst>
              <a:ext uri="{FF2B5EF4-FFF2-40B4-BE49-F238E27FC236}">
                <a16:creationId xmlns:a16="http://schemas.microsoft.com/office/drawing/2014/main" id="{2F0F39D4-2592-DB17-EDFB-63E9F3A93FFC}"/>
              </a:ext>
            </a:extLst>
          </p:cNvPr>
          <p:cNvSpPr>
            <a:spLocks noGrp="1" noChangeArrowheads="1"/>
          </p:cNvSpPr>
          <p:nvPr>
            <p:ph type="title"/>
          </p:nvPr>
        </p:nvSpPr>
        <p:spPr>
          <a:xfrm>
            <a:off x="571500" y="533400"/>
            <a:ext cx="8001000" cy="457200"/>
          </a:xfrm>
          <a:noFill/>
        </p:spPr>
        <p:txBody>
          <a:bodyPr lIns="90488" tIns="44450" rIns="90488" bIns="44450"/>
          <a:lstStyle/>
          <a:p>
            <a:pPr eaLnBrk="1" hangingPunct="1"/>
            <a:r>
              <a:rPr lang="en-US" sz="3200" b="1" dirty="0"/>
              <a:t>Can also be broken down by methods</a:t>
            </a:r>
          </a:p>
        </p:txBody>
      </p:sp>
      <p:sp>
        <p:nvSpPr>
          <p:cNvPr id="16387" name="Rectangle 3">
            <a:extLst>
              <a:ext uri="{FF2B5EF4-FFF2-40B4-BE49-F238E27FC236}">
                <a16:creationId xmlns:a16="http://schemas.microsoft.com/office/drawing/2014/main" id="{19AA0194-4880-23CC-0E90-634686E41A99}"/>
              </a:ext>
            </a:extLst>
          </p:cNvPr>
          <p:cNvSpPr>
            <a:spLocks noGrp="1" noChangeArrowheads="1"/>
          </p:cNvSpPr>
          <p:nvPr>
            <p:ph type="body" idx="1"/>
          </p:nvPr>
        </p:nvSpPr>
        <p:spPr>
          <a:xfrm>
            <a:off x="685800" y="1371600"/>
            <a:ext cx="8001000" cy="4953000"/>
          </a:xfrm>
          <a:noFill/>
        </p:spPr>
        <p:txBody>
          <a:bodyPr lIns="90488" tIns="44450" rIns="90488" bIns="44450"/>
          <a:lstStyle/>
          <a:p>
            <a:pPr eaLnBrk="1" hangingPunct="1"/>
            <a:r>
              <a:rPr lang="en-US" dirty="0"/>
              <a:t>Experimental</a:t>
            </a:r>
          </a:p>
          <a:p>
            <a:pPr lvl="1" eaLnBrk="1" hangingPunct="1"/>
            <a:r>
              <a:rPr lang="en-US" dirty="0"/>
              <a:t>A highly controlled scientific approach where researchers manipulate independent variables to observe their direct effect on a dependent variable. This is the only design that can establish true cause-and-effect relationships.</a:t>
            </a:r>
          </a:p>
          <a:p>
            <a:pPr lvl="1" eaLnBrk="1" hangingPunct="1"/>
            <a:r>
              <a:rPr lang="en-US" dirty="0"/>
              <a:t> Methods include randomized controlled trials, detailed simulation, and laboratory testing.</a:t>
            </a:r>
          </a:p>
        </p:txBody>
      </p:sp>
    </p:spTree>
    <p:custDataLst>
      <p:tags r:id="rId1"/>
    </p:custDataLst>
    <p:extLst>
      <p:ext uri="{BB962C8B-B14F-4D97-AF65-F5344CB8AC3E}">
        <p14:creationId xmlns:p14="http://schemas.microsoft.com/office/powerpoint/2010/main" val="617056647"/>
      </p:ext>
    </p:extLst>
  </p:cSld>
  <p:clrMapOvr>
    <a:masterClrMapping/>
  </p:clrMapOvr>
  <p:transition>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6882C-12AC-F62C-7AC1-7F674298E199}"/>
              </a:ext>
            </a:extLst>
          </p:cNvPr>
          <p:cNvSpPr>
            <a:spLocks noGrp="1"/>
          </p:cNvSpPr>
          <p:nvPr>
            <p:ph type="title"/>
          </p:nvPr>
        </p:nvSpPr>
        <p:spPr>
          <a:xfrm>
            <a:off x="685800" y="0"/>
            <a:ext cx="7772400" cy="1143000"/>
          </a:xfrm>
        </p:spPr>
        <p:txBody>
          <a:bodyPr/>
          <a:lstStyle/>
          <a:p>
            <a:r>
              <a:rPr lang="en-US" dirty="0"/>
              <a:t>How do you get started?</a:t>
            </a:r>
          </a:p>
        </p:txBody>
      </p:sp>
      <p:sp>
        <p:nvSpPr>
          <p:cNvPr id="3" name="Content Placeholder 2">
            <a:extLst>
              <a:ext uri="{FF2B5EF4-FFF2-40B4-BE49-F238E27FC236}">
                <a16:creationId xmlns:a16="http://schemas.microsoft.com/office/drawing/2014/main" id="{61CF27FE-D565-3F49-371D-7C512DE53C76}"/>
              </a:ext>
            </a:extLst>
          </p:cNvPr>
          <p:cNvSpPr>
            <a:spLocks noGrp="1"/>
          </p:cNvSpPr>
          <p:nvPr>
            <p:ph idx="1"/>
          </p:nvPr>
        </p:nvSpPr>
        <p:spPr>
          <a:xfrm>
            <a:off x="685800" y="1219200"/>
            <a:ext cx="7772400" cy="4114800"/>
          </a:xfrm>
        </p:spPr>
        <p:txBody>
          <a:bodyPr/>
          <a:lstStyle/>
          <a:p>
            <a:r>
              <a:rPr lang="en-US" sz="2800" dirty="0"/>
              <a:t>Do some background reading on the subject. </a:t>
            </a:r>
          </a:p>
          <a:p>
            <a:pPr lvl="1"/>
            <a:r>
              <a:rPr lang="en-US" sz="2400" dirty="0"/>
              <a:t>“Library” is your friend.</a:t>
            </a:r>
          </a:p>
          <a:p>
            <a:pPr lvl="1"/>
            <a:r>
              <a:rPr lang="en-US" sz="2400" dirty="0"/>
              <a:t>There are videos on a lot of topics now!</a:t>
            </a:r>
          </a:p>
          <a:p>
            <a:r>
              <a:rPr lang="en-US" sz="2800" dirty="0"/>
              <a:t>Talk to experts (mentors).</a:t>
            </a:r>
          </a:p>
          <a:p>
            <a:r>
              <a:rPr lang="en-US" sz="2800" dirty="0"/>
              <a:t>See what others are doing in the field.</a:t>
            </a:r>
          </a:p>
          <a:p>
            <a:r>
              <a:rPr lang="en-US" sz="2800" dirty="0"/>
              <a:t>Find a gap in our understanding or notice some interesting trend or ask a question that others haven’t answered before.</a:t>
            </a:r>
          </a:p>
          <a:p>
            <a:r>
              <a:rPr lang="en-US" sz="2800" dirty="0"/>
              <a:t>Devise a plan to fill the gap or to test the trend or to answer the question.</a:t>
            </a:r>
          </a:p>
        </p:txBody>
      </p:sp>
    </p:spTree>
    <p:extLst>
      <p:ext uri="{BB962C8B-B14F-4D97-AF65-F5344CB8AC3E}">
        <p14:creationId xmlns:p14="http://schemas.microsoft.com/office/powerpoint/2010/main" val="2622113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9CD33-DD99-A1BB-C14F-ED892F8FA2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50A7C1-D004-6891-7C44-EDE4CE3B71C6}"/>
              </a:ext>
            </a:extLst>
          </p:cNvPr>
          <p:cNvSpPr>
            <a:spLocks noGrp="1"/>
          </p:cNvSpPr>
          <p:nvPr>
            <p:ph type="title"/>
          </p:nvPr>
        </p:nvSpPr>
        <p:spPr>
          <a:xfrm>
            <a:off x="685800" y="0"/>
            <a:ext cx="7772400" cy="1143000"/>
          </a:xfrm>
        </p:spPr>
        <p:txBody>
          <a:bodyPr/>
          <a:lstStyle/>
          <a:p>
            <a:r>
              <a:rPr lang="en-US" dirty="0"/>
              <a:t>SIMCODES specific</a:t>
            </a:r>
          </a:p>
        </p:txBody>
      </p:sp>
      <p:sp>
        <p:nvSpPr>
          <p:cNvPr id="3" name="Content Placeholder 2">
            <a:extLst>
              <a:ext uri="{FF2B5EF4-FFF2-40B4-BE49-F238E27FC236}">
                <a16:creationId xmlns:a16="http://schemas.microsoft.com/office/drawing/2014/main" id="{CB07EDFE-30D5-DCA3-F8C9-1C23B94A86E9}"/>
              </a:ext>
            </a:extLst>
          </p:cNvPr>
          <p:cNvSpPr>
            <a:spLocks noGrp="1"/>
          </p:cNvSpPr>
          <p:nvPr>
            <p:ph idx="1"/>
          </p:nvPr>
        </p:nvSpPr>
        <p:spPr>
          <a:xfrm>
            <a:off x="685800" y="1219200"/>
            <a:ext cx="7772400" cy="4114800"/>
          </a:xfrm>
        </p:spPr>
        <p:txBody>
          <a:bodyPr/>
          <a:lstStyle/>
          <a:p>
            <a:r>
              <a:rPr lang="en-US" sz="2800" dirty="0"/>
              <a:t>Using computational and theoretical methods to answer our questions</a:t>
            </a:r>
          </a:p>
          <a:p>
            <a:pPr lvl="1"/>
            <a:r>
              <a:rPr lang="en-US" sz="2400" dirty="0"/>
              <a:t>Simulations using physical models</a:t>
            </a:r>
          </a:p>
          <a:p>
            <a:pPr lvl="1"/>
            <a:r>
              <a:rPr lang="en-US" sz="2400" dirty="0"/>
              <a:t>Developing new models to be used – physical and/or AI based</a:t>
            </a:r>
          </a:p>
          <a:p>
            <a:pPr lvl="1"/>
            <a:r>
              <a:rPr lang="en-US" sz="2400" dirty="0"/>
              <a:t>Learning how to use computers to do what we want them to do</a:t>
            </a:r>
          </a:p>
          <a:p>
            <a:r>
              <a:rPr lang="en-US" sz="2800" dirty="0"/>
              <a:t>Sharing our results with others</a:t>
            </a:r>
          </a:p>
          <a:p>
            <a:pPr lvl="1"/>
            <a:r>
              <a:rPr lang="en-US" sz="2400" dirty="0"/>
              <a:t>Repositories for software, data, models, and results</a:t>
            </a:r>
          </a:p>
          <a:p>
            <a:pPr lvl="1"/>
            <a:r>
              <a:rPr lang="en-US" sz="2400" dirty="0"/>
              <a:t>Creating a poster to discuss the research</a:t>
            </a:r>
          </a:p>
          <a:p>
            <a:pPr lvl="1"/>
            <a:r>
              <a:rPr lang="en-US" sz="2400" dirty="0"/>
              <a:t>Perhaps a paper</a:t>
            </a:r>
          </a:p>
        </p:txBody>
      </p:sp>
    </p:spTree>
    <p:extLst>
      <p:ext uri="{BB962C8B-B14F-4D97-AF65-F5344CB8AC3E}">
        <p14:creationId xmlns:p14="http://schemas.microsoft.com/office/powerpoint/2010/main" val="365365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D3976-9D87-9CEC-743B-DB178262E4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88EE04-23A4-7AE3-6B20-E7920A9D50EC}"/>
              </a:ext>
            </a:extLst>
          </p:cNvPr>
          <p:cNvSpPr>
            <a:spLocks noGrp="1"/>
          </p:cNvSpPr>
          <p:nvPr>
            <p:ph type="title"/>
          </p:nvPr>
        </p:nvSpPr>
        <p:spPr>
          <a:xfrm>
            <a:off x="685800" y="0"/>
            <a:ext cx="7772400" cy="1143000"/>
          </a:xfrm>
        </p:spPr>
        <p:txBody>
          <a:bodyPr/>
          <a:lstStyle/>
          <a:p>
            <a:r>
              <a:rPr lang="en-US" dirty="0"/>
              <a:t>Research ethics</a:t>
            </a:r>
          </a:p>
        </p:txBody>
      </p:sp>
      <p:sp>
        <p:nvSpPr>
          <p:cNvPr id="3" name="Content Placeholder 2">
            <a:extLst>
              <a:ext uri="{FF2B5EF4-FFF2-40B4-BE49-F238E27FC236}">
                <a16:creationId xmlns:a16="http://schemas.microsoft.com/office/drawing/2014/main" id="{CEE5085C-DD44-4BF3-10F6-728394A72AC2}"/>
              </a:ext>
            </a:extLst>
          </p:cNvPr>
          <p:cNvSpPr>
            <a:spLocks noGrp="1"/>
          </p:cNvSpPr>
          <p:nvPr>
            <p:ph idx="1"/>
          </p:nvPr>
        </p:nvSpPr>
        <p:spPr>
          <a:xfrm>
            <a:off x="685800" y="1219200"/>
            <a:ext cx="7772400" cy="4114800"/>
          </a:xfrm>
        </p:spPr>
        <p:txBody>
          <a:bodyPr/>
          <a:lstStyle/>
          <a:p>
            <a:r>
              <a:rPr lang="en-US" sz="2800" dirty="0"/>
              <a:t>Conflicts of interest</a:t>
            </a:r>
          </a:p>
          <a:p>
            <a:pPr lvl="1"/>
            <a:r>
              <a:rPr lang="en-US" sz="2000" dirty="0"/>
              <a:t>High ethical standards</a:t>
            </a:r>
          </a:p>
          <a:p>
            <a:pPr lvl="1"/>
            <a:r>
              <a:rPr lang="en-US" sz="2000" dirty="0"/>
              <a:t>Financial, family, security (for example)</a:t>
            </a:r>
          </a:p>
          <a:p>
            <a:pPr lvl="1"/>
            <a:r>
              <a:rPr lang="en-US" sz="2000" dirty="0"/>
              <a:t>If you have a conflict of interest, let us know</a:t>
            </a:r>
          </a:p>
          <a:p>
            <a:r>
              <a:rPr lang="en-US" sz="2800" dirty="0"/>
              <a:t>Security</a:t>
            </a:r>
          </a:p>
          <a:p>
            <a:pPr lvl="1"/>
            <a:r>
              <a:rPr lang="en-US" sz="2000" dirty="0"/>
              <a:t>While most of what we do is open, you still need to ensure that you are keeping data secure and documented</a:t>
            </a:r>
          </a:p>
          <a:p>
            <a:r>
              <a:rPr lang="en-US" sz="2800" dirty="0"/>
              <a:t>Integrity</a:t>
            </a:r>
          </a:p>
          <a:p>
            <a:pPr lvl="1"/>
            <a:r>
              <a:rPr lang="en-US" sz="2000" dirty="0"/>
              <a:t>Do not falsify work or data</a:t>
            </a:r>
          </a:p>
          <a:p>
            <a:pPr lvl="1"/>
            <a:r>
              <a:rPr lang="en-US" sz="2000" dirty="0"/>
              <a:t>Reproducibility and replicability</a:t>
            </a:r>
          </a:p>
          <a:p>
            <a:pPr lvl="1"/>
            <a:r>
              <a:rPr lang="en-US" sz="2000" dirty="0"/>
              <a:t>Acknowledge sources of information</a:t>
            </a:r>
          </a:p>
          <a:p>
            <a:pPr lvl="1"/>
            <a:r>
              <a:rPr lang="en-US" sz="2000" dirty="0"/>
              <a:t>No plagiarism – don’t take credit for other’s work</a:t>
            </a:r>
          </a:p>
          <a:p>
            <a:pPr lvl="1"/>
            <a:r>
              <a:rPr lang="en-US" sz="2000" dirty="0"/>
              <a:t>Acknowledge all people involved appropriately</a:t>
            </a:r>
          </a:p>
        </p:txBody>
      </p:sp>
    </p:spTree>
    <p:extLst>
      <p:ext uri="{BB962C8B-B14F-4D97-AF65-F5344CB8AC3E}">
        <p14:creationId xmlns:p14="http://schemas.microsoft.com/office/powerpoint/2010/main" val="216593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3F283-65A7-7324-60D7-90DD7719C9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629AAD-519F-6174-BABA-16C17F74A2FE}"/>
              </a:ext>
            </a:extLst>
          </p:cNvPr>
          <p:cNvSpPr>
            <a:spLocks noGrp="1"/>
          </p:cNvSpPr>
          <p:nvPr>
            <p:ph type="title"/>
          </p:nvPr>
        </p:nvSpPr>
        <p:spPr>
          <a:xfrm>
            <a:off x="685800" y="0"/>
            <a:ext cx="7772400" cy="1143000"/>
          </a:xfrm>
        </p:spPr>
        <p:txBody>
          <a:bodyPr/>
          <a:lstStyle/>
          <a:p>
            <a:r>
              <a:rPr lang="en-US" dirty="0"/>
              <a:t>Research ethics</a:t>
            </a:r>
          </a:p>
        </p:txBody>
      </p:sp>
      <p:sp>
        <p:nvSpPr>
          <p:cNvPr id="3" name="Content Placeholder 2">
            <a:extLst>
              <a:ext uri="{FF2B5EF4-FFF2-40B4-BE49-F238E27FC236}">
                <a16:creationId xmlns:a16="http://schemas.microsoft.com/office/drawing/2014/main" id="{4F5ADB5E-5A6D-1384-5585-248D32F4DF30}"/>
              </a:ext>
            </a:extLst>
          </p:cNvPr>
          <p:cNvSpPr>
            <a:spLocks noGrp="1"/>
          </p:cNvSpPr>
          <p:nvPr>
            <p:ph idx="1"/>
          </p:nvPr>
        </p:nvSpPr>
        <p:spPr>
          <a:xfrm>
            <a:off x="685800" y="1219200"/>
            <a:ext cx="7772400" cy="4114800"/>
          </a:xfrm>
        </p:spPr>
        <p:txBody>
          <a:bodyPr/>
          <a:lstStyle/>
          <a:p>
            <a:r>
              <a:rPr lang="en-US" sz="2800" dirty="0"/>
              <a:t>Treat everyone with respect</a:t>
            </a:r>
          </a:p>
          <a:p>
            <a:pPr lvl="1"/>
            <a:r>
              <a:rPr lang="en-US" sz="2000" dirty="0"/>
              <a:t>No harassment or discrimination</a:t>
            </a:r>
          </a:p>
          <a:p>
            <a:pPr lvl="1"/>
            <a:r>
              <a:rPr lang="en-US" sz="2000" dirty="0"/>
              <a:t>If issues, let your mentor or me and Ryan know</a:t>
            </a:r>
          </a:p>
        </p:txBody>
      </p:sp>
    </p:spTree>
    <p:extLst>
      <p:ext uri="{BB962C8B-B14F-4D97-AF65-F5344CB8AC3E}">
        <p14:creationId xmlns:p14="http://schemas.microsoft.com/office/powerpoint/2010/main" val="7774027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4E7FF-AB65-0D5B-8819-5A7B3535D1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989EA2-3256-A5F5-D999-99E67AD116B8}"/>
              </a:ext>
            </a:extLst>
          </p:cNvPr>
          <p:cNvSpPr>
            <a:spLocks noGrp="1"/>
          </p:cNvSpPr>
          <p:nvPr>
            <p:ph type="title"/>
          </p:nvPr>
        </p:nvSpPr>
        <p:spPr>
          <a:xfrm>
            <a:off x="685800" y="0"/>
            <a:ext cx="7772400" cy="1143000"/>
          </a:xfrm>
        </p:spPr>
        <p:txBody>
          <a:bodyPr/>
          <a:lstStyle/>
          <a:p>
            <a:r>
              <a:rPr lang="en-US" dirty="0"/>
              <a:t>AI ethics</a:t>
            </a:r>
          </a:p>
        </p:txBody>
      </p:sp>
      <p:sp>
        <p:nvSpPr>
          <p:cNvPr id="3" name="Content Placeholder 2">
            <a:extLst>
              <a:ext uri="{FF2B5EF4-FFF2-40B4-BE49-F238E27FC236}">
                <a16:creationId xmlns:a16="http://schemas.microsoft.com/office/drawing/2014/main" id="{3627769A-4F41-1B63-2DEB-0B7CBD4A6A4C}"/>
              </a:ext>
            </a:extLst>
          </p:cNvPr>
          <p:cNvSpPr>
            <a:spLocks noGrp="1"/>
          </p:cNvSpPr>
          <p:nvPr>
            <p:ph idx="1"/>
          </p:nvPr>
        </p:nvSpPr>
        <p:spPr>
          <a:xfrm>
            <a:off x="685800" y="1219200"/>
            <a:ext cx="7772400" cy="4114800"/>
          </a:xfrm>
        </p:spPr>
        <p:txBody>
          <a:bodyPr/>
          <a:lstStyle/>
          <a:p>
            <a:r>
              <a:rPr lang="en-US" sz="2800" dirty="0"/>
              <a:t>Each mentor will have different expectations here, so have a discussion with them</a:t>
            </a:r>
          </a:p>
          <a:p>
            <a:r>
              <a:rPr lang="en-US" sz="2800" dirty="0"/>
              <a:t>Be totally up front if you are using AI to generate code, data, text, ideas, etc.</a:t>
            </a:r>
          </a:p>
          <a:p>
            <a:pPr lvl="1"/>
            <a:r>
              <a:rPr lang="en-US" sz="2000" dirty="0"/>
              <a:t>While AI can accelerate research, it is still not ready to replace humans.</a:t>
            </a:r>
          </a:p>
          <a:p>
            <a:r>
              <a:rPr lang="en-US" sz="2400" dirty="0"/>
              <a:t>Since this is a learning experience, you need to learn the content/approach before you use AI</a:t>
            </a:r>
          </a:p>
          <a:p>
            <a:pPr lvl="1"/>
            <a:r>
              <a:rPr lang="en-US" sz="2000" dirty="0"/>
              <a:t>Ex, learn basic Python before you have AI write code for you; otherwise you won’t know when it is wrong or has ”edge cases” that won’t work</a:t>
            </a:r>
          </a:p>
          <a:p>
            <a:r>
              <a:rPr lang="en-US" sz="2400" dirty="0"/>
              <a:t>AI is only as good as what is going in – garbage in/garbage out</a:t>
            </a:r>
          </a:p>
          <a:p>
            <a:pPr lvl="1"/>
            <a:endParaRPr lang="en-US" sz="2000" dirty="0"/>
          </a:p>
        </p:txBody>
      </p:sp>
    </p:spTree>
    <p:extLst>
      <p:ext uri="{BB962C8B-B14F-4D97-AF65-F5344CB8AC3E}">
        <p14:creationId xmlns:p14="http://schemas.microsoft.com/office/powerpoint/2010/main" val="1359160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235A3-25F4-DC99-F172-8A1923EB57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127001-9A76-0DA7-125E-2F613B0C44E8}"/>
              </a:ext>
            </a:extLst>
          </p:cNvPr>
          <p:cNvSpPr>
            <a:spLocks noGrp="1"/>
          </p:cNvSpPr>
          <p:nvPr>
            <p:ph type="title"/>
          </p:nvPr>
        </p:nvSpPr>
        <p:spPr>
          <a:xfrm>
            <a:off x="685800" y="0"/>
            <a:ext cx="7772400" cy="1143000"/>
          </a:xfrm>
        </p:spPr>
        <p:txBody>
          <a:bodyPr/>
          <a:lstStyle/>
          <a:p>
            <a:r>
              <a:rPr lang="en-US" dirty="0"/>
              <a:t>AI ethics</a:t>
            </a:r>
          </a:p>
        </p:txBody>
      </p:sp>
      <p:sp>
        <p:nvSpPr>
          <p:cNvPr id="3" name="Content Placeholder 2">
            <a:extLst>
              <a:ext uri="{FF2B5EF4-FFF2-40B4-BE49-F238E27FC236}">
                <a16:creationId xmlns:a16="http://schemas.microsoft.com/office/drawing/2014/main" id="{1D2D8313-92F7-58AE-71E7-FC443A7069C5}"/>
              </a:ext>
            </a:extLst>
          </p:cNvPr>
          <p:cNvSpPr>
            <a:spLocks noGrp="1"/>
          </p:cNvSpPr>
          <p:nvPr>
            <p:ph idx="1"/>
          </p:nvPr>
        </p:nvSpPr>
        <p:spPr>
          <a:xfrm>
            <a:off x="685800" y="1219200"/>
            <a:ext cx="7772400" cy="4114800"/>
          </a:xfrm>
        </p:spPr>
        <p:txBody>
          <a:bodyPr/>
          <a:lstStyle/>
          <a:p>
            <a:r>
              <a:rPr lang="en-US" sz="2800" dirty="0"/>
              <a:t>Test the results from AI</a:t>
            </a:r>
          </a:p>
          <a:p>
            <a:pPr lvl="1"/>
            <a:r>
              <a:rPr lang="en-US" sz="2400" dirty="0"/>
              <a:t>Does it pass the “does this make sense” test?</a:t>
            </a:r>
          </a:p>
          <a:p>
            <a:pPr lvl="1"/>
            <a:r>
              <a:rPr lang="en-US" sz="2400" dirty="0"/>
              <a:t>Think up tests that will challenge the results</a:t>
            </a:r>
          </a:p>
          <a:p>
            <a:r>
              <a:rPr lang="en-US" sz="2800" dirty="0"/>
              <a:t>Learn how to give AI good prompts so that it won’t hallucinate</a:t>
            </a:r>
          </a:p>
          <a:p>
            <a:r>
              <a:rPr lang="en-US" sz="2800" dirty="0"/>
              <a:t>Be aware of biases in the models</a:t>
            </a:r>
          </a:p>
          <a:p>
            <a:r>
              <a:rPr lang="en-US" sz="2800" dirty="0"/>
              <a:t>Question the results</a:t>
            </a:r>
          </a:p>
          <a:p>
            <a:r>
              <a:rPr lang="en-US" sz="2800" dirty="0"/>
              <a:t>Interesting article here: </a:t>
            </a:r>
            <a:r>
              <a:rPr lang="en-US" sz="2800" dirty="0">
                <a:hlinkClick r:id="rId2"/>
              </a:rPr>
              <a:t>https://link.springer.com/article/10.1007/s43681-024-00493-8</a:t>
            </a:r>
            <a:r>
              <a:rPr lang="en-US" sz="2800" dirty="0"/>
              <a:t> </a:t>
            </a:r>
            <a:endParaRPr lang="en-US" sz="2400" dirty="0"/>
          </a:p>
          <a:p>
            <a:pPr lvl="1"/>
            <a:endParaRPr lang="en-US" sz="2000" dirty="0"/>
          </a:p>
        </p:txBody>
      </p:sp>
    </p:spTree>
    <p:extLst>
      <p:ext uri="{BB962C8B-B14F-4D97-AF65-F5344CB8AC3E}">
        <p14:creationId xmlns:p14="http://schemas.microsoft.com/office/powerpoint/2010/main" val="1240902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CEF1B-3E51-500D-0B03-91AF6D1B304B}"/>
            </a:ext>
          </a:extLst>
        </p:cNvPr>
        <p:cNvGrpSpPr/>
        <p:nvPr/>
      </p:nvGrpSpPr>
      <p:grpSpPr>
        <a:xfrm>
          <a:off x="0" y="0"/>
          <a:ext cx="0" cy="0"/>
          <a:chOff x="0" y="0"/>
          <a:chExt cx="0" cy="0"/>
        </a:xfrm>
      </p:grpSpPr>
      <p:sp>
        <p:nvSpPr>
          <p:cNvPr id="8194" name="Rectangle 2">
            <a:extLst>
              <a:ext uri="{FF2B5EF4-FFF2-40B4-BE49-F238E27FC236}">
                <a16:creationId xmlns:a16="http://schemas.microsoft.com/office/drawing/2014/main" id="{B6634DCA-1CD8-0790-C232-1081D9C0652D}"/>
              </a:ext>
            </a:extLst>
          </p:cNvPr>
          <p:cNvSpPr>
            <a:spLocks noGrp="1" noChangeArrowheads="1"/>
          </p:cNvSpPr>
          <p:nvPr>
            <p:ph type="title"/>
          </p:nvPr>
        </p:nvSpPr>
        <p:spPr>
          <a:xfrm>
            <a:off x="228600" y="533400"/>
            <a:ext cx="8610600" cy="762000"/>
          </a:xfrm>
        </p:spPr>
        <p:txBody>
          <a:bodyPr/>
          <a:lstStyle/>
          <a:p>
            <a:r>
              <a:rPr lang="en-US" b="1" dirty="0">
                <a:solidFill>
                  <a:schemeClr val="accent2"/>
                </a:solidFill>
              </a:rPr>
              <a:t>Questions?</a:t>
            </a:r>
            <a:endParaRPr lang="en-US" dirty="0"/>
          </a:p>
        </p:txBody>
      </p:sp>
    </p:spTree>
    <p:extLst>
      <p:ext uri="{BB962C8B-B14F-4D97-AF65-F5344CB8AC3E}">
        <p14:creationId xmlns:p14="http://schemas.microsoft.com/office/powerpoint/2010/main" val="35307033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667000"/>
            <a:ext cx="7772400" cy="1143000"/>
          </a:xfrm>
        </p:spPr>
        <p:txBody>
          <a:bodyPr/>
          <a:lstStyle/>
          <a:p>
            <a:r>
              <a:rPr lang="en-US" dirty="0"/>
              <a:t>After lunch, around 1:30, you will be meeting with your mentors in either this room or Gilman 1761 (the Chemistry Help Center). The code for the latter is 8917.  Write this down since you will need it!!</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XPANDSHOWBAR" val="True"/>
  <p:tag name="BULLETTYPE" val="3"/>
  <p:tag name="RESPCOUNTERSTYLE" val="-1"/>
  <p:tag name="INPUTSOURCE" val="1"/>
  <p:tag name="BACKUPMAINTENANCE" val="7"/>
  <p:tag name="ROTATIONINTERVAL" val="2"/>
  <p:tag name="RACERSMAXDISPLAYED" val="5"/>
  <p:tag name="TEAMSINLEADERBOARD" val="5"/>
  <p:tag name="BUBBLEVALUEFORMAT" val="0.0"/>
  <p:tag name="CUSTOMCELLFORECOLOR" val="-16777216"/>
  <p:tag name="CUSTOMCELLBACKCOLOR4" val="-8355712"/>
  <p:tag name="DISPLAYDEVICEID" val="True"/>
  <p:tag name="GRIDSIZE" val="{Width=800, Height=600}"/>
  <p:tag name="CHARTLABELS" val="1"/>
  <p:tag name="PARTLISTDEFAULT" val="1"/>
  <p:tag name="INCORRECTPOINTVALUE" val="0"/>
  <p:tag name="AUTOADJUSTPARTRANGE" val="True"/>
  <p:tag name="FIBNUMRESULTS" val="5"/>
  <p:tag name="PRRESPONSE2" val="9"/>
  <p:tag name="PRRESPONSE6" val="5"/>
  <p:tag name="PRRESPONSE10" val="1"/>
  <p:tag name="POWERPOINTVERSION" val="12.0"/>
  <p:tag name="CSVFORMAT" val="0"/>
  <p:tag name="RESPCOUNTERFORMAT" val="0"/>
  <p:tag name="ALLOWDUPLICATES" val="False"/>
  <p:tag name="REVIEWONLY" val="False"/>
  <p:tag name="RACEANIMATIONSPEED" val="3"/>
  <p:tag name="BUBBLENAMEVISIBLE" val="True"/>
  <p:tag name="CUSTOMGRIDBACKCOLOR" val="-722948"/>
  <p:tag name="USESCHEMECOLORS" val="True"/>
  <p:tag name="GRIDROTATIONINTERVAL" val="2"/>
  <p:tag name="CHARTCOLORS" val="0"/>
  <p:tag name="INCLUDEPPT" val="True"/>
  <p:tag name="REALTIMEBACKUPPATH" val="(None)"/>
  <p:tag name="FIBDISPLAYRESULTS" val="True"/>
  <p:tag name="PRRESPONSE3" val="8"/>
  <p:tag name="PRRESPONSE8" val="3"/>
  <p:tag name="TPVERSION" val="2008"/>
  <p:tag name="ANSWERNOWSTYLE" val="-1"/>
  <p:tag name="COUNTDOWNSECONDS" val="10"/>
  <p:tag name="AUTOADVANCE" val="False"/>
  <p:tag name="SKIPREMAININGRACESLIDES" val="True"/>
  <p:tag name="BUBBLEGROUPING" val="3"/>
  <p:tag name="CUSTOMCELLBACKCOLOR3" val="-268652"/>
  <p:tag name="AUTOSIZEGRID" val="True"/>
  <p:tag name="INCLUDENONRESPONDERS" val="False"/>
  <p:tag name="REALTIMEBACKUP" val="False"/>
  <p:tag name="FIBINCLUDEOTHER" val="True"/>
  <p:tag name="PRRESPONSE5" val="6"/>
  <p:tag name="ALWAYSOPENPOLL" val="False"/>
  <p:tag name="ANSWERNOWTEXT" val="Answer Now"/>
  <p:tag name="BACKUPSESSIONS" val="True"/>
  <p:tag name="RACEENDPOINTS" val="100"/>
  <p:tag name="DEFAULTNUMTEAMS" val="5"/>
  <p:tag name="DISPLAYDEVICENUMBER" val="True"/>
  <p:tag name="RESETCHARTS" val="True"/>
  <p:tag name="ZEROBASED" val="False"/>
  <p:tag name="PRRESPONSE1" val="10"/>
  <p:tag name="SHOWFLASHWARNING" val="True"/>
  <p:tag name="COUNTDOWNSTYLE" val="-1"/>
  <p:tag name="AUTOUPDATEALIASES" val="True"/>
  <p:tag name="BUBBLESIZEVISIBLE" val="True"/>
  <p:tag name="GRIDOPACITY" val="90"/>
  <p:tag name="ALLOWUSERFEEDBACK" val="True"/>
  <p:tag name="FIBDISPLAYKEYWORDS" val="True"/>
  <p:tag name="SHOWBARVISIBLE" val="True"/>
  <p:tag name="NUMRESPONSES" val="1"/>
  <p:tag name="MAXRESPONDERS" val="5"/>
  <p:tag name="GRIDPOSITION" val="1"/>
  <p:tag name="CHARTSCALE" val="True"/>
  <p:tag name="PRRESPONSE9" val="2"/>
  <p:tag name="CHARTVALUEFORMAT" val="0%"/>
  <p:tag name="CUSTOMCELLBACKCOLOR2" val="-13395457"/>
  <p:tag name="CORRECTPOINTVALUE" val="1"/>
  <p:tag name="USESECONDARYMONITOR" val="True"/>
  <p:tag name="PARTICIPANTSINLEADERBOARD" val="5"/>
  <p:tag name="MULTIRESPDIVISOR" val="1"/>
  <p:tag name="SAVECSVWITHSESSION" val="True"/>
  <p:tag name="DISPLAYNAME" val="True"/>
  <p:tag name="PRRESPONSE7" val="4"/>
  <p:tag name="POLLINGCYCLE" val="2"/>
  <p:tag name="STDCHART" val="1"/>
  <p:tag name="RESPTABLESTYLE" val="-1"/>
  <p:tag name="CUSTOMCELLBACKCOLOR1" val="-657956"/>
  <p:tag name="PRRESPONSE4" val="7"/>
  <p:tag name="ADVANCEDSETTINGSVIEW" val="True"/>
  <p:tag name="DELIMITERS" val="3.1"/>
</p:tagLst>
</file>

<file path=ppt/tags/tag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5.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6.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7.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8.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9.xml><?xml version="1.0" encoding="utf-8"?>
<p:tagLst xmlns:a="http://schemas.openxmlformats.org/drawingml/2006/main" xmlns:r="http://schemas.openxmlformats.org/officeDocument/2006/relationships" xmlns:p="http://schemas.openxmlformats.org/presentationml/2006/main">
  <p:tag name="DELIMITERS" val="3.1"/>
</p:tagLst>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1"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1"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2808</TotalTime>
  <Words>997</Words>
  <Application>Microsoft Macintosh PowerPoint</Application>
  <PresentationFormat>On-screen Show (4:3)</PresentationFormat>
  <Paragraphs>88</Paragraphs>
  <Slides>16</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Wingdings</vt:lpstr>
      <vt:lpstr>Blank Presentation</vt:lpstr>
      <vt:lpstr>What is Research?</vt:lpstr>
      <vt:lpstr>What is Research</vt:lpstr>
      <vt:lpstr>Often broken down into two types</vt:lpstr>
      <vt:lpstr>Often broken down into two types</vt:lpstr>
      <vt:lpstr>Can also be broken down by methods</vt:lpstr>
      <vt:lpstr>Can also be broken down by methods</vt:lpstr>
      <vt:lpstr>Can also be broken down by methods</vt:lpstr>
      <vt:lpstr>Can also be broken down by methods</vt:lpstr>
      <vt:lpstr>How do you get started?</vt:lpstr>
      <vt:lpstr>SIMCODES specific</vt:lpstr>
      <vt:lpstr>Research ethics</vt:lpstr>
      <vt:lpstr>Research ethics</vt:lpstr>
      <vt:lpstr>AI ethics</vt:lpstr>
      <vt:lpstr>AI ethics</vt:lpstr>
      <vt:lpstr>Questions?</vt:lpstr>
      <vt:lpstr>After lunch, around 1:30, you will be meeting with your mentors in either this room or Gilman 1761 (the Chemistry Help Center). The code for the latter is 8917.  Write this down since you will need it!!</vt:lpstr>
    </vt:vector>
  </TitlesOfParts>
  <Company>Iowa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Theresa Windus</dc:creator>
  <cp:lastModifiedBy>Windus, Theresa L [CHEM]</cp:lastModifiedBy>
  <cp:revision>463</cp:revision>
  <cp:lastPrinted>2010-01-07T20:34:07Z</cp:lastPrinted>
  <dcterms:created xsi:type="dcterms:W3CDTF">2010-01-06T23:11:25Z</dcterms:created>
  <dcterms:modified xsi:type="dcterms:W3CDTF">2026-05-31T20:22:51Z</dcterms:modified>
</cp:coreProperties>
</file>