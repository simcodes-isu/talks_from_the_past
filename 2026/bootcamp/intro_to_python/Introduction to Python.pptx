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51" r:id="rId1"/>
    <p:sldMasterId id="2147483752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6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46CFB-3D5F-4C1A-9C3D-B56E471DE87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A2F52-AE01-4CDF-AEB3-1B76A91D6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5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00C6-4ED2-4540-9844-113DC6EF0796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9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70081-813C-46AF-A032-5E40039B2E4D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8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83795-11E2-45FF-B224-1369488AE58B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0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8C18-3A0D-4D15-9D8E-2169DF543413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9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A2B14-B23A-44B5-833D-4B7DDEDC6DEF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1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3ABB1-A244-476F-9460-C6D5A9A00EF6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33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9D7A-CBD7-4F3F-8F1F-A3EF9A2FFEB8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3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D8DC5-C3CE-41E1-8770-F303DFE02A15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4189-5BA3-4450-ACC5-382384962A4B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55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2583-B94D-4E98-9267-161D07CD79CF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7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632D17C1-4B75-4DF3-8D06-FC92FB480BC8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21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522C-73E3-0B0F-F9B6-25C43D028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CFDA6-D481-3882-67FD-5DC17BFFC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D5ED-2212-D857-9378-537E0262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CC8D4-5367-4F1D-84A3-235A4276FE86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B0E59-389E-8D2B-0287-E4C73C08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5E97F-FB57-E68E-E51A-EB13E032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72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AE70-D3D1-8789-C9F0-935B466A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1C81B-F300-54D1-8CF3-55A5D055B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34C53-3383-AD1C-4E5C-CFAEB94EE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4739-2BFD-408F-95C5-B804384A13F3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51156-56DC-3D04-900B-D461A87F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5965-0E65-062E-B6BB-3040ABB7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4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4A66-ED92-F76D-42D8-A6E838A4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750BE-D3DB-8D31-BB7C-C1A08FE59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7383C-06A2-EDB0-96C2-A7D04EFC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1C96C-501C-432D-93A6-289310F2C34B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C0E27-E3F8-6596-326F-8C748B28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A2324-7AE2-9E32-E485-A7CE4F6D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04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C79E-9E17-E162-1E37-2613C68E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58291-01E6-70D0-CD75-90935390B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16788-B9A5-161B-B748-4B4D92F77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644B5-8945-E23D-4C76-1A9A0960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FC93D-6456-412B-9E40-5011C84AC6B1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B0D65-1C57-4D4B-ABE2-31A173EA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D333B-2900-9669-80F9-68AC48A9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8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5407-156C-F90C-6815-3EBB8DB9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15195-2516-3669-3581-91C26AF8C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3D7C6-795A-9AA7-C46F-C81F15217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6E37A-AD89-6BE4-8827-CC367428C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DBF1F-5017-CBC0-97D6-DFF157DFC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4681DC-DAE4-4D50-BC18-03612613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38EB-4265-4EA6-B4E2-DFCB54564C31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9997C-DED1-9C11-EDD7-99FDF9C0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A25CC-85D1-50D0-C222-7D868F22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14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9703-9FEB-40B5-68FD-5875F43F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314E5-4809-D564-C8A6-684CD8BE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54D46-848D-4629-880F-9F8DBC381AED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4B74E-EF5B-55B2-6505-EB2E7673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23031-3407-9F7E-0377-47F488F5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3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FA18-3717-A9B9-1E63-A3EB09A1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838EE-8A1D-4FF4-9B34-8460A898A7FD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635A0-79A1-FFBD-F98D-5A585D6F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9EAF3-0C25-A890-34ED-47E79D70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68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5EA4-35BD-E71E-15ED-5248E989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6A38-2DEF-D0EC-E79D-DCB19DA3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D4AD6-6ACF-4CE9-DADE-F97B09F7D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FCE72-6951-8DAA-CE47-8481B774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008-995B-451D-B2F1-AB0FABA017D6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B590D-E2CE-A29B-655C-89F6692B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B90F5-6870-B8BC-9FBD-7F667AB9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100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AAD3-4F39-4401-D6CC-4AE19232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2C666-2B55-B983-DC62-A153284E6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ABC44-6CDA-EED0-54CE-418F1DF35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AA62E-DEFD-81A9-C8C5-B4C48386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EA8-39F3-4915-9400-44CD664BC15D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57D64-193A-2F44-8610-3E9A08A1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F7DB8-1337-75FD-507C-0441558A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2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063B-383B-1E48-9725-68280469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90D50-8CC8-3932-1D67-E948D8F36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17DD4-32ED-D90E-B01E-51C02149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A5E5-FC16-4255-8FD2-2AC4E759C060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29AA-98A0-2F83-6CCD-F005541A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7A645-2D27-3D9F-107E-E918BEFA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73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4653A-C939-A3B0-D503-681805B5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81719-5EB7-6D1E-E8DB-9FE82B7B9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BAAA3-CE39-8C95-8B32-A5C232A8B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956AA-AA44-4FFE-B8FA-91E9DB733771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9966B-C9E4-2CAC-63FD-6CE35105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B0E8-6BC4-2441-F036-5DC796FB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9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422F36C9-18FF-4581-98FA-94B9BFA7B87C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795" y="90056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11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8CD704-5707-C9E6-6D42-F8D7340B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36B7C-687F-574C-FF09-6CE4BC46D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CADAB-D2C0-093E-C590-BEB732766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DCBC4-B1A0-4F3D-9859-9A8B86CC53B0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BB9F9-B22B-D2EF-48AB-8737775F3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6764" y="631940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endParaRPr lang="en-US" dirty="0">
              <a:solidFill>
                <a:srgbClr val="FFFFFF"/>
              </a:solidFill>
              <a:latin typeface="Bierstadt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F363-0760-C998-E730-DA4E2F068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7219" y="202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82000"/>
                  </a:schemeClr>
                </a:solidFill>
                <a:latin typeface="Bierstadt" panose="020B0004020202020204" pitchFamily="34" charset="0"/>
              </a:defRPr>
            </a:lvl1pPr>
          </a:lstStyle>
          <a:p>
            <a:r>
              <a:rPr lang="en-US" dirty="0"/>
              <a:t>SIMCODES | 2026 </a:t>
            </a:r>
            <a:fld id="{11A71338-8BA2-4C79-A6C5-5A8E30081D0C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0706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6796024-DF17-4BB3-BF28-01E168A3C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3661" y="63892"/>
            <a:ext cx="2222198" cy="2133710"/>
          </a:xfrm>
          <a:custGeom>
            <a:avLst/>
            <a:gdLst>
              <a:gd name="connsiteX0" fmla="*/ 0 w 2222198"/>
              <a:gd name="connsiteY0" fmla="*/ 0 h 2133710"/>
              <a:gd name="connsiteX1" fmla="*/ 44227 w 2222198"/>
              <a:gd name="connsiteY1" fmla="*/ 2234 h 2133710"/>
              <a:gd name="connsiteX2" fmla="*/ 2193454 w 2222198"/>
              <a:gd name="connsiteY2" fmla="*/ 1945372 h 2133710"/>
              <a:gd name="connsiteX3" fmla="*/ 2222198 w 2222198"/>
              <a:gd name="connsiteY3" fmla="*/ 2133710 h 2133710"/>
              <a:gd name="connsiteX4" fmla="*/ 1394653 w 2222198"/>
              <a:gd name="connsiteY4" fmla="*/ 2133710 h 2133710"/>
              <a:gd name="connsiteX5" fmla="*/ 1391100 w 2222198"/>
              <a:gd name="connsiteY5" fmla="*/ 2110427 h 2133710"/>
              <a:gd name="connsiteX6" fmla="*/ 122376 w 2222198"/>
              <a:gd name="connsiteY6" fmla="*/ 841704 h 2133710"/>
              <a:gd name="connsiteX7" fmla="*/ 0 w 2222198"/>
              <a:gd name="connsiteY7" fmla="*/ 823027 h 213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198" h="2133710">
                <a:moveTo>
                  <a:pt x="0" y="0"/>
                </a:moveTo>
                <a:lnTo>
                  <a:pt x="44227" y="2234"/>
                </a:lnTo>
                <a:cubicBezTo>
                  <a:pt x="1114682" y="110944"/>
                  <a:pt x="1981368" y="908934"/>
                  <a:pt x="2193454" y="1945372"/>
                </a:cubicBezTo>
                <a:lnTo>
                  <a:pt x="2222198" y="2133710"/>
                </a:lnTo>
                <a:lnTo>
                  <a:pt x="1394653" y="2133710"/>
                </a:lnTo>
                <a:lnTo>
                  <a:pt x="1391100" y="2110427"/>
                </a:lnTo>
                <a:cubicBezTo>
                  <a:pt x="1260786" y="1473602"/>
                  <a:pt x="759202" y="972017"/>
                  <a:pt x="122376" y="841704"/>
                </a:cubicBezTo>
                <a:lnTo>
                  <a:pt x="0" y="82302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782574-A145-BE7D-40EB-4EB91156B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418" y="-9727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Introduction to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BA1AF-F9C8-3B77-7CEB-14B6B5D3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019" y="2679265"/>
            <a:ext cx="5414255" cy="156059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200" dirty="0">
                <a:solidFill>
                  <a:schemeClr val="tx2">
                    <a:alpha val="80000"/>
                  </a:schemeClr>
                </a:solidFill>
              </a:rPr>
              <a:t>SIMCODES 2026</a:t>
            </a:r>
          </a:p>
          <a:p>
            <a:pPr algn="l"/>
            <a:r>
              <a:rPr lang="en-US" sz="2200" dirty="0">
                <a:solidFill>
                  <a:schemeClr val="tx2">
                    <a:alpha val="80000"/>
                  </a:schemeClr>
                </a:solidFill>
              </a:rPr>
              <a:t>Iowa State University | Ames National Lab</a:t>
            </a:r>
            <a:br>
              <a:rPr lang="en-US" sz="2200" dirty="0">
                <a:solidFill>
                  <a:schemeClr val="tx2">
                    <a:alpha val="80000"/>
                  </a:schemeClr>
                </a:solidFill>
              </a:rPr>
            </a:br>
            <a:r>
              <a:rPr lang="en-US" sz="2200" dirty="0">
                <a:solidFill>
                  <a:schemeClr val="tx2">
                    <a:alpha val="80000"/>
                  </a:schemeClr>
                </a:solidFill>
              </a:rPr>
              <a:t>Dulitha Prasanna</a:t>
            </a:r>
          </a:p>
          <a:p>
            <a:pPr algn="l"/>
            <a:r>
              <a:rPr lang="en-US" sz="2200" dirty="0">
                <a:solidFill>
                  <a:schemeClr val="tx2">
                    <a:alpha val="80000"/>
                  </a:schemeClr>
                </a:solidFill>
              </a:rPr>
              <a:t>06/03/2026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1BBED-3D08-067B-B675-225640211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26" b="2"/>
          <a:stretch>
            <a:fillRect/>
          </a:stretch>
        </p:blipFill>
        <p:spPr>
          <a:xfrm>
            <a:off x="6189156" y="-3440"/>
            <a:ext cx="6015813" cy="6861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133ADF-A647-E581-38CB-8BEF1DB4E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15" y="4164128"/>
            <a:ext cx="3763283" cy="261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B971-BD1F-0EE6-52EB-AF202D76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32" y="0"/>
            <a:ext cx="11898839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What is a programming language?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C3AA3-4FBA-01DA-BBF4-E6F0B4F1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107" y="1231241"/>
            <a:ext cx="5717893" cy="1251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0998E5-82F0-A65C-EF92-CF7FB657952D}"/>
              </a:ext>
            </a:extLst>
          </p:cNvPr>
          <p:cNvSpPr txBox="1"/>
          <p:nvPr/>
        </p:nvSpPr>
        <p:spPr>
          <a:xfrm>
            <a:off x="151758" y="1369927"/>
            <a:ext cx="6225893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computer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instructions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program) to solve a problem or a specific task.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sort of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and symbols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allow us to communicate with computers.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Languages - English, French …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Languages – 0’s and 1’s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– Python, Java, C …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an intermediary between humans and computers,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translating ideas into instructions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computers can understand.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2A15B3-B11D-E6EF-A03B-88173B7A5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8" t="42378" r="53334" b="39452"/>
          <a:stretch>
            <a:fillRect/>
          </a:stretch>
        </p:blipFill>
        <p:spPr>
          <a:xfrm>
            <a:off x="6391537" y="2789980"/>
            <a:ext cx="5800463" cy="362529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ED739C-11B6-3867-2C68-A68D1AB1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94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D993E8-7524-31B4-09E9-94A2187F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31" y="289368"/>
            <a:ext cx="6065198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Python Programming</a:t>
            </a:r>
          </a:p>
        </p:txBody>
      </p:sp>
      <p:pic>
        <p:nvPicPr>
          <p:cNvPr id="1026" name="Picture 2" descr="pythonprogramming #programmingbasics #codestructure | SHIVA PRASAD RAPOLU">
            <a:extLst>
              <a:ext uri="{FF2B5EF4-FFF2-40B4-BE49-F238E27FC236}">
                <a16:creationId xmlns:a16="http://schemas.microsoft.com/office/drawing/2014/main" id="{DDB5CBD1-AD12-47F6-C893-A5769D46A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9"/>
          <a:stretch>
            <a:fillRect/>
          </a:stretch>
        </p:blipFill>
        <p:spPr bwMode="auto">
          <a:xfrm>
            <a:off x="6936074" y="1169042"/>
            <a:ext cx="5047581" cy="400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6FE2B1-78E2-0F79-FC48-DF8E7227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476"/>
          <a:stretch>
            <a:fillRect/>
          </a:stretch>
        </p:blipFill>
        <p:spPr>
          <a:xfrm>
            <a:off x="3189062" y="1522286"/>
            <a:ext cx="3211738" cy="3072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2DDB99-B9E6-14A5-7ABD-21198241D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13"/>
          <a:stretch>
            <a:fillRect/>
          </a:stretch>
        </p:blipFill>
        <p:spPr>
          <a:xfrm>
            <a:off x="300941" y="1510711"/>
            <a:ext cx="2891505" cy="3072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1A568C-AF22-0D53-A01E-C20A3988EC38}"/>
              </a:ext>
            </a:extLst>
          </p:cNvPr>
          <p:cNvSpPr txBox="1"/>
          <p:nvPr/>
        </p:nvSpPr>
        <p:spPr>
          <a:xfrm>
            <a:off x="217025" y="4856901"/>
            <a:ext cx="62647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scripts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plain-text files executed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top to bottom, whereas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interactive scripts split into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executable cells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8F3472-2A07-CBB0-3302-E328ED0B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2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22EC86-9C8C-A77A-94B0-F00950E0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55" y="185196"/>
            <a:ext cx="6065198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First Program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5131F0-BF9A-1B5C-0477-78555CFD2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19326" y="2096532"/>
            <a:ext cx="5598699" cy="1028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1C136F-D253-86AC-C06B-86F726B92963}"/>
              </a:ext>
            </a:extLst>
          </p:cNvPr>
          <p:cNvSpPr txBox="1"/>
          <p:nvPr/>
        </p:nvSpPr>
        <p:spPr>
          <a:xfrm>
            <a:off x="1446836" y="3530279"/>
            <a:ext cx="9444942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hello.py to run the script, python hello.py in the terminal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hello.ipynb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choose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kernel and run the cell.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1F6F34-452C-A3EE-31F1-8197691E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3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D656D1-3F5E-5C76-093B-3ACC89F9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55" y="185196"/>
            <a:ext cx="6620782" cy="94912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Variables and Data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49A00-5929-0E96-C1EA-F2B588EC188F}"/>
              </a:ext>
            </a:extLst>
          </p:cNvPr>
          <p:cNvSpPr txBox="1"/>
          <p:nvPr/>
        </p:nvSpPr>
        <p:spPr>
          <a:xfrm>
            <a:off x="489031" y="1279928"/>
            <a:ext cx="73817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Variable?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 in memory that can be reused.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define what kind of information the variable contains.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automatically determines the type based on the assigned value.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typing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B65C36-CABC-8E38-6F9E-28C970C33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13981"/>
              </p:ext>
            </p:extLst>
          </p:nvPr>
        </p:nvGraphicFramePr>
        <p:xfrm>
          <a:off x="803475" y="4371684"/>
          <a:ext cx="10515600" cy="19812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916120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2014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1715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433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(int)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Whole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46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 (float)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495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(str)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"Hello"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30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 (bool)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True/False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037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CA34EC-CC3B-CD68-CE5C-7283AC4E296E}"/>
              </a:ext>
            </a:extLst>
          </p:cNvPr>
          <p:cNvSpPr txBox="1"/>
          <p:nvPr/>
        </p:nvSpPr>
        <p:spPr>
          <a:xfrm>
            <a:off x="8194874" y="565075"/>
            <a:ext cx="333350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21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= 3.14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molecule = "Ethanol"</a:t>
            </a:r>
          </a:p>
          <a:p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is_valid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print(age)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print(pi)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print(molecule)</a:t>
            </a: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is_valid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print(type(age))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116C8F-412E-2710-EDD7-1927997A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1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803FD9-6B51-680F-5540-706D53B3472F}"/>
              </a:ext>
            </a:extLst>
          </p:cNvPr>
          <p:cNvSpPr txBox="1"/>
          <p:nvPr/>
        </p:nvSpPr>
        <p:spPr>
          <a:xfrm>
            <a:off x="546903" y="3584084"/>
            <a:ext cx="6094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400" b="0" i="0" dirty="0" err="1">
                <a:solidFill>
                  <a:srgbClr val="333333"/>
                </a:solidFill>
                <a:effectLst/>
                <a:latin typeface="Menlo"/>
              </a:rPr>
              <a:t>deltaH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-541.5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  </a:t>
            </a:r>
            <a:r>
              <a:rPr lang="en-US" sz="2400" b="0" i="1" dirty="0">
                <a:solidFill>
                  <a:srgbClr val="387D7D"/>
                </a:solidFill>
                <a:effectLst/>
                <a:latin typeface="Menlo"/>
              </a:rPr>
              <a:t>#kJ/mole</a:t>
            </a:r>
          </a:p>
          <a:p>
            <a:pPr algn="l" latinLnBrk="1">
              <a:buNone/>
            </a:pPr>
            <a:r>
              <a:rPr lang="en-US" sz="2400" b="0" i="0" dirty="0" err="1">
                <a:solidFill>
                  <a:srgbClr val="333333"/>
                </a:solidFill>
                <a:effectLst/>
                <a:latin typeface="Menlo"/>
              </a:rPr>
              <a:t>deltaS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10.4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    </a:t>
            </a:r>
            <a:r>
              <a:rPr lang="en-US" sz="2400" b="0" i="1" dirty="0">
                <a:solidFill>
                  <a:srgbClr val="387D7D"/>
                </a:solidFill>
                <a:effectLst/>
                <a:latin typeface="Menlo"/>
              </a:rPr>
              <a:t>#kJ/(mole K)</a:t>
            </a:r>
          </a:p>
          <a:p>
            <a:pPr algn="l" latinLnBrk="1">
              <a:buNone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temp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298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     </a:t>
            </a:r>
            <a:r>
              <a:rPr lang="en-US" sz="2400" b="0" i="1" dirty="0">
                <a:solidFill>
                  <a:srgbClr val="387D7D"/>
                </a:solidFill>
                <a:effectLst/>
                <a:latin typeface="Menlo"/>
              </a:rPr>
              <a:t>#Kelvin</a:t>
            </a:r>
          </a:p>
          <a:p>
            <a:pPr algn="l" latinLnBrk="1">
              <a:buNone/>
            </a:pPr>
            <a:r>
              <a:rPr lang="en-US" sz="2400" b="0" i="0" dirty="0" err="1">
                <a:solidFill>
                  <a:srgbClr val="333333"/>
                </a:solidFill>
                <a:effectLst/>
                <a:latin typeface="Menlo"/>
              </a:rPr>
              <a:t>deltaG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Menlo"/>
              </a:rPr>
              <a:t>deltaH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-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temp 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Menlo"/>
              </a:rPr>
              <a:t>*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Menlo"/>
              </a:rPr>
              <a:t>deltaS</a:t>
            </a:r>
            <a:endParaRPr lang="en-US" sz="2400" b="0" i="0" dirty="0">
              <a:solidFill>
                <a:srgbClr val="333333"/>
              </a:solidFill>
              <a:effectLst/>
              <a:latin typeface="Menlo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0930C3-25D0-DDD8-40E0-AC5CD58E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3" y="115748"/>
            <a:ext cx="11829390" cy="94912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Chemistry Problem - </a:t>
            </a:r>
            <a:r>
              <a:rPr lang="en-US" dirty="0">
                <a:latin typeface="Bierstadt" panose="020B0004020202020204" pitchFamily="34" charset="0"/>
              </a:rPr>
              <a:t>Calculate Gibbs Free Energy</a:t>
            </a:r>
          </a:p>
        </p:txBody>
      </p:sp>
      <p:pic>
        <p:nvPicPr>
          <p:cNvPr id="4098" name="Picture 2" descr="Gibbs Free Energy - Chemistry Steps">
            <a:extLst>
              <a:ext uri="{FF2B5EF4-FFF2-40B4-BE49-F238E27FC236}">
                <a16:creationId xmlns:a16="http://schemas.microsoft.com/office/drawing/2014/main" id="{3ABD20C6-ABD4-66F4-D2AF-D084550C6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1" y="1351775"/>
            <a:ext cx="6028782" cy="184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4A0665-965E-33E6-C96A-F469C0BDEB35}"/>
              </a:ext>
            </a:extLst>
          </p:cNvPr>
          <p:cNvSpPr txBox="1"/>
          <p:nvPr/>
        </p:nvSpPr>
        <p:spPr>
          <a:xfrm>
            <a:off x="6638081" y="1385687"/>
            <a:ext cx="555391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variables and calculate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Given:</a:t>
            </a:r>
          </a:p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-541.5 kJ/mol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298 K </a:t>
            </a:r>
          </a:p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10.4 kJ/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mol·K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 print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E94095-D718-A123-FF77-238B61002B0C}"/>
              </a:ext>
            </a:extLst>
          </p:cNvPr>
          <p:cNvSpPr txBox="1"/>
          <p:nvPr/>
        </p:nvSpPr>
        <p:spPr>
          <a:xfrm>
            <a:off x="526648" y="5273591"/>
            <a:ext cx="61461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deltaH, deltaS, temp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-541.5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10.4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298</a:t>
            </a:r>
            <a:endParaRPr lang="sv-SE" sz="2400" b="0" i="0" dirty="0">
              <a:solidFill>
                <a:srgbClr val="333333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deltaG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 deltaH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-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 temp </a:t>
            </a:r>
            <a:r>
              <a:rPr lang="sv-SE" sz="2400" b="0" i="0" dirty="0">
                <a:solidFill>
                  <a:srgbClr val="666666"/>
                </a:solidFill>
                <a:effectLst/>
                <a:latin typeface="Menlo"/>
              </a:rPr>
              <a:t>*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 deltaS</a:t>
            </a:r>
          </a:p>
          <a:p>
            <a:pPr algn="l" latinLnBrk="1">
              <a:buNone/>
            </a:pPr>
            <a:r>
              <a:rPr lang="sv-SE" sz="2400" b="1" i="0" dirty="0">
                <a:solidFill>
                  <a:srgbClr val="008000"/>
                </a:solidFill>
                <a:effectLst/>
                <a:latin typeface="Menlo"/>
              </a:rPr>
              <a:t>print</a:t>
            </a:r>
            <a:r>
              <a:rPr lang="sv-SE" sz="2400" b="0" i="0" dirty="0">
                <a:solidFill>
                  <a:srgbClr val="333333"/>
                </a:solidFill>
                <a:effectLst/>
                <a:latin typeface="Menlo"/>
              </a:rPr>
              <a:t>(deltaG)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AFC773-DD8B-9A12-32D4-D104279F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2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176FB1-2EF8-066E-478D-7CB22C6C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58" y="138898"/>
            <a:ext cx="3854432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Containers</a:t>
            </a:r>
          </a:p>
        </p:txBody>
      </p:sp>
      <p:pic>
        <p:nvPicPr>
          <p:cNvPr id="5122" name="Picture 2" descr="Python: Access the index of a list - w3resource">
            <a:extLst>
              <a:ext uri="{FF2B5EF4-FFF2-40B4-BE49-F238E27FC236}">
                <a16:creationId xmlns:a16="http://schemas.microsoft.com/office/drawing/2014/main" id="{A445B0B1-BFEC-684E-CE58-19CA26558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15"/>
          <a:stretch>
            <a:fillRect/>
          </a:stretch>
        </p:blipFill>
        <p:spPr bwMode="auto">
          <a:xfrm>
            <a:off x="2901945" y="2555581"/>
            <a:ext cx="2977995" cy="105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26F6F7-16FC-924B-FD4E-E6615B6D41C6}"/>
              </a:ext>
            </a:extLst>
          </p:cNvPr>
          <p:cNvSpPr txBox="1"/>
          <p:nvPr/>
        </p:nvSpPr>
        <p:spPr>
          <a:xfrm>
            <a:off x="196769" y="1064871"/>
            <a:ext cx="5625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many values in a single variable.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E16F76-6FDF-6CF3-2D6C-4A5E6BB79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13" y="1778330"/>
            <a:ext cx="6090432" cy="9632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7A56BE-0EF7-ED9A-E127-565553C5E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369" y="1690120"/>
            <a:ext cx="5765034" cy="16202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E202C4-5419-4E55-2A07-939D051C14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161"/>
          <a:stretch>
            <a:fillRect/>
          </a:stretch>
        </p:blipFill>
        <p:spPr>
          <a:xfrm>
            <a:off x="117865" y="4064778"/>
            <a:ext cx="6000099" cy="23244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A87110-D402-B0F3-0DF4-9A02927C87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441"/>
          <a:stretch>
            <a:fillRect/>
          </a:stretch>
        </p:blipFill>
        <p:spPr>
          <a:xfrm>
            <a:off x="6111432" y="4053204"/>
            <a:ext cx="5997425" cy="220084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CA47B-0245-5767-F7BD-DFAA5EFB4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D470F16-D2A5-D09A-75E8-45F4882DC5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39" b="12912"/>
          <a:stretch>
            <a:fillRect/>
          </a:stretch>
        </p:blipFill>
        <p:spPr bwMode="auto">
          <a:xfrm>
            <a:off x="172033" y="1094007"/>
            <a:ext cx="6900099" cy="516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B758FDB-9BCB-31B4-0C27-90AA51F4E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30" y="0"/>
            <a:ext cx="6609207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List Methods and Slice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EDCB2-6227-059D-A112-6319EA070969}"/>
              </a:ext>
            </a:extLst>
          </p:cNvPr>
          <p:cNvSpPr txBox="1"/>
          <p:nvPr/>
        </p:nvSpPr>
        <p:spPr>
          <a:xfrm>
            <a:off x="853634" y="6581001"/>
            <a:ext cx="6105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https://medium.com/@tanvijain17/learn-to-code-in-python-lists-012a5aefe6a7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94CBE-574C-0C1E-9EB9-94C5E96039FA}"/>
              </a:ext>
            </a:extLst>
          </p:cNvPr>
          <p:cNvSpPr txBox="1"/>
          <p:nvPr/>
        </p:nvSpPr>
        <p:spPr>
          <a:xfrm>
            <a:off x="7277583" y="558494"/>
            <a:ext cx="45517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1" dirty="0">
                <a:solidFill>
                  <a:srgbClr val="387D7D"/>
                </a:solidFill>
                <a:effectLst/>
                <a:latin typeface="Menlo"/>
              </a:rPr>
              <a:t># This is a list</a:t>
            </a:r>
          </a:p>
          <a:p>
            <a:pPr algn="l" latinLnBrk="1">
              <a:buNone/>
            </a:pP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[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-13.4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-2.7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5.4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42.1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]</a:t>
            </a:r>
          </a:p>
          <a:p>
            <a:pPr algn="l" latinLnBrk="1">
              <a:buNone/>
            </a:pPr>
            <a:r>
              <a:rPr lang="en-US" b="0" i="1" dirty="0">
                <a:solidFill>
                  <a:srgbClr val="387D7D"/>
                </a:solidFill>
                <a:effectLst/>
                <a:latin typeface="Menlo"/>
              </a:rPr>
              <a:t># I can determine its length</a:t>
            </a:r>
          </a:p>
          <a:p>
            <a:pPr algn="l" latinLnBrk="1">
              <a:buNone/>
            </a:pP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energy_length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Menlo"/>
              </a:rPr>
              <a:t>len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</a:p>
          <a:p>
            <a:pPr algn="l" latinLnBrk="1">
              <a:buNone/>
            </a:pPr>
            <a:r>
              <a:rPr lang="en-US" b="0" i="1" dirty="0">
                <a:solidFill>
                  <a:srgbClr val="387D7D"/>
                </a:solidFill>
                <a:effectLst/>
                <a:latin typeface="Menlo"/>
              </a:rPr>
              <a:t># print the list length</a:t>
            </a:r>
          </a:p>
          <a:p>
            <a:pPr algn="l" latinLnBrk="1">
              <a:buNone/>
            </a:pPr>
            <a:r>
              <a:rPr lang="en-US" b="1" i="0" dirty="0">
                <a:solidFill>
                  <a:srgbClr val="008000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A2121"/>
                </a:solidFill>
                <a:effectLst/>
                <a:latin typeface="Menlo"/>
              </a:rPr>
              <a:t>'The length of this list is'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energy_length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</a:p>
          <a:p>
            <a:pPr algn="l" latinLnBrk="1">
              <a:buNone/>
            </a:pPr>
            <a:r>
              <a:rPr lang="en-US" b="1" i="0" dirty="0">
                <a:solidFill>
                  <a:srgbClr val="008000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])</a:t>
            </a:r>
          </a:p>
          <a:p>
            <a:pPr algn="l" latinLnBrk="1">
              <a:buNone/>
            </a:pPr>
            <a:endParaRPr lang="en-US" b="0" i="0" dirty="0">
              <a:solidFill>
                <a:srgbClr val="333333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energy_kilojoules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]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*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4.184</a:t>
            </a:r>
            <a:endParaRPr lang="en-US" b="0" i="0" dirty="0">
              <a:solidFill>
                <a:srgbClr val="333333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b="1" i="0" dirty="0">
                <a:solidFill>
                  <a:srgbClr val="008000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energy_kilojoules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80FAEA-0CCC-BEC7-66FB-291D3F780B27}"/>
              </a:ext>
            </a:extLst>
          </p:cNvPr>
          <p:cNvSpPr txBox="1"/>
          <p:nvPr/>
        </p:nvSpPr>
        <p:spPr>
          <a:xfrm>
            <a:off x="7254433" y="3460830"/>
            <a:ext cx="4655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 a list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new_list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list_name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start:end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F3B48-6998-BBF7-C037-7400BF116590}"/>
              </a:ext>
            </a:extLst>
          </p:cNvPr>
          <p:cNvSpPr txBox="1"/>
          <p:nvPr/>
        </p:nvSpPr>
        <p:spPr>
          <a:xfrm>
            <a:off x="7289156" y="4271059"/>
            <a:ext cx="46096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short_list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0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: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2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]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slice1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[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1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:]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slice2 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=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enlo"/>
              </a:rPr>
              <a:t>energy_kcal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[:</a:t>
            </a:r>
            <a:r>
              <a:rPr lang="en-US" b="0" i="0" dirty="0">
                <a:solidFill>
                  <a:srgbClr val="666666"/>
                </a:solidFill>
                <a:effectLst/>
                <a:latin typeface="Menlo"/>
              </a:rPr>
              <a:t>3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]</a:t>
            </a:r>
          </a:p>
          <a:p>
            <a:pPr algn="l" latinLnBrk="1">
              <a:buNone/>
            </a:pPr>
            <a:r>
              <a:rPr lang="en-US" b="1" i="0" dirty="0">
                <a:solidFill>
                  <a:srgbClr val="008000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A2121"/>
                </a:solidFill>
                <a:effectLst/>
                <a:latin typeface="Menlo"/>
              </a:rPr>
              <a:t>'slice1 is'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, slice1)</a:t>
            </a:r>
          </a:p>
          <a:p>
            <a:pPr algn="l" latinLnBrk="1">
              <a:buNone/>
            </a:pPr>
            <a:r>
              <a:rPr lang="en-US" b="1" i="0" dirty="0">
                <a:solidFill>
                  <a:srgbClr val="008000"/>
                </a:solidFill>
                <a:effectLst/>
                <a:latin typeface="Menlo"/>
              </a:rPr>
              <a:t>print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(</a:t>
            </a:r>
            <a:r>
              <a:rPr lang="en-US" b="0" i="0" dirty="0">
                <a:solidFill>
                  <a:srgbClr val="BA2121"/>
                </a:solidFill>
                <a:effectLst/>
                <a:latin typeface="Menlo"/>
              </a:rPr>
              <a:t>'slice2 is'</a:t>
            </a:r>
            <a:r>
              <a:rPr lang="en-US" b="0" i="0" dirty="0">
                <a:solidFill>
                  <a:srgbClr val="333333"/>
                </a:solidFill>
                <a:effectLst/>
                <a:latin typeface="Menlo"/>
              </a:rPr>
              <a:t>, slice2)</a:t>
            </a:r>
          </a:p>
          <a:p>
            <a:pPr algn="l" latinLnBrk="1">
              <a:buNone/>
            </a:pPr>
            <a:endParaRPr lang="en-US" b="0" i="0" dirty="0">
              <a:solidFill>
                <a:srgbClr val="333333"/>
              </a:solidFill>
              <a:effectLst/>
              <a:latin typeface="Menl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DD9798-7077-3ADE-9D45-A4CD833F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381434-7FDB-DA56-6C0D-F0F82244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6" y="0"/>
            <a:ext cx="6609207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Control Flow Statements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327D8-4F06-9156-9DB6-C5F8F6AC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92" t="13946" r="30076" b="72107"/>
          <a:stretch>
            <a:fillRect/>
          </a:stretch>
        </p:blipFill>
        <p:spPr>
          <a:xfrm>
            <a:off x="872358" y="998483"/>
            <a:ext cx="5131356" cy="1219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3D0BBE-0E36-F1FA-498D-BF85B67AD7FD}"/>
              </a:ext>
            </a:extLst>
          </p:cNvPr>
          <p:cNvSpPr txBox="1"/>
          <p:nvPr/>
        </p:nvSpPr>
        <p:spPr>
          <a:xfrm>
            <a:off x="489529" y="2457742"/>
            <a:ext cx="5869229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Control flow is mainly divided into: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(Decision Making) - if,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else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(Repetition) - for loop, while loop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 Statements - break, continue, pass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1B98CA-7FD4-D55D-6549-4DB4A5E8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446" y="622131"/>
            <a:ext cx="2859272" cy="31701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F538D3-F36A-950B-830B-B2F9D1A7A261}"/>
              </a:ext>
            </a:extLst>
          </p:cNvPr>
          <p:cNvSpPr txBox="1"/>
          <p:nvPr/>
        </p:nvSpPr>
        <p:spPr>
          <a:xfrm>
            <a:off x="1176235" y="4553342"/>
            <a:ext cx="40475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deltaG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= -1.0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if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deltaG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&lt; 0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(‘Spontaneous’)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elif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deltaG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&gt; 0:</a:t>
            </a:r>
          </a:p>
          <a:p>
            <a:pPr lvl="0"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(‘non-spontaneous’)</a:t>
            </a:r>
          </a:p>
          <a:p>
            <a:pPr lvl="0">
              <a:defRPr/>
            </a:pPr>
            <a:r>
              <a:rPr lang="en-US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else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pPr lvl="0"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(‘equilibrium’)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13B816-BA01-43C0-EC5E-F86D756E3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544" y="3948032"/>
            <a:ext cx="3450805" cy="2428811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CB7776A-B1F9-42EE-8794-9841F737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41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561D8C-6C4A-13F2-BD06-23B52B8A1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6" y="0"/>
            <a:ext cx="6609207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Loops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B675C-7500-9CA5-8F44-9144FA73A89D}"/>
              </a:ext>
            </a:extLst>
          </p:cNvPr>
          <p:cNvSpPr txBox="1"/>
          <p:nvPr/>
        </p:nvSpPr>
        <p:spPr>
          <a:xfrm>
            <a:off x="556908" y="859224"/>
            <a:ext cx="6094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temperatures = [20, 30, 40, 50,60]</a:t>
            </a:r>
          </a:p>
          <a:p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(temperatures[0])</a:t>
            </a:r>
          </a:p>
          <a:p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(temperatures[1])</a:t>
            </a:r>
          </a:p>
          <a:p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(temperatures[2])</a:t>
            </a:r>
          </a:p>
          <a:p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(temperatures[3])</a:t>
            </a:r>
          </a:p>
          <a:p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(temperatures[4])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6D09F-67C2-76E8-F6AB-54796066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609"/>
          <a:stretch>
            <a:fillRect/>
          </a:stretch>
        </p:blipFill>
        <p:spPr>
          <a:xfrm>
            <a:off x="4831624" y="187853"/>
            <a:ext cx="7107447" cy="26111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8CCEE2-1F51-C9EA-0322-5FCACF40BB7C}"/>
              </a:ext>
            </a:extLst>
          </p:cNvPr>
          <p:cNvSpPr txBox="1"/>
          <p:nvPr/>
        </p:nvSpPr>
        <p:spPr>
          <a:xfrm>
            <a:off x="391538" y="3758067"/>
            <a:ext cx="33147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range(start, stop, step)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(range(5))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for 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in range(1, 6):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 in range(1, 6):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for 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in range(0, 11, 2):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i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1E6BA-3EA8-2B23-E5E2-7B37DC0E5197}"/>
              </a:ext>
            </a:extLst>
          </p:cNvPr>
          <p:cNvSpPr txBox="1"/>
          <p:nvPr/>
        </p:nvSpPr>
        <p:spPr>
          <a:xfrm>
            <a:off x="388295" y="3094194"/>
            <a:ext cx="40475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for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temperature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in </a:t>
            </a:r>
            <a:r>
              <a:rPr lang="en-US" dirty="0">
                <a:solidFill>
                  <a:srgbClr val="0070C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temperatures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print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(temperature)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A9F9EB-C163-497B-C813-5F288DA9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174" y="3366301"/>
            <a:ext cx="6133108" cy="2712955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7ABE784-1F3C-C1C8-4660-6769D12F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E59DD23-1880-8784-F2E9-63924BDE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6" y="0"/>
            <a:ext cx="6609207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Jump Statements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5B6AD4-109B-C24F-FC55-11C7FF637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939" t="38161" r="2593" b="16321"/>
          <a:stretch>
            <a:fillRect/>
          </a:stretch>
        </p:blipFill>
        <p:spPr>
          <a:xfrm>
            <a:off x="630621" y="1070553"/>
            <a:ext cx="4971393" cy="47938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A88D7C-FD13-2495-0AE9-60CFC608C620}"/>
              </a:ext>
            </a:extLst>
          </p:cNvPr>
          <p:cNvSpPr txBox="1"/>
          <p:nvPr/>
        </p:nvSpPr>
        <p:spPr>
          <a:xfrm>
            <a:off x="5690681" y="329585"/>
            <a:ext cx="630352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catalyst that provides a safe and efficient reaction rate at room temperature (298 K). You will calculate the rate constant (k) using the Arrhenius equation: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is the rate constant (s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the pre-exponential factor (assume 1.0 x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activation energy in J/mol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the ideal gas constant (8.314  J/(mol K))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is the temperature in Kelvin (298 K)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a dictionary containing 5 different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catalysts.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[85000,75000,50000,40000,30000]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script that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 through the dictionary and calculates the rate constant 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catalyst using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(import math). If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is less than 0.01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reaction is too slow,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 message and skip to the next catalyst (continue).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is greater than 1000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reaction will generate too much heat and explode! Print an emergency warning and shut down the entire screening process immediately (break).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is in the safe operating range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print out that you have found a viable catalyst.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C9D908-9178-A7FD-EB34-E8A80707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93" r="34408" b="81236"/>
          <a:stretch>
            <a:fillRect/>
          </a:stretch>
        </p:blipFill>
        <p:spPr>
          <a:xfrm>
            <a:off x="8950872" y="1271751"/>
            <a:ext cx="1501475" cy="48347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62CC31F-540E-DD30-3A8A-B7395174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3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AD19C49-D4FD-9DE2-DB02-5BF15799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6" y="0"/>
            <a:ext cx="6609207" cy="949124"/>
          </a:xfrm>
        </p:spPr>
        <p:txBody>
          <a:bodyPr>
            <a:normAutofit/>
          </a:bodyPr>
          <a:lstStyle/>
          <a:p>
            <a:r>
              <a:rPr lang="en-US" b="1" dirty="0">
                <a:latin typeface="Bierstadt" panose="020B0004020202020204" pitchFamily="34" charset="0"/>
              </a:rPr>
              <a:t>Functions</a:t>
            </a:r>
          </a:p>
        </p:txBody>
      </p:sp>
      <p:pic>
        <p:nvPicPr>
          <p:cNvPr id="2050" name="Picture 2" descr="Python Functions (With Examples)">
            <a:extLst>
              <a:ext uri="{FF2B5EF4-FFF2-40B4-BE49-F238E27FC236}">
                <a16:creationId xmlns:a16="http://schemas.microsoft.com/office/drawing/2014/main" id="{B1D25661-5736-3948-69CA-54AE0CC51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2106"/>
            <a:ext cx="70104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 - Functions">
            <a:extLst>
              <a:ext uri="{FF2B5EF4-FFF2-40B4-BE49-F238E27FC236}">
                <a16:creationId xmlns:a16="http://schemas.microsoft.com/office/drawing/2014/main" id="{60A74523-FA14-0F74-7ACF-DB0FDC418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60" y="3182926"/>
            <a:ext cx="57150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145123-F8C4-CEB4-F6BA-4C00943ADA7A}"/>
              </a:ext>
            </a:extLst>
          </p:cNvPr>
          <p:cNvSpPr txBox="1"/>
          <p:nvPr/>
        </p:nvSpPr>
        <p:spPr>
          <a:xfrm>
            <a:off x="6832301" y="1506221"/>
            <a:ext cx="482870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a)Write a function to calculate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Extend this function to print whether the reaction is spontaneous or not.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Evaluate this function for </a:t>
            </a:r>
          </a:p>
          <a:p>
            <a:pPr>
              <a:buNone/>
            </a:pP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-250 kJ/mol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10.0  kJ/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mol·K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l-G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 = 250 kJ/mol </a:t>
            </a:r>
            <a:r>
              <a:rPr kumimoji="0" lang="el-G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Δ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= 10.0  kJ/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mol·K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 = 298 K.</a:t>
            </a:r>
          </a:p>
        </p:txBody>
      </p:sp>
      <p:pic>
        <p:nvPicPr>
          <p:cNvPr id="7" name="Picture 2" descr="Gibbs Free Energy - Chemistry Steps">
            <a:extLst>
              <a:ext uri="{FF2B5EF4-FFF2-40B4-BE49-F238E27FC236}">
                <a16:creationId xmlns:a16="http://schemas.microsoft.com/office/drawing/2014/main" id="{2A056142-77FD-6E93-CBFC-DB3F37E81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91" y="558090"/>
            <a:ext cx="3228905" cy="99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3DF6B6-AE51-CB15-1F8B-E8A356DCA26C}"/>
              </a:ext>
            </a:extLst>
          </p:cNvPr>
          <p:cNvSpPr txBox="1"/>
          <p:nvPr/>
        </p:nvSpPr>
        <p:spPr>
          <a:xfrm>
            <a:off x="644457" y="5698257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a docstring to a function, a block quote directly underneath the function definition.</a:t>
            </a:r>
          </a:p>
        </p:txBody>
      </p:sp>
      <p:pic>
        <p:nvPicPr>
          <p:cNvPr id="2054" name="Picture 6" descr="An example of docstring for a python function. Docstrings serve as... |  Download Scientific Diagram">
            <a:extLst>
              <a:ext uri="{FF2B5EF4-FFF2-40B4-BE49-F238E27FC236}">
                <a16:creationId xmlns:a16="http://schemas.microsoft.com/office/drawing/2014/main" id="{08DD8CD6-80ED-D859-00B4-5AA8E1AAE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758" y="4809203"/>
            <a:ext cx="3490102" cy="204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DA9945-241C-299A-205A-4A5748FB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7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317AF-4889-5056-3770-8009A03B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63" y="1692713"/>
            <a:ext cx="5331537" cy="364029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72ADA27-6145-02AF-99F5-35DBE68854A0}"/>
              </a:ext>
            </a:extLst>
          </p:cNvPr>
          <p:cNvSpPr txBox="1">
            <a:spLocks/>
          </p:cNvSpPr>
          <p:nvPr/>
        </p:nvSpPr>
        <p:spPr>
          <a:xfrm>
            <a:off x="328706" y="136187"/>
            <a:ext cx="10031252" cy="949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ierstadt" panose="020B0004020202020204" pitchFamily="34" charset="0"/>
              </a:rPr>
              <a:t>Scientific Software Design with 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D7AC4-5C7C-CAF7-9AC3-2796E22D3543}"/>
              </a:ext>
            </a:extLst>
          </p:cNvPr>
          <p:cNvSpPr txBox="1"/>
          <p:nvPr/>
        </p:nvSpPr>
        <p:spPr>
          <a:xfrm>
            <a:off x="6097622" y="1012555"/>
            <a:ext cx="60943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software has three flavors: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module is a single *.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are building blocks of packages and libraries.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actual effort goes into writing modules.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20353-4CF1-CAB0-B26D-A09912359660}"/>
              </a:ext>
            </a:extLst>
          </p:cNvPr>
          <p:cNvSpPr txBox="1"/>
          <p:nvPr/>
        </p:nvSpPr>
        <p:spPr>
          <a:xfrm>
            <a:off x="6123562" y="3689496"/>
            <a:ext cx="59419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 are modules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together.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directory will be the name of the package.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__init__.py file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usually empty, but is essential because that's how Python determines your directory is a package.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*.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plain text and are where you put the code.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4E26D-9081-55BC-4CEF-9C393BC9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4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6DACBC-0FBA-6FBA-E8A9-CD75EB246A7E}"/>
              </a:ext>
            </a:extLst>
          </p:cNvPr>
          <p:cNvSpPr txBox="1">
            <a:spLocks/>
          </p:cNvSpPr>
          <p:nvPr/>
        </p:nvSpPr>
        <p:spPr>
          <a:xfrm>
            <a:off x="328706" y="136187"/>
            <a:ext cx="10031252" cy="949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ierstadt" panose="020B0004020202020204" pitchFamily="34" charset="0"/>
              </a:rPr>
              <a:t>Python Package for Reaction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CB403-04E3-1A3A-8060-34A91393E32F}"/>
              </a:ext>
            </a:extLst>
          </p:cNvPr>
          <p:cNvSpPr txBox="1"/>
          <p:nvPr/>
        </p:nvSpPr>
        <p:spPr>
          <a:xfrm>
            <a:off x="352626" y="1034322"/>
            <a:ext cx="4015093" cy="34163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reaction_analysis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├── 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reaction_analysis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│ ├── __init__.py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│ ├── thermodynamics.py</a:t>
            </a:r>
          </a:p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   ├── main.py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│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├── tests/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│ └── 	test_thermodynamics.py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│</a:t>
            </a:r>
            <a:b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├── README.md</a:t>
            </a:r>
          </a:p>
        </p:txBody>
      </p:sp>
      <p:pic>
        <p:nvPicPr>
          <p:cNvPr id="7" name="Picture 2" descr="Gibbs Free Energy - Chemistry Steps">
            <a:extLst>
              <a:ext uri="{FF2B5EF4-FFF2-40B4-BE49-F238E27FC236}">
                <a16:creationId xmlns:a16="http://schemas.microsoft.com/office/drawing/2014/main" id="{F6456B91-D352-6CB7-0BB8-4D2A081DC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979" y="4364907"/>
            <a:ext cx="2412388" cy="74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39EE72-A929-DDF9-8830-DD5CD9CADC25}"/>
              </a:ext>
            </a:extLst>
          </p:cNvPr>
          <p:cNvSpPr txBox="1"/>
          <p:nvPr/>
        </p:nvSpPr>
        <p:spPr>
          <a:xfrm>
            <a:off x="365291" y="4426421"/>
            <a:ext cx="3668111" cy="2031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thermodynamics.py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Function for reaction type (exothermic or endothermic)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Function for delta G calculation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Function for spontaneity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Function for equilibrium Constant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7FC952-1410-4BB4-8E50-5C65FC2D64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11" t="61854" r="37500" b="861"/>
          <a:stretch>
            <a:fillRect/>
          </a:stretch>
        </p:blipFill>
        <p:spPr>
          <a:xfrm>
            <a:off x="4600339" y="3241770"/>
            <a:ext cx="2179840" cy="9618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37AF63-C9E5-84E8-73DD-F6A2CF00EED1}"/>
              </a:ext>
            </a:extLst>
          </p:cNvPr>
          <p:cNvSpPr txBox="1"/>
          <p:nvPr/>
        </p:nvSpPr>
        <p:spPr>
          <a:xfrm>
            <a:off x="7034720" y="971992"/>
            <a:ext cx="5157280" cy="5755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main.py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from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reaction_analysis.thermodynamics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import …</a:t>
            </a:r>
          </a:p>
          <a:p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# Reaction parameters</a:t>
            </a:r>
          </a:p>
          <a:p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delta_H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= -100      # kJ/mol</a:t>
            </a:r>
          </a:p>
          <a:p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delta_S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= -0.2      # kJ/mol/K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 = 298             # K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R = 0.008314 #</a:t>
            </a:r>
            <a:r>
              <a:rPr lang="nn-NO" sz="1600" dirty="0">
                <a:latin typeface="Meiryo" panose="020B0604030504040204" pitchFamily="34" charset="-128"/>
                <a:ea typeface="Meiryo" panose="020B0604030504040204" pitchFamily="34" charset="-128"/>
              </a:rPr>
              <a:t>kJ /mol/K</a:t>
            </a:r>
          </a:p>
          <a:p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# Calculations</a:t>
            </a:r>
          </a:p>
          <a:p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delta_G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calculate_delta_g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delta_H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delta_S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   T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K_eq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calculate_equilibrium_constant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delta_G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   T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reaction_type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=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classify_reaction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delta_G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C0ED3CF-D62A-118E-3250-0E0FFB25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8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D6C04C2-00C9-C5D5-5CB8-0F1D40F8AADB}"/>
              </a:ext>
            </a:extLst>
          </p:cNvPr>
          <p:cNvSpPr txBox="1">
            <a:spLocks/>
          </p:cNvSpPr>
          <p:nvPr/>
        </p:nvSpPr>
        <p:spPr>
          <a:xfrm>
            <a:off x="328706" y="136187"/>
            <a:ext cx="10031252" cy="949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ierstadt" panose="020B0004020202020204" pitchFamily="34" charset="0"/>
              </a:rPr>
              <a:t>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FA60E3-FA23-46FE-FF60-AB1E4BE92018}"/>
              </a:ext>
            </a:extLst>
          </p:cNvPr>
          <p:cNvSpPr txBox="1"/>
          <p:nvPr/>
        </p:nvSpPr>
        <p:spPr>
          <a:xfrm>
            <a:off x="391538" y="997245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run in the terminal -&gt;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assert actual == expected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CB72F-B178-B7FA-EDAF-24EFF1150A55}"/>
              </a:ext>
            </a:extLst>
          </p:cNvPr>
          <p:cNvSpPr txBox="1"/>
          <p:nvPr/>
        </p:nvSpPr>
        <p:spPr>
          <a:xfrm>
            <a:off x="595818" y="2326268"/>
            <a:ext cx="6094378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test_thermodynamics.py</a:t>
            </a: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from </a:t>
            </a:r>
            <a:r>
              <a:rPr lang="en-US" sz="2000" dirty="0" err="1">
                <a:latin typeface="Meiryo" panose="020B0604030504040204" pitchFamily="34" charset="-128"/>
                <a:ea typeface="Meiryo" panose="020B0604030504040204" pitchFamily="34" charset="-128"/>
              </a:rPr>
              <a:t>reaction_analysis.thermodynamics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import </a:t>
            </a:r>
            <a:r>
              <a:rPr lang="en-US" sz="2000" dirty="0" err="1">
                <a:latin typeface="Meiryo" panose="020B0604030504040204" pitchFamily="34" charset="-128"/>
                <a:ea typeface="Meiryo" panose="020B0604030504040204" pitchFamily="34" charset="-128"/>
              </a:rPr>
              <a:t>calculate_delta_g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def </a:t>
            </a:r>
            <a:r>
              <a:rPr lang="en-US" sz="2000" dirty="0" err="1">
                <a:latin typeface="Meiryo" panose="020B0604030504040204" pitchFamily="34" charset="-128"/>
                <a:ea typeface="Meiryo" panose="020B0604030504040204" pitchFamily="34" charset="-128"/>
              </a:rPr>
              <a:t>test_delta_g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():</a:t>
            </a:r>
          </a:p>
          <a:p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   result = </a:t>
            </a:r>
            <a:r>
              <a:rPr lang="en-US" sz="2000" dirty="0" err="1">
                <a:latin typeface="Meiryo" panose="020B0604030504040204" pitchFamily="34" charset="-128"/>
                <a:ea typeface="Meiryo" panose="020B0604030504040204" pitchFamily="34" charset="-128"/>
              </a:rPr>
              <a:t>calculate_delta_g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       -100,</a:t>
            </a: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       -0.2,</a:t>
            </a: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       298</a:t>
            </a: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   )</a:t>
            </a:r>
          </a:p>
          <a:p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   assert result == -40.4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BE54FA-C501-D5F9-6009-6DBA1CC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80" y="1843692"/>
            <a:ext cx="4240476" cy="238526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2F788CB-F7DC-9EE9-CDAC-B6C2BF8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1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767B60-1245-DF2D-D10E-5711039B18AA}"/>
              </a:ext>
            </a:extLst>
          </p:cNvPr>
          <p:cNvSpPr txBox="1">
            <a:spLocks/>
          </p:cNvSpPr>
          <p:nvPr/>
        </p:nvSpPr>
        <p:spPr>
          <a:xfrm>
            <a:off x="328706" y="136187"/>
            <a:ext cx="10031252" cy="949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Bierstadt" panose="020B0004020202020204" pitchFamily="34" charset="0"/>
              </a:rPr>
              <a:t>Python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9523BC-31D1-D126-5827-ABAB86FDBD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79" b="20477"/>
          <a:stretch>
            <a:fillRect/>
          </a:stretch>
        </p:blipFill>
        <p:spPr>
          <a:xfrm>
            <a:off x="210208" y="1324302"/>
            <a:ext cx="11719606" cy="429873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54348-30E8-3313-4EFB-99B70A56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9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B0CE6E-D95C-2369-2C11-EFC174DE2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06301-BFE2-1BD8-ECE8-5C752F47B0BC}"/>
              </a:ext>
            </a:extLst>
          </p:cNvPr>
          <p:cNvSpPr txBox="1"/>
          <p:nvPr/>
        </p:nvSpPr>
        <p:spPr>
          <a:xfrm>
            <a:off x="7882758" y="5318234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dulithaprasanna@gmail.com</a:t>
            </a:r>
          </a:p>
          <a:p>
            <a:r>
              <a:rPr lang="en-US" dirty="0"/>
              <a:t>dulitha@iastate.edu</a:t>
            </a:r>
          </a:p>
        </p:txBody>
      </p:sp>
    </p:spTree>
    <p:extLst>
      <p:ext uri="{BB962C8B-B14F-4D97-AF65-F5344CB8AC3E}">
        <p14:creationId xmlns:p14="http://schemas.microsoft.com/office/powerpoint/2010/main" val="98911540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1393</Words>
  <Application>Microsoft Office PowerPoint</Application>
  <PresentationFormat>Widescreen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Meiryo</vt:lpstr>
      <vt:lpstr>Aptos</vt:lpstr>
      <vt:lpstr>Aptos Display</vt:lpstr>
      <vt:lpstr>Arial</vt:lpstr>
      <vt:lpstr>Avenir Next LT Pro</vt:lpstr>
      <vt:lpstr>Bierstadt</vt:lpstr>
      <vt:lpstr>Menlo</vt:lpstr>
      <vt:lpstr>Posterama</vt:lpstr>
      <vt:lpstr>Times New Roman</vt:lpstr>
      <vt:lpstr>Wingdings</vt:lpstr>
      <vt:lpstr>SineVTI</vt:lpstr>
      <vt:lpstr>Office Theme</vt:lpstr>
      <vt:lpstr>Introduction to Python Programming</vt:lpstr>
      <vt:lpstr>What is a programming language?</vt:lpstr>
      <vt:lpstr>Python Programming</vt:lpstr>
      <vt:lpstr>First Program</vt:lpstr>
      <vt:lpstr>Variables and Data Types</vt:lpstr>
      <vt:lpstr>Chemistry Problem - Calculate Gibbs Free Energy</vt:lpstr>
      <vt:lpstr>Containers</vt:lpstr>
      <vt:lpstr>List Methods and Slice</vt:lpstr>
      <vt:lpstr>Control Flow Statements</vt:lpstr>
      <vt:lpstr>Loops</vt:lpstr>
      <vt:lpstr>Jump Statements</vt:lpstr>
      <vt:lpstr>Functions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Kulathunga Mudiyanselage, Dulitha Prasanna Kulathunga</dc:creator>
  <cp:lastModifiedBy>Kulathunga Mudiyanselage, Dulitha Prasanna Kulathunga</cp:lastModifiedBy>
  <cp:revision>16</cp:revision>
  <dcterms:created xsi:type="dcterms:W3CDTF">2026-06-01T22:45:03Z</dcterms:created>
  <dcterms:modified xsi:type="dcterms:W3CDTF">2026-06-03T06:18:17Z</dcterms:modified>
</cp:coreProperties>
</file>