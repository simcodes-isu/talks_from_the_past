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27"/>
  </p:notesMasterIdLst>
  <p:sldIdLst>
    <p:sldId id="257" r:id="rId2"/>
    <p:sldId id="3173" r:id="rId3"/>
    <p:sldId id="3174" r:id="rId4"/>
    <p:sldId id="3175" r:id="rId5"/>
    <p:sldId id="3191" r:id="rId6"/>
    <p:sldId id="3192" r:id="rId7"/>
    <p:sldId id="3194" r:id="rId8"/>
    <p:sldId id="3195" r:id="rId9"/>
    <p:sldId id="3177" r:id="rId10"/>
    <p:sldId id="3178" r:id="rId11"/>
    <p:sldId id="3176" r:id="rId12"/>
    <p:sldId id="3179" r:id="rId13"/>
    <p:sldId id="3180" r:id="rId14"/>
    <p:sldId id="3181" r:id="rId15"/>
    <p:sldId id="3182" r:id="rId16"/>
    <p:sldId id="3193" r:id="rId17"/>
    <p:sldId id="3183" r:id="rId18"/>
    <p:sldId id="3184" r:id="rId19"/>
    <p:sldId id="3185" r:id="rId20"/>
    <p:sldId id="3186" r:id="rId21"/>
    <p:sldId id="3189" r:id="rId22"/>
    <p:sldId id="3187" r:id="rId23"/>
    <p:sldId id="3188" r:id="rId24"/>
    <p:sldId id="3190" r:id="rId25"/>
    <p:sldId id="3117" r:id="rId2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C2CC56-948B-CB6A-0B97-281ECC37BF6A}" name="Prozorov, Tanya [A LAB]" initials="PL" userId="vZACtO9GwNukAiz7awD2VP1nNYaQWhyCPxgCWq0WdR4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156082"/>
    <a:srgbClr val="033540"/>
    <a:srgbClr val="063843"/>
    <a:srgbClr val="032C36"/>
    <a:srgbClr val="032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63"/>
    <p:restoredTop sz="94771"/>
  </p:normalViewPr>
  <p:slideViewPr>
    <p:cSldViewPr snapToGrid="0">
      <p:cViewPr varScale="1">
        <p:scale>
          <a:sx n="115" d="100"/>
          <a:sy n="115" d="100"/>
        </p:scale>
        <p:origin x="32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919B51E-4469-4E47-8366-68D04A300423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89C18CD-7935-BA43-AE3B-7EEACC2C4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4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701675"/>
            <a:ext cx="6261100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65887">
              <a:defRPr/>
            </a:pPr>
            <a:fld id="{54F66FB8-99B1-3E44-80C3-4E78C4312A31}" type="slidenum">
              <a:rPr lang="en-US" sz="1100">
                <a:solidFill>
                  <a:prstClr val="black"/>
                </a:solidFill>
                <a:latin typeface="Calibri"/>
              </a:rPr>
              <a:pPr defTabSz="465887">
                <a:defRPr/>
              </a:pPr>
              <a:t>1</a:t>
            </a:fld>
            <a:endParaRPr lang="en-US" sz="11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5265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66FB8-99B1-3E44-80C3-4E78C4312A3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0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C4B3-E85D-CD20-56DB-F216F51DA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C66C1-0135-13C3-B9AF-AA13F2121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9F494-92D1-8C7E-1685-E2A9023E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05D8E7-B2F0-AC4E-9D55-F8F5C8FDAB8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B640A-5D68-26C8-8348-6BA24F9F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5A82C-7B9F-7893-FA98-8D3C36DB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67B243-965E-DF46-87B2-6D8F01E6E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2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862" y="1371600"/>
            <a:ext cx="11338556" cy="48404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0165" y="182882"/>
            <a:ext cx="11281852" cy="710254"/>
          </a:xfrm>
          <a:prstGeom prst="rect">
            <a:avLst/>
          </a:prstGeom>
        </p:spPr>
        <p:txBody>
          <a:bodyPr vert="horz"/>
          <a:lstStyle>
            <a:lvl1pPr algn="l">
              <a:defRPr lang="en-US" sz="3200" b="1" kern="1200" dirty="0">
                <a:solidFill>
                  <a:srgbClr val="17375E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3979" y="6617399"/>
            <a:ext cx="595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E7E35AA-12E7-46C8-AA84-143DFF5694C1}" type="slidenum">
              <a:rPr lang="en-US" sz="1100" i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 algn="r"/>
              <a:t>‹#›</a:t>
            </a:fld>
            <a:endParaRPr lang="en-US" sz="1100" i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0D87E8-D302-1E49-BCAD-BE52BC9E6D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3309" y="6575954"/>
            <a:ext cx="1746481" cy="232172"/>
          </a:xfrm>
          <a:prstGeom prst="rect">
            <a:avLst/>
          </a:prstGeom>
        </p:spPr>
      </p:pic>
      <p:pic>
        <p:nvPicPr>
          <p:cNvPr id="2" name="Picture 1" descr="Logo_AL_Tag_DOE Horiz.tif">
            <a:extLst>
              <a:ext uri="{FF2B5EF4-FFF2-40B4-BE49-F238E27FC236}">
                <a16:creationId xmlns:a16="http://schemas.microsoft.com/office/drawing/2014/main" id="{3007B8EB-5457-5F99-991A-8B5F82C1D1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227" y="6457514"/>
            <a:ext cx="474240" cy="353709"/>
          </a:xfrm>
          <a:prstGeom prst="rect">
            <a:avLst/>
          </a:prstGeom>
        </p:spPr>
      </p:pic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DA3C6547-7E03-F91C-DA24-6073272A1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3" b="24182"/>
          <a:stretch/>
        </p:blipFill>
        <p:spPr>
          <a:xfrm>
            <a:off x="580312" y="6467760"/>
            <a:ext cx="1045896" cy="35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8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0F4E0-9E5D-284D-84D1-046A01AD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3F057-965C-691F-2E7C-6786DC3E7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BA250-FF22-C1F4-59E4-A1A4158C5A37}"/>
              </a:ext>
            </a:extLst>
          </p:cNvPr>
          <p:cNvSpPr txBox="1"/>
          <p:nvPr userDrawn="1"/>
        </p:nvSpPr>
        <p:spPr>
          <a:xfrm>
            <a:off x="11633979" y="6617399"/>
            <a:ext cx="5959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E7E35AA-12E7-46C8-AA84-143DFF5694C1}" type="slidenum">
              <a:rPr lang="en-US" sz="1100" i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 algn="r"/>
              <a:t>‹#›</a:t>
            </a:fld>
            <a:endParaRPr lang="en-US" sz="1100" i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CDCABA-2C63-8721-1570-C2F2644E59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309" y="6575954"/>
            <a:ext cx="1746481" cy="232172"/>
          </a:xfrm>
          <a:prstGeom prst="rect">
            <a:avLst/>
          </a:prstGeom>
        </p:spPr>
      </p:pic>
      <p:pic>
        <p:nvPicPr>
          <p:cNvPr id="9" name="Picture 8" descr="Logo_AL_Tag_DOE Horiz.tif">
            <a:extLst>
              <a:ext uri="{FF2B5EF4-FFF2-40B4-BE49-F238E27FC236}">
                <a16:creationId xmlns:a16="http://schemas.microsoft.com/office/drawing/2014/main" id="{5E1AE788-DFF1-A3C8-712A-1EA4B1FDF06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227" y="6457514"/>
            <a:ext cx="474240" cy="353709"/>
          </a:xfrm>
          <a:prstGeom prst="rect">
            <a:avLst/>
          </a:prstGeom>
        </p:spPr>
      </p:pic>
      <p:pic>
        <p:nvPicPr>
          <p:cNvPr id="10" name="Picture 9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32B484E-7029-C92E-669B-72B245DAE0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3" b="24182"/>
          <a:stretch/>
        </p:blipFill>
        <p:spPr>
          <a:xfrm>
            <a:off x="580312" y="6467760"/>
            <a:ext cx="1045896" cy="359107"/>
          </a:xfrm>
          <a:prstGeom prst="rect">
            <a:avLst/>
          </a:prstGeom>
        </p:spPr>
      </p:pic>
      <p:pic>
        <p:nvPicPr>
          <p:cNvPr id="5" name="Picture 4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489F6B82-A507-BB97-3F61-B4E77FC940B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196955" y="6212137"/>
            <a:ext cx="379809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6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dirty="0">
          <a:solidFill>
            <a:schemeClr val="tx2"/>
          </a:solidFill>
          <a:effectLst/>
          <a:latin typeface="+mn-lt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nova-ondemand.its.iastate.ed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research.it.iastate.edu/accessing-clusters#with-ssh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0" descr="Thumbnail Image A gray tone abstract background suitable for a scientific presentation slide. The design should subtly evoke themes of chemical separations, heterogeneous catalysis, and computational chemistry. Include abstract molecular structures, catalyst surfaces, and digital or grid-like patterns to represent computation. The overall tone should be professional, clean, and not distracting, with a white-to-gray gradient and soft textures. No words, no symbols, and no logos.">
            <a:extLst>
              <a:ext uri="{FF2B5EF4-FFF2-40B4-BE49-F238E27FC236}">
                <a16:creationId xmlns:a16="http://schemas.microsoft.com/office/drawing/2014/main" id="{5B471530-9FD4-F0BE-DD24-F2909F773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/>
          <a:stretch/>
        </p:blipFill>
        <p:spPr bwMode="auto">
          <a:xfrm flipH="1">
            <a:off x="6586990" y="14514"/>
            <a:ext cx="5686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FFB0B8C-26EB-7D4E-8D4C-BB0566967870}"/>
              </a:ext>
            </a:extLst>
          </p:cNvPr>
          <p:cNvSpPr txBox="1">
            <a:spLocks/>
          </p:cNvSpPr>
          <p:nvPr/>
        </p:nvSpPr>
        <p:spPr>
          <a:xfrm>
            <a:off x="-1432192" y="2817947"/>
            <a:ext cx="9406468" cy="2666265"/>
          </a:xfrm>
          <a:prstGeom prst="rect">
            <a:avLst/>
          </a:prstGeom>
          <a:effectLst/>
        </p:spPr>
        <p:txBody>
          <a:bodyPr lIns="121920" tIns="60960" rIns="121920" bIns="60960" anchor="t"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8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defRPr/>
            </a:pPr>
            <a:r>
              <a:rPr lang="en-US" b="1" dirty="0">
                <a:solidFill>
                  <a:srgbClr val="1F497D">
                    <a:lumMod val="75000"/>
                  </a:srgbClr>
                </a:solidFill>
                <a:effectLst>
                  <a:outerShdw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Nova Workshop</a:t>
            </a:r>
          </a:p>
          <a:p>
            <a:pPr algn="ctr">
              <a:spcBef>
                <a:spcPts val="300"/>
              </a:spcBef>
              <a:defRPr/>
            </a:pPr>
            <a:r>
              <a:rPr lang="en-US" b="1" dirty="0">
                <a:solidFill>
                  <a:srgbClr val="1F497D">
                    <a:lumMod val="75000"/>
                  </a:srgbClr>
                </a:solidFill>
                <a:effectLst>
                  <a:outerShdw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06/04/2026</a:t>
            </a:r>
          </a:p>
        </p:txBody>
      </p:sp>
      <p:pic>
        <p:nvPicPr>
          <p:cNvPr id="16" name="Picture 15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3BB5309-A7AF-7D49-285F-7D89FDFA2B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233" y="4426227"/>
            <a:ext cx="2213768" cy="63747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3B4549-CAF3-E28D-8BDC-6FC73073D16B}"/>
              </a:ext>
            </a:extLst>
          </p:cNvPr>
          <p:cNvCxnSpPr>
            <a:cxnSpLocks/>
          </p:cNvCxnSpPr>
          <p:nvPr/>
        </p:nvCxnSpPr>
        <p:spPr>
          <a:xfrm>
            <a:off x="9105683" y="4426227"/>
            <a:ext cx="0" cy="211597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470E21E9-FF44-939A-7DEC-C078A494A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665" y="5305096"/>
            <a:ext cx="2368339" cy="68026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7DCACD8-B053-4AE2-EA71-319D56959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4814" y="6277007"/>
            <a:ext cx="2650684" cy="2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0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84EE5C-2E6D-59F9-6655-655AE6A5B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High-Performance Computing (HPC) Cluster:</a:t>
            </a:r>
          </a:p>
          <a:p>
            <a:pPr lvl="1"/>
            <a:r>
              <a:rPr lang="en-US" b="1" dirty="0"/>
              <a:t>Networked group of computers (nodes) pooling processing power and memory</a:t>
            </a:r>
          </a:p>
          <a:p>
            <a:endParaRPr lang="en-US" dirty="0"/>
          </a:p>
          <a:p>
            <a:r>
              <a:rPr lang="en-US" b="1" dirty="0"/>
              <a:t>Used for calculations </a:t>
            </a:r>
            <a:r>
              <a:rPr lang="en-US" dirty="0"/>
              <a:t>too large, slow, memory intensive for a local computer</a:t>
            </a:r>
          </a:p>
          <a:p>
            <a:r>
              <a:rPr lang="en-US" dirty="0"/>
              <a:t>Shared hardware for many users</a:t>
            </a:r>
          </a:p>
          <a:p>
            <a:r>
              <a:rPr lang="en-US" dirty="0"/>
              <a:t>Access Controlled via login node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D8D49-A737-67CF-A5D0-A105A22C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Cluster?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46D47-1BF4-04EB-30DE-5B591B5FC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40" y="3791810"/>
            <a:ext cx="7772400" cy="233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40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E7CD51-FF29-EF38-8289-B2D55C48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Cluster Nodes</a:t>
            </a:r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34DDFAF8-87E2-BC2A-0B56-1DB57DFFE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8372" y="1096785"/>
            <a:ext cx="1828800" cy="182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99FAA-F651-5CFE-F172-40901A98EF25}"/>
              </a:ext>
            </a:extLst>
          </p:cNvPr>
          <p:cNvSpPr txBox="1"/>
          <p:nvPr/>
        </p:nvSpPr>
        <p:spPr>
          <a:xfrm>
            <a:off x="2003382" y="893136"/>
            <a:ext cx="1858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Local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59B3EC-B912-0C3F-B0DD-7BE8A01B82B0}"/>
              </a:ext>
            </a:extLst>
          </p:cNvPr>
          <p:cNvGrpSpPr>
            <a:grpSpLocks noChangeAspect="1"/>
          </p:cNvGrpSpPr>
          <p:nvPr/>
        </p:nvGrpSpPr>
        <p:grpSpPr>
          <a:xfrm>
            <a:off x="8214070" y="1477911"/>
            <a:ext cx="1959558" cy="1097280"/>
            <a:chOff x="6455764" y="2122044"/>
            <a:chExt cx="4062334" cy="2274757"/>
          </a:xfrm>
        </p:grpSpPr>
        <p:pic>
          <p:nvPicPr>
            <p:cNvPr id="20" name="Graphic 19" descr="Server with solid fill">
              <a:extLst>
                <a:ext uri="{FF2B5EF4-FFF2-40B4-BE49-F238E27FC236}">
                  <a16:creationId xmlns:a16="http://schemas.microsoft.com/office/drawing/2014/main" id="{7D091962-B57D-6B9A-1CBC-0111C718C1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88839" y="231316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Server with solid fill">
              <a:extLst>
                <a:ext uri="{FF2B5EF4-FFF2-40B4-BE49-F238E27FC236}">
                  <a16:creationId xmlns:a16="http://schemas.microsoft.com/office/drawing/2014/main" id="{BDE3417F-34FC-780A-843C-8B8132D3C9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88839" y="327628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Server with solid fill">
              <a:extLst>
                <a:ext uri="{FF2B5EF4-FFF2-40B4-BE49-F238E27FC236}">
                  <a16:creationId xmlns:a16="http://schemas.microsoft.com/office/drawing/2014/main" id="{9B5AA300-9E62-6E4C-9FF9-C72B0B9380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74439" y="2313169"/>
              <a:ext cx="914400" cy="914400"/>
            </a:xfrm>
            <a:prstGeom prst="rect">
              <a:avLst/>
            </a:prstGeom>
          </p:spPr>
        </p:pic>
        <p:pic>
          <p:nvPicPr>
            <p:cNvPr id="23" name="Graphic 22" descr="Server with solid fill">
              <a:extLst>
                <a:ext uri="{FF2B5EF4-FFF2-40B4-BE49-F238E27FC236}">
                  <a16:creationId xmlns:a16="http://schemas.microsoft.com/office/drawing/2014/main" id="{4B7A7341-D223-51BB-38ED-37A722E434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74439" y="3276287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Server with solid fill">
              <a:extLst>
                <a:ext uri="{FF2B5EF4-FFF2-40B4-BE49-F238E27FC236}">
                  <a16:creationId xmlns:a16="http://schemas.microsoft.com/office/drawing/2014/main" id="{44A51783-C9C8-B1F3-C788-C2D0177D1A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60039" y="2337528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Server with solid fill">
              <a:extLst>
                <a:ext uri="{FF2B5EF4-FFF2-40B4-BE49-F238E27FC236}">
                  <a16:creationId xmlns:a16="http://schemas.microsoft.com/office/drawing/2014/main" id="{C2E95005-A133-CF1B-2A20-31957E3151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60039" y="3300646"/>
              <a:ext cx="914400" cy="914400"/>
            </a:xfrm>
            <a:prstGeom prst="rect">
              <a:avLst/>
            </a:prstGeom>
          </p:spPr>
        </p:pic>
        <p:pic>
          <p:nvPicPr>
            <p:cNvPr id="26" name="Graphic 25" descr="Server with solid fill">
              <a:extLst>
                <a:ext uri="{FF2B5EF4-FFF2-40B4-BE49-F238E27FC236}">
                  <a16:creationId xmlns:a16="http://schemas.microsoft.com/office/drawing/2014/main" id="{6DF90072-3CD5-7919-BADD-21624D41FF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45639" y="2337528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Server with solid fill">
              <a:extLst>
                <a:ext uri="{FF2B5EF4-FFF2-40B4-BE49-F238E27FC236}">
                  <a16:creationId xmlns:a16="http://schemas.microsoft.com/office/drawing/2014/main" id="{721A6A0B-4D84-02D7-8D56-B0ED81BDB9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45639" y="3300646"/>
              <a:ext cx="914400" cy="914400"/>
            </a:xfrm>
            <a:prstGeom prst="rect">
              <a:avLst/>
            </a:prstGeom>
          </p:spPr>
        </p:pic>
        <p:sp>
          <p:nvSpPr>
            <p:cNvPr id="28" name="Frame 27">
              <a:extLst>
                <a:ext uri="{FF2B5EF4-FFF2-40B4-BE49-F238E27FC236}">
                  <a16:creationId xmlns:a16="http://schemas.microsoft.com/office/drawing/2014/main" id="{E124EFCF-2194-2B30-6972-1ACDAF1D93E1}"/>
                </a:ext>
              </a:extLst>
            </p:cNvPr>
            <p:cNvSpPr/>
            <p:nvPr/>
          </p:nvSpPr>
          <p:spPr>
            <a:xfrm>
              <a:off x="6455764" y="2122044"/>
              <a:ext cx="4062334" cy="2274757"/>
            </a:xfrm>
            <a:prstGeom prst="frame">
              <a:avLst>
                <a:gd name="adj1" fmla="val 9864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EB160F4-8651-D27C-E0A6-2AC7EFAFE0AE}"/>
              </a:ext>
            </a:extLst>
          </p:cNvPr>
          <p:cNvSpPr txBox="1"/>
          <p:nvPr/>
        </p:nvSpPr>
        <p:spPr>
          <a:xfrm>
            <a:off x="8314847" y="901261"/>
            <a:ext cx="1858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Cluster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B0EF40-670E-8057-62BE-BC099E7DE885}"/>
              </a:ext>
            </a:extLst>
          </p:cNvPr>
          <p:cNvSpPr txBox="1"/>
          <p:nvPr/>
        </p:nvSpPr>
        <p:spPr>
          <a:xfrm>
            <a:off x="350165" y="2721166"/>
            <a:ext cx="50811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Editing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Making plots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cheap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Drawbacks: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CPU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suggesting for most calculations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FA13BB-4F7A-A852-B3CA-A8F29FA04855}"/>
              </a:ext>
            </a:extLst>
          </p:cNvPr>
          <p:cNvSpPr txBox="1"/>
          <p:nvPr/>
        </p:nvSpPr>
        <p:spPr>
          <a:xfrm>
            <a:off x="6096000" y="2716284"/>
            <a:ext cx="50811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and expensive calculations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Many CPUs/GPUs available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Drawbacks: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Requires login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Requires resource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Powerful, but has learning curve</a:t>
            </a:r>
          </a:p>
        </p:txBody>
      </p:sp>
    </p:spTree>
    <p:extLst>
      <p:ext uri="{BB962C8B-B14F-4D97-AF65-F5344CB8AC3E}">
        <p14:creationId xmlns:p14="http://schemas.microsoft.com/office/powerpoint/2010/main" val="151023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AC1B73-2D0C-6831-925E-2ABE8501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Cluster: Home vs. Work Directories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B0FAB7-ED53-0D29-127C-16F97B87BABD}"/>
              </a:ext>
            </a:extLst>
          </p:cNvPr>
          <p:cNvGrpSpPr>
            <a:grpSpLocks noChangeAspect="1"/>
          </p:cNvGrpSpPr>
          <p:nvPr/>
        </p:nvGrpSpPr>
        <p:grpSpPr>
          <a:xfrm>
            <a:off x="1850562" y="893135"/>
            <a:ext cx="1729758" cy="2116448"/>
            <a:chOff x="3470040" y="1464185"/>
            <a:chExt cx="1858781" cy="2274315"/>
          </a:xfrm>
        </p:grpSpPr>
        <p:pic>
          <p:nvPicPr>
            <p:cNvPr id="2" name="Graphic 1" descr="Server outline">
              <a:extLst>
                <a:ext uri="{FF2B5EF4-FFF2-40B4-BE49-F238E27FC236}">
                  <a16:creationId xmlns:a16="http://schemas.microsoft.com/office/drawing/2014/main" id="{529D9260-52E8-B9BC-8066-CC357FA5F4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576471" y="2092579"/>
              <a:ext cx="1645920" cy="164592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3E1AE53-2072-1735-7223-DBDF7DBDE054}"/>
                </a:ext>
              </a:extLst>
            </p:cNvPr>
            <p:cNvSpPr txBox="1"/>
            <p:nvPr/>
          </p:nvSpPr>
          <p:spPr>
            <a:xfrm>
              <a:off x="3470040" y="1464185"/>
              <a:ext cx="1858781" cy="628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Home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B21AB66-0FCF-88F3-A7E7-40A7EDBF4291}"/>
              </a:ext>
            </a:extLst>
          </p:cNvPr>
          <p:cNvSpPr txBox="1"/>
          <p:nvPr/>
        </p:nvSpPr>
        <p:spPr>
          <a:xfrm>
            <a:off x="350165" y="2794767"/>
            <a:ext cx="50811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the </a:t>
            </a:r>
            <a:r>
              <a:rPr lang="en-US" b="1" dirty="0"/>
              <a:t>login node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/home/&lt;</a:t>
            </a:r>
            <a:r>
              <a:rPr lang="en-US" b="1" dirty="0" err="1"/>
              <a:t>UserID</a:t>
            </a:r>
            <a:r>
              <a:rPr lang="en-US" b="1" dirty="0"/>
              <a:t>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Has same restrictions as Local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Little memory, not for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Important: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Login nodes are a shared resource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Limited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Do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b="1" dirty="0"/>
              <a:t> run calculations in home directory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2268F6-B9CD-409C-7D7F-F92646ED5BD3}"/>
              </a:ext>
            </a:extLst>
          </p:cNvPr>
          <p:cNvGrpSpPr>
            <a:grpSpLocks noChangeAspect="1"/>
          </p:cNvGrpSpPr>
          <p:nvPr/>
        </p:nvGrpSpPr>
        <p:grpSpPr>
          <a:xfrm>
            <a:off x="7947736" y="1455222"/>
            <a:ext cx="2286151" cy="1280160"/>
            <a:chOff x="6478066" y="2166649"/>
            <a:chExt cx="4062334" cy="2274757"/>
          </a:xfrm>
        </p:grpSpPr>
        <p:pic>
          <p:nvPicPr>
            <p:cNvPr id="7" name="Graphic 6" descr="Server with solid fill">
              <a:extLst>
                <a:ext uri="{FF2B5EF4-FFF2-40B4-BE49-F238E27FC236}">
                  <a16:creationId xmlns:a16="http://schemas.microsoft.com/office/drawing/2014/main" id="{5F545637-39C9-09CB-CA14-B23DB4CD78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1141" y="2357774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Server with solid fill">
              <a:extLst>
                <a:ext uri="{FF2B5EF4-FFF2-40B4-BE49-F238E27FC236}">
                  <a16:creationId xmlns:a16="http://schemas.microsoft.com/office/drawing/2014/main" id="{103F0E11-D972-71DE-D46B-D1D4D570A1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11141" y="3320892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A49EBED9-11DB-7DE8-41ED-C064C40379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96741" y="2357774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Server with solid fill">
              <a:extLst>
                <a:ext uri="{FF2B5EF4-FFF2-40B4-BE49-F238E27FC236}">
                  <a16:creationId xmlns:a16="http://schemas.microsoft.com/office/drawing/2014/main" id="{60971313-0470-A79B-9C49-8F79ABDA26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96741" y="3320892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Server with solid fill">
              <a:extLst>
                <a:ext uri="{FF2B5EF4-FFF2-40B4-BE49-F238E27FC236}">
                  <a16:creationId xmlns:a16="http://schemas.microsoft.com/office/drawing/2014/main" id="{DED3FF7A-6962-6EDE-08A0-4BCC06F5B8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82341" y="2382133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Server with solid fill">
              <a:extLst>
                <a:ext uri="{FF2B5EF4-FFF2-40B4-BE49-F238E27FC236}">
                  <a16:creationId xmlns:a16="http://schemas.microsoft.com/office/drawing/2014/main" id="{CA5D07E6-569F-4DE5-74E4-1E006D3E2B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82341" y="3345251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55DDEA43-0C1C-BD0B-3120-A3C81F1D50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67941" y="2382133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Server with solid fill">
              <a:extLst>
                <a:ext uri="{FF2B5EF4-FFF2-40B4-BE49-F238E27FC236}">
                  <a16:creationId xmlns:a16="http://schemas.microsoft.com/office/drawing/2014/main" id="{32F2558C-22C3-DA05-1C7E-CC56859C62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67941" y="3345251"/>
              <a:ext cx="914400" cy="914400"/>
            </a:xfrm>
            <a:prstGeom prst="rect">
              <a:avLst/>
            </a:prstGeom>
          </p:spPr>
        </p:pic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BC344FBB-08A7-09F8-9A24-F081F62C4CF2}"/>
                </a:ext>
              </a:extLst>
            </p:cNvPr>
            <p:cNvSpPr/>
            <p:nvPr/>
          </p:nvSpPr>
          <p:spPr>
            <a:xfrm>
              <a:off x="6478066" y="2166649"/>
              <a:ext cx="4062334" cy="2274757"/>
            </a:xfrm>
            <a:prstGeom prst="frame">
              <a:avLst>
                <a:gd name="adj1" fmla="val 9864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9115582-4088-1F72-35C7-478BF5D08F91}"/>
              </a:ext>
            </a:extLst>
          </p:cNvPr>
          <p:cNvSpPr txBox="1"/>
          <p:nvPr/>
        </p:nvSpPr>
        <p:spPr>
          <a:xfrm>
            <a:off x="8043999" y="893134"/>
            <a:ext cx="2093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A26DA5-B563-2F66-2BC3-5EFACFB8E02E}"/>
              </a:ext>
            </a:extLst>
          </p:cNvPr>
          <p:cNvSpPr txBox="1"/>
          <p:nvPr/>
        </p:nvSpPr>
        <p:spPr>
          <a:xfrm>
            <a:off x="6543205" y="2833962"/>
            <a:ext cx="50811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directory accesses </a:t>
            </a:r>
            <a:r>
              <a:rPr lang="en-US" b="1" dirty="0"/>
              <a:t>compute nodes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/work/</a:t>
            </a:r>
            <a:r>
              <a:rPr lang="en-US" b="1" dirty="0" err="1"/>
              <a:t>simcodes</a:t>
            </a:r>
            <a:r>
              <a:rPr lang="en-US" b="1" dirty="0"/>
              <a:t>/&lt;</a:t>
            </a:r>
            <a:r>
              <a:rPr lang="en-US" b="1" dirty="0" err="1"/>
              <a:t>UserID</a:t>
            </a:r>
            <a:r>
              <a:rPr lang="en-US" b="1" dirty="0"/>
              <a:t>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For calculations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Plenty of CPUs/GPUs, plenty of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Important: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This is where you run calculations</a:t>
            </a:r>
          </a:p>
        </p:txBody>
      </p:sp>
    </p:spTree>
    <p:extLst>
      <p:ext uri="{BB962C8B-B14F-4D97-AF65-F5344CB8AC3E}">
        <p14:creationId xmlns:p14="http://schemas.microsoft.com/office/powerpoint/2010/main" val="410598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DE47FB-7AFF-FB9A-09D4-B0D09F78F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Required:</a:t>
            </a:r>
          </a:p>
          <a:p>
            <a:pPr lvl="1"/>
            <a:r>
              <a:rPr lang="en-US" dirty="0"/>
              <a:t>Nova username (NetID) </a:t>
            </a:r>
          </a:p>
          <a:p>
            <a:pPr lvl="1"/>
            <a:r>
              <a:rPr lang="en-US" dirty="0"/>
              <a:t>Cluster address (</a:t>
            </a:r>
            <a:r>
              <a:rPr lang="en-US" dirty="0" err="1"/>
              <a:t>nova.its.iastate.edu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Password </a:t>
            </a:r>
          </a:p>
          <a:p>
            <a:pPr lvl="1"/>
            <a:r>
              <a:rPr lang="en-US" dirty="0"/>
              <a:t>MFA access (Authenticator/Duo)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3EEB91-BE05-9C51-3A99-0379971F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Login</a:t>
            </a:r>
          </a:p>
        </p:txBody>
      </p:sp>
    </p:spTree>
    <p:extLst>
      <p:ext uri="{BB962C8B-B14F-4D97-AF65-F5344CB8AC3E}">
        <p14:creationId xmlns:p14="http://schemas.microsoft.com/office/powerpoint/2010/main" val="399627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4F52E4-BBD8-7909-9064-45E83F70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access to a command line session</a:t>
            </a:r>
          </a:p>
          <a:p>
            <a:r>
              <a:rPr lang="en-US" dirty="0"/>
              <a:t>Access to full graphical Linux desktop</a:t>
            </a:r>
          </a:p>
          <a:p>
            <a:r>
              <a:rPr lang="en-US" dirty="0"/>
              <a:t>All within the web browser</a:t>
            </a:r>
            <a:br>
              <a:rPr lang="en-US" dirty="0"/>
            </a:br>
            <a:br>
              <a:rPr lang="en-US" dirty="0"/>
            </a:br>
            <a:r>
              <a:rPr lang="en-US" b="1" u="sng" dirty="0">
                <a:hlinkClick r:id="rId2"/>
              </a:rPr>
              <a:t>https://nova-ondemand.its.iastate.edu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4386B6-DBB6-46F1-85E6-CD1D8C4E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Nova OnDemand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7B4C4-EE84-C333-D943-43C8DC11B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040" y="3379921"/>
            <a:ext cx="56642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5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B50C-1079-353C-B563-AF3487A0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E2CCD6-3CB0-2CB6-9FA9-A73CA050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Nova OnDemand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C04DB-C70C-E221-D27C-C1892C4B8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Time Login: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research.it.iastate.edu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accessing-clusters#with-ssh</a:t>
            </a:r>
            <a:endParaRPr lang="en-US" dirty="0"/>
          </a:p>
        </p:txBody>
      </p:sp>
      <p:pic>
        <p:nvPicPr>
          <p:cNvPr id="8" name="Picture 7" descr="Simple laptop illustration">
            <a:extLst>
              <a:ext uri="{FF2B5EF4-FFF2-40B4-BE49-F238E27FC236}">
                <a16:creationId xmlns:a16="http://schemas.microsoft.com/office/drawing/2014/main" id="{B1CDEEF5-CD9D-D5D2-047B-F0363A07F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16" y="2597450"/>
            <a:ext cx="5425568" cy="361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6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452F89-43D9-6234-2638-5D69572C5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off campus, login to the university VPN to access Nova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DF86FE-4B3E-6123-EBA8-CC3C89EB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VPN to IASTATE via Cisco AnyConnect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ECD51-D177-F435-52F7-490BE22C6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62" y="1873479"/>
            <a:ext cx="4568879" cy="2147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87239-4778-0FD4-158C-7D2660693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61" y="1873479"/>
            <a:ext cx="4479272" cy="2148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49A0E6-4CA5-68F7-882B-9ABBA625A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891" y="4636105"/>
            <a:ext cx="7772400" cy="95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9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49F34-73C4-7091-4551-C77DD7C49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62" y="1046827"/>
            <a:ext cx="5669278" cy="4840421"/>
          </a:xfrm>
        </p:spPr>
        <p:txBody>
          <a:bodyPr/>
          <a:lstStyle/>
          <a:p>
            <a:r>
              <a:rPr lang="en-US" dirty="0"/>
              <a:t>Open terminal </a:t>
            </a:r>
          </a:p>
          <a:p>
            <a:pPr lvl="1"/>
            <a:r>
              <a:rPr lang="en-US" dirty="0"/>
              <a:t>Type</a:t>
            </a:r>
            <a:r>
              <a:rPr lang="en-US" b="1" dirty="0"/>
              <a:t>: ssh </a:t>
            </a:r>
            <a:r>
              <a:rPr lang="en-US" b="1" dirty="0" err="1"/>
              <a:t>username@cluster.address.edu</a:t>
            </a:r>
            <a:endParaRPr lang="en-US" b="1" dirty="0"/>
          </a:p>
          <a:p>
            <a:r>
              <a:rPr lang="en-US" dirty="0"/>
              <a:t>Type MFA code into </a:t>
            </a:r>
            <a:r>
              <a:rPr lang="en-US" b="1" dirty="0"/>
              <a:t>Verification code</a:t>
            </a:r>
          </a:p>
          <a:p>
            <a:r>
              <a:rPr lang="en-US" dirty="0"/>
              <a:t>Type password into </a:t>
            </a:r>
            <a:r>
              <a:rPr lang="en-US" b="1" dirty="0"/>
              <a:t>Password</a:t>
            </a:r>
          </a:p>
          <a:p>
            <a:endParaRPr lang="en-US" b="1" dirty="0"/>
          </a:p>
          <a:p>
            <a:r>
              <a:rPr lang="en-US" b="1" dirty="0"/>
              <a:t>First login may have additional questions</a:t>
            </a:r>
          </a:p>
          <a:p>
            <a:pPr lvl="1"/>
            <a:r>
              <a:rPr lang="en-US" dirty="0"/>
              <a:t>Authenticity of host (answer: yes)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B860DA-821E-EF2B-47B2-C89AA330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Logging in MacOS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1958C-3DF1-42FE-3110-AF2F3C53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140" y="645979"/>
            <a:ext cx="589000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2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CBA3-DBDB-F47B-B013-66CF28D3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61CBB3-443F-0229-F7B4-B0DFFC1D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2" y="1008789"/>
            <a:ext cx="11338556" cy="4840421"/>
          </a:xfrm>
        </p:spPr>
        <p:txBody>
          <a:bodyPr/>
          <a:lstStyle/>
          <a:p>
            <a:r>
              <a:rPr lang="en-US" dirty="0"/>
              <a:t>More Complicated (requires remote manager)</a:t>
            </a:r>
          </a:p>
          <a:p>
            <a:r>
              <a:rPr lang="en-US" dirty="0"/>
              <a:t>Recommended: </a:t>
            </a:r>
            <a:r>
              <a:rPr lang="en-US" dirty="0" err="1"/>
              <a:t>MobaXterm</a:t>
            </a:r>
            <a:endParaRPr lang="en-US" dirty="0"/>
          </a:p>
          <a:p>
            <a:pPr lvl="1"/>
            <a:r>
              <a:rPr lang="en-US" dirty="0"/>
              <a:t>Alternative: PuTTY/</a:t>
            </a:r>
            <a:r>
              <a:rPr lang="en-US" dirty="0" err="1"/>
              <a:t>Bitvise</a:t>
            </a:r>
            <a:r>
              <a:rPr lang="en-US" dirty="0"/>
              <a:t> + </a:t>
            </a:r>
            <a:r>
              <a:rPr lang="en-US" dirty="0" err="1"/>
              <a:t>winscp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C2653-63A6-D41C-B529-64BC06B3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Logging in </a:t>
            </a:r>
            <a:r>
              <a:rPr lang="en-US" dirty="0" err="1"/>
              <a:t>WindowOS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51929-76C7-0A71-BC97-BBE096F72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873" y="1609275"/>
            <a:ext cx="6617665" cy="4458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C7450-89BE-DAB7-6465-BCD637ADE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70" y="2392408"/>
            <a:ext cx="4398456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24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E687C8-30FC-A55B-FE89-9EAB5E078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Login via SSH (Secure Shell)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Change directory to /work directory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Upload/Create input files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Upload/Create submission script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Submit Job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Monitor Job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output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processing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47888C-CBE2-6FCE-B93F-DC0C45CAF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Running a Calculation</a:t>
            </a:r>
          </a:p>
        </p:txBody>
      </p:sp>
    </p:spTree>
    <p:extLst>
      <p:ext uri="{BB962C8B-B14F-4D97-AF65-F5344CB8AC3E}">
        <p14:creationId xmlns:p14="http://schemas.microsoft.com/office/powerpoint/2010/main" val="120355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99DD4F-3155-474E-497E-B4B43F4BB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2" y="936433"/>
            <a:ext cx="11338556" cy="4985133"/>
          </a:xfrm>
        </p:spPr>
        <p:txBody>
          <a:bodyPr>
            <a:normAutofit/>
          </a:bodyPr>
          <a:lstStyle/>
          <a:p>
            <a:r>
              <a:rPr lang="en-US" b="1" dirty="0" err="1"/>
              <a:t>pwd</a:t>
            </a:r>
            <a:r>
              <a:rPr lang="en-US" dirty="0"/>
              <a:t>: print current working directory (</a:t>
            </a:r>
            <a:r>
              <a:rPr lang="en-US" dirty="0" err="1"/>
              <a:t>cwd</a:t>
            </a:r>
            <a:r>
              <a:rPr lang="en-US" dirty="0"/>
              <a:t>)</a:t>
            </a:r>
          </a:p>
          <a:p>
            <a:r>
              <a:rPr lang="en-US" b="1" dirty="0"/>
              <a:t>ls</a:t>
            </a:r>
            <a:r>
              <a:rPr lang="en-US" dirty="0"/>
              <a:t>: list files (</a:t>
            </a:r>
            <a:r>
              <a:rPr lang="en-US" b="1" dirty="0"/>
              <a:t>ls –</a:t>
            </a:r>
            <a:r>
              <a:rPr lang="en-US" b="1" dirty="0" err="1"/>
              <a:t>lh</a:t>
            </a:r>
            <a:r>
              <a:rPr lang="en-US" b="1" dirty="0"/>
              <a:t> </a:t>
            </a:r>
            <a:r>
              <a:rPr lang="en-US" dirty="0"/>
              <a:t>to list detailed version)</a:t>
            </a:r>
          </a:p>
          <a:p>
            <a:r>
              <a:rPr lang="en-US" b="1" dirty="0"/>
              <a:t>cd</a:t>
            </a:r>
            <a:r>
              <a:rPr lang="en-US" dirty="0"/>
              <a:t>: change directory (&lt;</a:t>
            </a:r>
            <a:r>
              <a:rPr lang="en-US" dirty="0" err="1"/>
              <a:t>folder_name</a:t>
            </a:r>
            <a:r>
              <a:rPr lang="en-US" dirty="0"/>
              <a:t>&gt;, .., ../&lt;</a:t>
            </a:r>
            <a:r>
              <a:rPr lang="en-US" dirty="0" err="1"/>
              <a:t>folder_name</a:t>
            </a:r>
            <a:r>
              <a:rPr lang="en-US" dirty="0"/>
              <a:t>&gt;)</a:t>
            </a:r>
          </a:p>
          <a:p>
            <a:pPr lvl="1"/>
            <a:r>
              <a:rPr lang="en-US" dirty="0"/>
              <a:t>. means current directory</a:t>
            </a:r>
          </a:p>
          <a:p>
            <a:pPr lvl="1"/>
            <a:r>
              <a:rPr lang="en-US" dirty="0"/>
              <a:t>.. means parent directory</a:t>
            </a:r>
          </a:p>
          <a:p>
            <a:pPr lvl="1"/>
            <a:r>
              <a:rPr lang="en-US" dirty="0"/>
              <a:t>~ means your home directory</a:t>
            </a:r>
          </a:p>
          <a:p>
            <a:r>
              <a:rPr lang="en-US" b="1" dirty="0" err="1"/>
              <a:t>mkdir</a:t>
            </a:r>
            <a:r>
              <a:rPr lang="en-US" dirty="0"/>
              <a:t>: make directory</a:t>
            </a:r>
            <a:endParaRPr lang="en-US" b="1" dirty="0"/>
          </a:p>
          <a:p>
            <a:r>
              <a:rPr lang="en-US" b="1" dirty="0"/>
              <a:t>clear: </a:t>
            </a:r>
            <a:r>
              <a:rPr lang="en-US" dirty="0"/>
              <a:t>clear screen</a:t>
            </a:r>
          </a:p>
          <a:p>
            <a:endParaRPr lang="en-US" b="1" dirty="0"/>
          </a:p>
          <a:p>
            <a:r>
              <a:rPr lang="en-US" b="1" dirty="0"/>
              <a:t>Note:</a:t>
            </a:r>
          </a:p>
          <a:p>
            <a:pPr lvl="1"/>
            <a:r>
              <a:rPr lang="en-US" b="1" dirty="0"/>
              <a:t>Avoid spaces in file names</a:t>
            </a:r>
          </a:p>
          <a:p>
            <a:pPr lvl="1"/>
            <a:r>
              <a:rPr lang="en-US" b="1" dirty="0" err="1"/>
              <a:t>Opt</a:t>
            </a:r>
            <a:r>
              <a:rPr lang="en-US" b="1" dirty="0"/>
              <a:t> for underscore instead (</a:t>
            </a:r>
            <a:r>
              <a:rPr lang="en-US" b="1" dirty="0" err="1"/>
              <a:t>folder_name</a:t>
            </a:r>
            <a:r>
              <a:rPr lang="en-US" b="1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35E1D4-5DAF-9FF6-D77E-6A6D6A37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Basics</a:t>
            </a:r>
          </a:p>
        </p:txBody>
      </p:sp>
    </p:spTree>
    <p:extLst>
      <p:ext uri="{BB962C8B-B14F-4D97-AF65-F5344CB8AC3E}">
        <p14:creationId xmlns:p14="http://schemas.microsoft.com/office/powerpoint/2010/main" val="96355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091C54-4CA4-49F8-C07E-0C3E5EF7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62" y="1371600"/>
            <a:ext cx="5654138" cy="4840421"/>
          </a:xfrm>
        </p:spPr>
        <p:txBody>
          <a:bodyPr/>
          <a:lstStyle/>
          <a:p>
            <a:r>
              <a:rPr lang="en-US" b="1" dirty="0"/>
              <a:t>Start:</a:t>
            </a:r>
          </a:p>
          <a:p>
            <a:pPr lvl="1"/>
            <a:r>
              <a:rPr lang="en-US" b="1" dirty="0"/>
              <a:t>cd /work/</a:t>
            </a:r>
            <a:r>
              <a:rPr lang="en-US" b="1" dirty="0" err="1"/>
              <a:t>simcodes</a:t>
            </a:r>
            <a:endParaRPr lang="en-US" b="1" dirty="0"/>
          </a:p>
          <a:p>
            <a:pPr lvl="1"/>
            <a:r>
              <a:rPr lang="en-US" b="1" dirty="0" err="1"/>
              <a:t>pwd</a:t>
            </a:r>
            <a:r>
              <a:rPr lang="en-US" b="1" dirty="0"/>
              <a:t>  </a:t>
            </a:r>
          </a:p>
          <a:p>
            <a:pPr lvl="2"/>
            <a:r>
              <a:rPr lang="en-US" dirty="0"/>
              <a:t>/work/</a:t>
            </a:r>
            <a:r>
              <a:rPr lang="en-US" dirty="0" err="1"/>
              <a:t>simcodes</a:t>
            </a:r>
            <a:endParaRPr lang="en-US" b="1" dirty="0"/>
          </a:p>
          <a:p>
            <a:r>
              <a:rPr lang="en-US" b="1" dirty="0"/>
              <a:t>Make your personal directory:</a:t>
            </a:r>
          </a:p>
          <a:p>
            <a:pPr lvl="1"/>
            <a:r>
              <a:rPr lang="en-US" b="1" dirty="0" err="1"/>
              <a:t>mkdir</a:t>
            </a:r>
            <a:r>
              <a:rPr lang="en-US" b="1" dirty="0"/>
              <a:t> &lt;</a:t>
            </a:r>
            <a:r>
              <a:rPr lang="en-US" b="1" dirty="0" err="1"/>
              <a:t>UserID</a:t>
            </a:r>
            <a:r>
              <a:rPr lang="en-US" b="1" dirty="0"/>
              <a:t>&gt;</a:t>
            </a:r>
          </a:p>
          <a:p>
            <a:pPr lvl="1"/>
            <a:r>
              <a:rPr lang="en-US" b="1" dirty="0"/>
              <a:t>cd  &lt;</a:t>
            </a:r>
            <a:r>
              <a:rPr lang="en-US" b="1" dirty="0" err="1"/>
              <a:t>UserID</a:t>
            </a:r>
            <a:r>
              <a:rPr lang="en-US" b="1" dirty="0"/>
              <a:t>&gt;</a:t>
            </a:r>
          </a:p>
          <a:p>
            <a:pPr lvl="1"/>
            <a:r>
              <a:rPr lang="en-US" b="1" dirty="0" err="1"/>
              <a:t>pwd</a:t>
            </a:r>
            <a:endParaRPr lang="en-US" b="1" dirty="0"/>
          </a:p>
          <a:p>
            <a:pPr lvl="2"/>
            <a:r>
              <a:rPr lang="en-US" dirty="0"/>
              <a:t>/work/</a:t>
            </a:r>
            <a:r>
              <a:rPr lang="en-US" dirty="0" err="1"/>
              <a:t>simcodes</a:t>
            </a:r>
            <a:r>
              <a:rPr lang="en-US" dirty="0"/>
              <a:t>/&lt;</a:t>
            </a:r>
            <a:r>
              <a:rPr lang="en-US" dirty="0" err="1"/>
              <a:t>UserID</a:t>
            </a:r>
            <a:r>
              <a:rPr lang="en-US" dirty="0"/>
              <a:t>&gt;</a:t>
            </a:r>
            <a:endParaRPr lang="en-US" b="1" dirty="0"/>
          </a:p>
          <a:p>
            <a:pPr marL="914400" lvl="2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B20CC7-4262-0AA4-8E75-EAA3CB28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Paths: Setting Up Your Work Directory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D46A6AA-3494-D77E-FF3D-A350D1A76EC5}"/>
              </a:ext>
            </a:extLst>
          </p:cNvPr>
          <p:cNvSpPr txBox="1">
            <a:spLocks/>
          </p:cNvSpPr>
          <p:nvPr/>
        </p:nvSpPr>
        <p:spPr>
          <a:xfrm>
            <a:off x="6096000" y="1371600"/>
            <a:ext cx="5654138" cy="484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Good habits for file management:</a:t>
            </a:r>
          </a:p>
          <a:p>
            <a:pPr lvl="1"/>
            <a:r>
              <a:rPr lang="en-US" b="1" dirty="0"/>
              <a:t>One project, one folder</a:t>
            </a:r>
          </a:p>
          <a:p>
            <a:pPr lvl="1"/>
            <a:r>
              <a:rPr lang="en-US" b="1" dirty="0"/>
              <a:t>One folder per calculation </a:t>
            </a:r>
          </a:p>
          <a:p>
            <a:pPr lvl="1"/>
            <a:r>
              <a:rPr lang="en-US" b="1" dirty="0"/>
              <a:t>Keep input, submission script, and output together in the same directory 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 descr="Files in folders">
            <a:extLst>
              <a:ext uri="{FF2B5EF4-FFF2-40B4-BE49-F238E27FC236}">
                <a16:creationId xmlns:a16="http://schemas.microsoft.com/office/drawing/2014/main" id="{AD475BF1-F37A-0ABB-C642-0DEC4A627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014" y="3179617"/>
            <a:ext cx="4388110" cy="292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8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3A7DB-D402-7BC3-27B9-29BA5A604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2" y="1008789"/>
            <a:ext cx="11338556" cy="4840421"/>
          </a:xfrm>
        </p:spPr>
        <p:txBody>
          <a:bodyPr>
            <a:normAutofit/>
          </a:bodyPr>
          <a:lstStyle/>
          <a:p>
            <a:r>
              <a:rPr lang="en-US" b="1" dirty="0"/>
              <a:t>cp </a:t>
            </a:r>
            <a:r>
              <a:rPr lang="en-US" b="1" dirty="0" err="1"/>
              <a:t>old.inp</a:t>
            </a:r>
            <a:r>
              <a:rPr lang="en-US" b="1" dirty="0"/>
              <a:t> </a:t>
            </a:r>
            <a:r>
              <a:rPr lang="en-US" b="1" dirty="0" err="1"/>
              <a:t>new.inp</a:t>
            </a:r>
            <a:r>
              <a:rPr lang="en-US" dirty="0"/>
              <a:t>: copy contents of </a:t>
            </a:r>
            <a:r>
              <a:rPr lang="en-US" dirty="0" err="1"/>
              <a:t>old.inp</a:t>
            </a:r>
            <a:r>
              <a:rPr lang="en-US" dirty="0"/>
              <a:t> into </a:t>
            </a:r>
            <a:r>
              <a:rPr lang="en-US" dirty="0" err="1"/>
              <a:t>new.inp</a:t>
            </a:r>
            <a:endParaRPr lang="en-US" dirty="0"/>
          </a:p>
          <a:p>
            <a:r>
              <a:rPr lang="en-US" b="1" dirty="0"/>
              <a:t>mv old new</a:t>
            </a:r>
            <a:r>
              <a:rPr lang="en-US" dirty="0"/>
              <a:t>: move/rename old into new</a:t>
            </a:r>
          </a:p>
          <a:p>
            <a:endParaRPr lang="en-US" b="1" dirty="0"/>
          </a:p>
          <a:p>
            <a:r>
              <a:rPr lang="en-US" b="1" dirty="0"/>
              <a:t>rm </a:t>
            </a:r>
            <a:r>
              <a:rPr lang="en-US" b="1" dirty="0" err="1"/>
              <a:t>file.txt</a:t>
            </a:r>
            <a:r>
              <a:rPr lang="en-US" dirty="0"/>
              <a:t>: remove </a:t>
            </a:r>
            <a:r>
              <a:rPr lang="en-US" dirty="0" err="1"/>
              <a:t>file.txt</a:t>
            </a:r>
            <a:endParaRPr lang="en-US" dirty="0"/>
          </a:p>
          <a:p>
            <a:r>
              <a:rPr lang="en-US" b="1" dirty="0"/>
              <a:t>rm –r </a:t>
            </a:r>
            <a:r>
              <a:rPr lang="en-US" b="1" dirty="0" err="1"/>
              <a:t>folder_name</a:t>
            </a:r>
            <a:r>
              <a:rPr lang="en-US" dirty="0"/>
              <a:t>: remove </a:t>
            </a:r>
            <a:r>
              <a:rPr lang="en-US" dirty="0" err="1"/>
              <a:t>folder_name</a:t>
            </a:r>
            <a:endParaRPr lang="en-US" dirty="0"/>
          </a:p>
          <a:p>
            <a:pPr lvl="1"/>
            <a:r>
              <a:rPr lang="en-US" dirty="0"/>
              <a:t>Note: There is no storage for removed files</a:t>
            </a:r>
          </a:p>
          <a:p>
            <a:pPr lvl="1"/>
            <a:r>
              <a:rPr lang="en-US" dirty="0"/>
              <a:t>Once its removed, its lost completely </a:t>
            </a:r>
          </a:p>
          <a:p>
            <a:pPr lvl="1"/>
            <a:endParaRPr lang="en-US" dirty="0"/>
          </a:p>
          <a:p>
            <a:r>
              <a:rPr lang="en-US" dirty="0"/>
              <a:t>Glob to batch files:</a:t>
            </a:r>
          </a:p>
          <a:p>
            <a:pPr lvl="1"/>
            <a:r>
              <a:rPr lang="en-US" b="1" dirty="0"/>
              <a:t>ls *.out:</a:t>
            </a:r>
            <a:r>
              <a:rPr lang="en-US" dirty="0"/>
              <a:t> list all .out files in directory </a:t>
            </a:r>
          </a:p>
          <a:p>
            <a:pPr lvl="1"/>
            <a:r>
              <a:rPr lang="en-US" b="1" dirty="0"/>
              <a:t>rm –r *.out:</a:t>
            </a:r>
            <a:r>
              <a:rPr lang="en-US" dirty="0"/>
              <a:t> list all .out files in directory 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443DA-5136-56BF-4348-12EEF806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Directories, Moving Files</a:t>
            </a:r>
          </a:p>
        </p:txBody>
      </p:sp>
    </p:spTree>
    <p:extLst>
      <p:ext uri="{BB962C8B-B14F-4D97-AF65-F5344CB8AC3E}">
        <p14:creationId xmlns:p14="http://schemas.microsoft.com/office/powerpoint/2010/main" val="3237973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810FBD-73E4-CC39-1805-2235EC464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06" y="1338549"/>
            <a:ext cx="9021628" cy="4840421"/>
          </a:xfrm>
        </p:spPr>
        <p:txBody>
          <a:bodyPr/>
          <a:lstStyle/>
          <a:p>
            <a:r>
              <a:rPr lang="en-US" dirty="0"/>
              <a:t>Local to cluster:</a:t>
            </a:r>
          </a:p>
          <a:p>
            <a:pPr lvl="1"/>
            <a:r>
              <a:rPr lang="en-US" b="1" dirty="0" err="1"/>
              <a:t>scp</a:t>
            </a:r>
            <a:r>
              <a:rPr lang="en-US" b="1" dirty="0"/>
              <a:t> </a:t>
            </a:r>
            <a:r>
              <a:rPr lang="en-US" b="1" dirty="0" err="1"/>
              <a:t>input.inp</a:t>
            </a:r>
            <a:r>
              <a:rPr lang="en-US" b="1" dirty="0"/>
              <a:t> username@cluster.address.edu:/path/to/remote/folder/</a:t>
            </a:r>
          </a:p>
          <a:p>
            <a:r>
              <a:rPr lang="en-US" dirty="0"/>
              <a:t>Cluster to local:</a:t>
            </a:r>
          </a:p>
          <a:p>
            <a:pPr lvl="1"/>
            <a:r>
              <a:rPr lang="en-US" b="1" dirty="0" err="1"/>
              <a:t>scp</a:t>
            </a:r>
            <a:r>
              <a:rPr lang="en-US" b="1" dirty="0"/>
              <a:t> </a:t>
            </a:r>
            <a:r>
              <a:rPr lang="en-US" b="1" dirty="0" err="1"/>
              <a:t>username@cluster.address.edu</a:t>
            </a:r>
            <a:r>
              <a:rPr lang="en-US" b="1" dirty="0"/>
              <a:t>:/path/to/remote/</a:t>
            </a:r>
            <a:r>
              <a:rPr lang="en-US" b="1" dirty="0" err="1"/>
              <a:t>output.out</a:t>
            </a:r>
            <a:r>
              <a:rPr lang="en-US" b="1" dirty="0"/>
              <a:t> .</a:t>
            </a:r>
          </a:p>
          <a:p>
            <a:pPr lvl="1"/>
            <a:endParaRPr lang="en-US" b="1" dirty="0"/>
          </a:p>
          <a:p>
            <a:r>
              <a:rPr lang="en-US" b="1" dirty="0"/>
              <a:t>Notes: </a:t>
            </a:r>
          </a:p>
          <a:p>
            <a:pPr lvl="1"/>
            <a:r>
              <a:rPr lang="en-US" b="1" dirty="0"/>
              <a:t>Run </a:t>
            </a:r>
            <a:r>
              <a:rPr lang="en-US" b="1" dirty="0" err="1"/>
              <a:t>scp</a:t>
            </a:r>
            <a:r>
              <a:rPr lang="en-US" b="1" dirty="0"/>
              <a:t> from your local terminal</a:t>
            </a:r>
          </a:p>
          <a:p>
            <a:pPr lvl="1"/>
            <a:r>
              <a:rPr lang="en-US" b="1" dirty="0"/>
              <a:t>Alternative SCP file transfer (</a:t>
            </a:r>
            <a:r>
              <a:rPr lang="en-US" b="1" dirty="0" err="1"/>
              <a:t>WindowsOS</a:t>
            </a:r>
            <a:r>
              <a:rPr lang="en-US" b="1" dirty="0"/>
              <a:t>)</a:t>
            </a:r>
          </a:p>
          <a:p>
            <a:pPr lvl="2"/>
            <a:r>
              <a:rPr lang="en-US" b="1" dirty="0" err="1"/>
              <a:t>Filezilla</a:t>
            </a:r>
            <a:r>
              <a:rPr lang="en-US" b="1" dirty="0"/>
              <a:t> for MacOS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4183A6-92E6-8FCC-3AF5-EF62D4BA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Files Continued: From local to cluster and back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97566-C6C6-C568-09D7-E0317EAC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980" y="2950596"/>
            <a:ext cx="4398456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09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5397F9-1613-BC61-4F7C-92D9C0124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scp</a:t>
            </a:r>
            <a:r>
              <a:rPr lang="en-US" dirty="0"/>
              <a:t>: move selected files on a one-time basis</a:t>
            </a:r>
          </a:p>
          <a:p>
            <a:r>
              <a:rPr lang="en-US" dirty="0" err="1"/>
              <a:t>rsync</a:t>
            </a:r>
            <a:r>
              <a:rPr lang="en-US" dirty="0"/>
              <a:t>: moving files are folders recursively -- sync </a:t>
            </a:r>
            <a:r>
              <a:rPr lang="en-US" dirty="0" err="1"/>
              <a:t>local+cluster</a:t>
            </a:r>
            <a:endParaRPr lang="en-US" dirty="0"/>
          </a:p>
          <a:p>
            <a:endParaRPr lang="en-US" dirty="0"/>
          </a:p>
          <a:p>
            <a:r>
              <a:rPr lang="en-US" dirty="0"/>
              <a:t>Local to cluster:</a:t>
            </a:r>
          </a:p>
          <a:p>
            <a:pPr lvl="1"/>
            <a:r>
              <a:rPr lang="en-US" b="1" dirty="0" err="1"/>
              <a:t>rsync</a:t>
            </a:r>
            <a:r>
              <a:rPr lang="en-US" b="1" dirty="0"/>
              <a:t> -</a:t>
            </a:r>
            <a:r>
              <a:rPr lang="en-US" b="1" dirty="0" err="1"/>
              <a:t>avz</a:t>
            </a:r>
            <a:r>
              <a:rPr lang="en-US" b="1" dirty="0"/>
              <a:t> </a:t>
            </a:r>
            <a:r>
              <a:rPr lang="en-US" b="1" dirty="0" err="1"/>
              <a:t>my_folder</a:t>
            </a:r>
            <a:r>
              <a:rPr lang="en-US" b="1" dirty="0"/>
              <a:t>/ username@cluster.address.edu:/path/to/remote/my_folder/</a:t>
            </a:r>
          </a:p>
          <a:p>
            <a:r>
              <a:rPr lang="en-US" dirty="0"/>
              <a:t>Cluster to local:</a:t>
            </a:r>
          </a:p>
          <a:p>
            <a:pPr lvl="1"/>
            <a:r>
              <a:rPr lang="en-US" b="1" dirty="0" err="1"/>
              <a:t>rsync</a:t>
            </a:r>
            <a:r>
              <a:rPr lang="en-US" b="1" dirty="0"/>
              <a:t> -</a:t>
            </a:r>
            <a:r>
              <a:rPr lang="en-US" b="1" dirty="0" err="1"/>
              <a:t>avz</a:t>
            </a:r>
            <a:r>
              <a:rPr lang="en-US" b="1" dirty="0"/>
              <a:t> </a:t>
            </a:r>
            <a:r>
              <a:rPr lang="en-US" b="1" dirty="0" err="1"/>
              <a:t>username@cluster.address.edu</a:t>
            </a:r>
            <a:r>
              <a:rPr lang="en-US" b="1" dirty="0"/>
              <a:t>:/path/to/remote/</a:t>
            </a:r>
            <a:r>
              <a:rPr lang="en-US" b="1" dirty="0" err="1"/>
              <a:t>my_folder</a:t>
            </a:r>
            <a:r>
              <a:rPr lang="en-US" b="1" dirty="0"/>
              <a:t>/ ./</a:t>
            </a:r>
            <a:r>
              <a:rPr lang="en-US" b="1" dirty="0" err="1"/>
              <a:t>my_folder</a:t>
            </a:r>
            <a:r>
              <a:rPr lang="en-US" b="1" dirty="0"/>
              <a:t>/</a:t>
            </a:r>
          </a:p>
          <a:p>
            <a:pPr lvl="1"/>
            <a:endParaRPr lang="en-US" b="1" dirty="0"/>
          </a:p>
          <a:p>
            <a:r>
              <a:rPr lang="en-US" dirty="0"/>
              <a:t>Be very careful with trailing slashes:</a:t>
            </a:r>
          </a:p>
          <a:p>
            <a:r>
              <a:rPr lang="en-US" b="1" dirty="0"/>
              <a:t>folder/ </a:t>
            </a:r>
            <a:r>
              <a:rPr lang="en-US" dirty="0"/>
              <a:t>copies the </a:t>
            </a:r>
            <a:r>
              <a:rPr lang="en-US" b="1" dirty="0"/>
              <a:t>contents</a:t>
            </a:r>
            <a:endParaRPr lang="en-US" dirty="0"/>
          </a:p>
          <a:p>
            <a:r>
              <a:rPr lang="en-US" b="1" dirty="0"/>
              <a:t>folder</a:t>
            </a:r>
            <a:r>
              <a:rPr lang="en-US" dirty="0"/>
              <a:t> copies the </a:t>
            </a:r>
            <a:r>
              <a:rPr lang="en-US" b="1" dirty="0"/>
              <a:t>folder itself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39F963-4D23-6352-3D02-F127DE4F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scp</a:t>
            </a:r>
            <a:r>
              <a:rPr lang="en-US" dirty="0"/>
              <a:t> vs </a:t>
            </a:r>
            <a:r>
              <a:rPr lang="en-US" dirty="0" err="1"/>
              <a:t>rsync</a:t>
            </a:r>
            <a:r>
              <a:rPr lang="en-US" dirty="0"/>
              <a:t> file transfer</a:t>
            </a:r>
          </a:p>
        </p:txBody>
      </p:sp>
    </p:spTree>
    <p:extLst>
      <p:ext uri="{BB962C8B-B14F-4D97-AF65-F5344CB8AC3E}">
        <p14:creationId xmlns:p14="http://schemas.microsoft.com/office/powerpoint/2010/main" val="3969351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08AACF-5FAD-B67D-8734-10F2E1AA3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62" y="1371600"/>
            <a:ext cx="5654138" cy="4840421"/>
          </a:xfrm>
        </p:spPr>
        <p:txBody>
          <a:bodyPr/>
          <a:lstStyle/>
          <a:p>
            <a:r>
              <a:rPr lang="en-US" dirty="0"/>
              <a:t>Print whole file:</a:t>
            </a:r>
          </a:p>
          <a:p>
            <a:pPr lvl="1"/>
            <a:r>
              <a:rPr lang="en-US" b="1" dirty="0"/>
              <a:t>cat </a:t>
            </a:r>
            <a:r>
              <a:rPr lang="en-US" b="1" dirty="0" err="1"/>
              <a:t>file.txt</a:t>
            </a:r>
            <a:endParaRPr lang="en-US" b="1" dirty="0"/>
          </a:p>
          <a:p>
            <a:r>
              <a:rPr lang="en-US" dirty="0"/>
              <a:t>Page through a file</a:t>
            </a:r>
          </a:p>
          <a:p>
            <a:pPr lvl="1"/>
            <a:r>
              <a:rPr lang="en-US" b="1" dirty="0"/>
              <a:t>less </a:t>
            </a:r>
            <a:r>
              <a:rPr lang="en-US" b="1" dirty="0" err="1"/>
              <a:t>file.txt</a:t>
            </a:r>
            <a:endParaRPr lang="en-US" b="1" dirty="0"/>
          </a:p>
          <a:p>
            <a:r>
              <a:rPr lang="en-US" dirty="0"/>
              <a:t>Show start/end of file</a:t>
            </a:r>
          </a:p>
          <a:p>
            <a:pPr lvl="1"/>
            <a:r>
              <a:rPr lang="en-US" b="1" dirty="0"/>
              <a:t>head </a:t>
            </a:r>
            <a:r>
              <a:rPr lang="en-US" b="1" dirty="0" err="1"/>
              <a:t>file.txt</a:t>
            </a:r>
            <a:endParaRPr lang="en-US" b="1" dirty="0"/>
          </a:p>
          <a:p>
            <a:pPr lvl="1"/>
            <a:r>
              <a:rPr lang="en-US" b="1" dirty="0"/>
              <a:t>tail </a:t>
            </a:r>
            <a:r>
              <a:rPr lang="en-US" b="1" dirty="0" err="1"/>
              <a:t>file.txt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0E7F81-F700-8675-077D-E96AB293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Search/View File Contents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DE234E8-09FA-DEDF-F264-497F89171C39}"/>
              </a:ext>
            </a:extLst>
          </p:cNvPr>
          <p:cNvSpPr txBox="1">
            <a:spLocks/>
          </p:cNvSpPr>
          <p:nvPr/>
        </p:nvSpPr>
        <p:spPr>
          <a:xfrm>
            <a:off x="6096000" y="1371599"/>
            <a:ext cx="5654138" cy="484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Search a word:</a:t>
            </a:r>
          </a:p>
          <a:p>
            <a:pPr lvl="1"/>
            <a:r>
              <a:rPr lang="en-US" b="1" dirty="0"/>
              <a:t>grep error </a:t>
            </a:r>
            <a:r>
              <a:rPr lang="en-US" b="1" dirty="0" err="1"/>
              <a:t>output.out</a:t>
            </a:r>
            <a:endParaRPr lang="en-US" b="1" dirty="0"/>
          </a:p>
          <a:p>
            <a:pPr lvl="1"/>
            <a:r>
              <a:rPr lang="en-US" b="1" dirty="0"/>
              <a:t>grep -</a:t>
            </a:r>
            <a:r>
              <a:rPr lang="en-US" b="1" dirty="0" err="1"/>
              <a:t>i</a:t>
            </a:r>
            <a:r>
              <a:rPr lang="en-US" b="1" dirty="0"/>
              <a:t> error </a:t>
            </a:r>
            <a:r>
              <a:rPr lang="en-US" b="1" dirty="0" err="1"/>
              <a:t>output.out</a:t>
            </a:r>
            <a:r>
              <a:rPr lang="en-US" b="1" dirty="0"/>
              <a:t> (case insensitive)</a:t>
            </a:r>
          </a:p>
          <a:p>
            <a:r>
              <a:rPr lang="en-US" dirty="0"/>
              <a:t>Search Recursively</a:t>
            </a:r>
          </a:p>
          <a:p>
            <a:pPr lvl="1"/>
            <a:r>
              <a:rPr lang="en-US" b="1" dirty="0"/>
              <a:t>grep -R -</a:t>
            </a:r>
            <a:r>
              <a:rPr lang="en-US" b="1" dirty="0" err="1"/>
              <a:t>i</a:t>
            </a:r>
            <a:r>
              <a:rPr lang="en-US" b="1" dirty="0"/>
              <a:t> "terminated normally" .</a:t>
            </a:r>
          </a:p>
        </p:txBody>
      </p:sp>
    </p:spTree>
    <p:extLst>
      <p:ext uri="{BB962C8B-B14F-4D97-AF65-F5344CB8AC3E}">
        <p14:creationId xmlns:p14="http://schemas.microsoft.com/office/powerpoint/2010/main" val="972274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94DA7F-BAF3-C9EB-0210-B87787B8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in-terminal editors:</a:t>
            </a:r>
          </a:p>
          <a:p>
            <a:pPr lvl="1"/>
            <a:r>
              <a:rPr lang="en-US" dirty="0"/>
              <a:t>Nano, </a:t>
            </a:r>
            <a:r>
              <a:rPr lang="en-US" b="1" dirty="0"/>
              <a:t>vi/vim</a:t>
            </a:r>
            <a:r>
              <a:rPr lang="en-US" dirty="0"/>
              <a:t>, emacs</a:t>
            </a:r>
          </a:p>
          <a:p>
            <a:r>
              <a:rPr lang="en-US" b="1" dirty="0"/>
              <a:t>vi</a:t>
            </a:r>
            <a:r>
              <a:rPr lang="en-US" dirty="0"/>
              <a:t> </a:t>
            </a:r>
            <a:r>
              <a:rPr lang="en-US" b="1" dirty="0" err="1"/>
              <a:t>Cheatsheet</a:t>
            </a:r>
            <a:r>
              <a:rPr lang="en-US" b="1" dirty="0"/>
              <a:t>:</a:t>
            </a:r>
          </a:p>
          <a:p>
            <a:r>
              <a:rPr lang="en-US" dirty="0"/>
              <a:t>Open/make file</a:t>
            </a:r>
          </a:p>
          <a:p>
            <a:pPr lvl="1"/>
            <a:r>
              <a:rPr lang="en-US" b="1" dirty="0"/>
              <a:t>vi </a:t>
            </a:r>
            <a:r>
              <a:rPr lang="en-US" b="1" dirty="0" err="1"/>
              <a:t>input.inp</a:t>
            </a:r>
            <a:endParaRPr lang="en-US" b="1" dirty="0"/>
          </a:p>
          <a:p>
            <a:r>
              <a:rPr lang="en-US" dirty="0"/>
              <a:t>Insert/Edit mode</a:t>
            </a:r>
          </a:p>
          <a:p>
            <a:pPr lvl="1"/>
            <a:r>
              <a:rPr lang="en-US" b="1" dirty="0"/>
              <a:t>i</a:t>
            </a:r>
          </a:p>
          <a:p>
            <a:pPr lvl="1"/>
            <a:r>
              <a:rPr lang="en-US" b="1" dirty="0"/>
              <a:t>Esc back to normal mode</a:t>
            </a:r>
          </a:p>
          <a:p>
            <a:r>
              <a:rPr lang="en-US" dirty="0"/>
              <a:t>Quit and Save: </a:t>
            </a:r>
          </a:p>
          <a:p>
            <a:pPr lvl="1"/>
            <a:r>
              <a:rPr lang="en-US" b="1" dirty="0"/>
              <a:t>:</a:t>
            </a:r>
            <a:r>
              <a:rPr lang="en-US" b="1" dirty="0" err="1"/>
              <a:t>wq</a:t>
            </a:r>
            <a:endParaRPr lang="en-US" b="1" dirty="0"/>
          </a:p>
          <a:p>
            <a:r>
              <a:rPr lang="en-US" dirty="0"/>
              <a:t>Search</a:t>
            </a:r>
          </a:p>
          <a:p>
            <a:pPr lvl="1"/>
            <a:r>
              <a:rPr lang="en-US" b="1" dirty="0"/>
              <a:t>/&lt;word&gt;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525B77-E99A-FE6B-F865-58718037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 Editor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E1EF6-B619-7BF1-DFAB-18C2B6099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140" y="0"/>
            <a:ext cx="4875416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56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493627-2B55-D62A-EAD2-7DD7BCAD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Decides:</a:t>
            </a:r>
          </a:p>
          <a:p>
            <a:pPr lvl="1"/>
            <a:r>
              <a:rPr lang="en-US" dirty="0"/>
              <a:t>Job order on Queue (shared resource)</a:t>
            </a:r>
          </a:p>
          <a:p>
            <a:pPr lvl="1"/>
            <a:r>
              <a:rPr lang="en-US" dirty="0"/>
              <a:t>Which compute node to run on</a:t>
            </a:r>
          </a:p>
          <a:p>
            <a:r>
              <a:rPr lang="en-US" dirty="0"/>
              <a:t>Based on:</a:t>
            </a:r>
          </a:p>
          <a:p>
            <a:pPr lvl="1"/>
            <a:r>
              <a:rPr lang="en-US" dirty="0"/>
              <a:t>CPU/GPU and memory requirements</a:t>
            </a:r>
          </a:p>
          <a:p>
            <a:pPr lvl="1"/>
            <a:r>
              <a:rPr lang="en-US" dirty="0"/>
              <a:t>Wall time requirements</a:t>
            </a:r>
          </a:p>
          <a:p>
            <a:pPr lvl="1"/>
            <a:endParaRPr lang="en-US" dirty="0"/>
          </a:p>
          <a:p>
            <a:r>
              <a:rPr lang="en-US" dirty="0"/>
              <a:t>Consistent way to run calculations</a:t>
            </a:r>
          </a:p>
          <a:p>
            <a:r>
              <a:rPr lang="en-US" dirty="0"/>
              <a:t>Benefits you and other users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71752E-CEE6-50CA-EDD8-A7DE7BA3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SLURM Job Scheduler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F264-D4D5-8F1F-5C54-565B31B0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52" y="731520"/>
            <a:ext cx="4597256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2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B03DE0-7B5B-2C2A-9416-4DD295E5C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#!/bin/bash</a:t>
            </a:r>
          </a:p>
          <a:p>
            <a:pPr marL="0" indent="0">
              <a:buNone/>
            </a:pPr>
            <a:r>
              <a:rPr lang="en-US" dirty="0"/>
              <a:t>#SBATCH --job-name=test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#SBATCH --nodes=1</a:t>
            </a:r>
          </a:p>
          <a:p>
            <a:pPr marL="0" indent="0">
              <a:buNone/>
            </a:pPr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#SBATCH --time=01:00:00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#SBATCH --partition=nova</a:t>
            </a:r>
          </a:p>
          <a:p>
            <a:pPr marL="0" indent="0">
              <a:buNone/>
            </a:pPr>
            <a:r>
              <a:rPr lang="en-US" dirty="0"/>
              <a:t>#SBATCH --output=</a:t>
            </a:r>
            <a:r>
              <a:rPr lang="en-US" dirty="0" err="1"/>
              <a:t>slurm</a:t>
            </a:r>
            <a:r>
              <a:rPr lang="en-US" dirty="0"/>
              <a:t>-%</a:t>
            </a:r>
            <a:r>
              <a:rPr lang="en-US" dirty="0" err="1"/>
              <a:t>j.out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hostname</a:t>
            </a:r>
          </a:p>
          <a:p>
            <a:pPr marL="0" indent="0">
              <a:buNone/>
            </a:pPr>
            <a:r>
              <a:rPr lang="en-US" dirty="0"/>
              <a:t>date</a:t>
            </a:r>
          </a:p>
          <a:p>
            <a:pPr marL="0" indent="0">
              <a:buNone/>
            </a:pPr>
            <a:r>
              <a:rPr lang="en-US" dirty="0"/>
              <a:t>echo "Job started"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program </a:t>
            </a:r>
            <a:r>
              <a:rPr lang="en-US" dirty="0" err="1">
                <a:highlight>
                  <a:srgbClr val="FFFF00"/>
                </a:highlight>
              </a:rPr>
              <a:t>input.inp</a:t>
            </a:r>
            <a:r>
              <a:rPr lang="en-US" dirty="0">
                <a:highlight>
                  <a:srgbClr val="FFFF00"/>
                </a:highlight>
              </a:rPr>
              <a:t> &gt; </a:t>
            </a:r>
            <a:r>
              <a:rPr lang="en-US" dirty="0" err="1">
                <a:highlight>
                  <a:srgbClr val="FFFF00"/>
                </a:highlight>
              </a:rPr>
              <a:t>output.out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echo "Job finished"</a:t>
            </a:r>
          </a:p>
          <a:p>
            <a:pPr marL="0" indent="0">
              <a:buNone/>
            </a:pPr>
            <a:r>
              <a:rPr lang="en-US" dirty="0"/>
              <a:t>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962E8E-AEAD-1FBA-30A9-BCA09E0C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Script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E03F86E-0358-98C4-730D-CC231530849D}"/>
              </a:ext>
            </a:extLst>
          </p:cNvPr>
          <p:cNvCxnSpPr/>
          <p:nvPr/>
        </p:nvCxnSpPr>
        <p:spPr>
          <a:xfrm>
            <a:off x="2280492" y="2027104"/>
            <a:ext cx="1399142" cy="0"/>
          </a:xfrm>
          <a:prstGeom prst="straightConnector1">
            <a:avLst/>
          </a:prstGeom>
          <a:ln w="603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53AE27-21D3-B444-B7C4-FADF63918402}"/>
              </a:ext>
            </a:extLst>
          </p:cNvPr>
          <p:cNvSpPr txBox="1"/>
          <p:nvPr/>
        </p:nvSpPr>
        <p:spPr>
          <a:xfrm>
            <a:off x="3679634" y="1842655"/>
            <a:ext cx="70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CPU/GPU nodes (Pick 1 unless directed otherwise)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FE304F-3771-9401-F9B4-FB70D9BCF9FD}"/>
              </a:ext>
            </a:extLst>
          </p:cNvPr>
          <p:cNvCxnSpPr/>
          <p:nvPr/>
        </p:nvCxnSpPr>
        <p:spPr>
          <a:xfrm>
            <a:off x="2779255" y="2622850"/>
            <a:ext cx="1399142" cy="0"/>
          </a:xfrm>
          <a:prstGeom prst="straightConnector1">
            <a:avLst/>
          </a:prstGeom>
          <a:ln w="603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996EE6-3BBC-1A56-DFB8-5247A18B8D4E}"/>
              </a:ext>
            </a:extLst>
          </p:cNvPr>
          <p:cNvSpPr txBox="1"/>
          <p:nvPr/>
        </p:nvSpPr>
        <p:spPr>
          <a:xfrm>
            <a:off x="4275380" y="2438184"/>
            <a:ext cx="70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Wall time requested max (scale to size </a:t>
            </a:r>
            <a:r>
              <a:rPr lang="en-US"/>
              <a:t>of calculation)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8EAD93-3225-3B25-908E-5116C8F0A6AF}"/>
              </a:ext>
            </a:extLst>
          </p:cNvPr>
          <p:cNvCxnSpPr/>
          <p:nvPr/>
        </p:nvCxnSpPr>
        <p:spPr>
          <a:xfrm>
            <a:off x="2876238" y="2927650"/>
            <a:ext cx="1399142" cy="0"/>
          </a:xfrm>
          <a:prstGeom prst="straightConnector1">
            <a:avLst/>
          </a:prstGeom>
          <a:ln w="603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B1729A-E5A5-DE4F-838C-6BD699D75A86}"/>
              </a:ext>
            </a:extLst>
          </p:cNvPr>
          <p:cNvSpPr txBox="1"/>
          <p:nvPr/>
        </p:nvSpPr>
        <p:spPr>
          <a:xfrm>
            <a:off x="4289235" y="2742984"/>
            <a:ext cx="70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Queue (interactive, scavenger, and </a:t>
            </a:r>
            <a:r>
              <a:rPr lang="en-US" b="1" dirty="0"/>
              <a:t>nova</a:t>
            </a:r>
            <a:r>
              <a:rPr lang="en-US" dirty="0"/>
              <a:t>)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124146-A6AB-7E37-2777-629154240DFD}"/>
              </a:ext>
            </a:extLst>
          </p:cNvPr>
          <p:cNvCxnSpPr/>
          <p:nvPr/>
        </p:nvCxnSpPr>
        <p:spPr>
          <a:xfrm>
            <a:off x="3097911" y="4922704"/>
            <a:ext cx="1399142" cy="0"/>
          </a:xfrm>
          <a:prstGeom prst="straightConnector1">
            <a:avLst/>
          </a:prstGeom>
          <a:ln w="603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B1814B-9F06-A7C9-0ED5-843E1FD7EE72}"/>
              </a:ext>
            </a:extLst>
          </p:cNvPr>
          <p:cNvSpPr txBox="1"/>
          <p:nvPr/>
        </p:nvSpPr>
        <p:spPr>
          <a:xfrm>
            <a:off x="4497053" y="4738038"/>
            <a:ext cx="70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Actual task/job submitted</a:t>
            </a:r>
          </a:p>
        </p:txBody>
      </p:sp>
    </p:spTree>
    <p:extLst>
      <p:ext uri="{BB962C8B-B14F-4D97-AF65-F5344CB8AC3E}">
        <p14:creationId xmlns:p14="http://schemas.microsoft.com/office/powerpoint/2010/main" val="3825176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7AA0A-C147-8871-DCB3-7C2BE2C33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65" y="1371600"/>
            <a:ext cx="5654138" cy="4840421"/>
          </a:xfrm>
        </p:spPr>
        <p:txBody>
          <a:bodyPr/>
          <a:lstStyle/>
          <a:p>
            <a:r>
              <a:rPr lang="en-US" dirty="0"/>
              <a:t>Software might not be available in default environment</a:t>
            </a:r>
          </a:p>
          <a:p>
            <a:r>
              <a:rPr lang="en-US" dirty="0"/>
              <a:t>HPCs use environment modules</a:t>
            </a:r>
          </a:p>
          <a:p>
            <a:r>
              <a:rPr lang="en-US" dirty="0"/>
              <a:t>See all modules:</a:t>
            </a:r>
          </a:p>
          <a:p>
            <a:pPr lvl="1"/>
            <a:r>
              <a:rPr lang="en-US" b="1" dirty="0"/>
              <a:t>module avail</a:t>
            </a:r>
          </a:p>
          <a:p>
            <a:r>
              <a:rPr lang="en-US" dirty="0"/>
              <a:t>Load software:</a:t>
            </a:r>
          </a:p>
          <a:p>
            <a:pPr lvl="1"/>
            <a:r>
              <a:rPr lang="en-US" b="1" dirty="0"/>
              <a:t>module load &lt;</a:t>
            </a:r>
            <a:r>
              <a:rPr lang="en-US" b="1" dirty="0" err="1"/>
              <a:t>program_name</a:t>
            </a:r>
            <a:r>
              <a:rPr lang="en-US" b="1" dirty="0"/>
              <a:t>&gt;</a:t>
            </a:r>
          </a:p>
          <a:p>
            <a:pPr lvl="1"/>
            <a:r>
              <a:rPr lang="en-US" b="1" dirty="0"/>
              <a:t>ml &lt;</a:t>
            </a:r>
            <a:r>
              <a:rPr lang="en-US" b="1" dirty="0" err="1"/>
              <a:t>program_name</a:t>
            </a:r>
            <a:r>
              <a:rPr lang="en-US" b="1" dirty="0"/>
              <a:t>&gt;</a:t>
            </a:r>
          </a:p>
          <a:p>
            <a:r>
              <a:rPr lang="en-US" dirty="0"/>
              <a:t>Check loaded modules</a:t>
            </a:r>
          </a:p>
          <a:p>
            <a:pPr lvl="1"/>
            <a:r>
              <a:rPr lang="en-US" b="1" dirty="0"/>
              <a:t>module list</a:t>
            </a:r>
          </a:p>
          <a:p>
            <a:pPr lvl="1"/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C7A410-1663-B9EA-83E2-EF3C919A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Environments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15433-CB75-7101-7738-F69830734C3A}"/>
              </a:ext>
            </a:extLst>
          </p:cNvPr>
          <p:cNvSpPr txBox="1"/>
          <p:nvPr/>
        </p:nvSpPr>
        <p:spPr>
          <a:xfrm>
            <a:off x="2247843" y="786825"/>
            <a:ext cx="1858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5684B-40B7-E205-1B4D-DEB6BA13099D}"/>
              </a:ext>
            </a:extLst>
          </p:cNvPr>
          <p:cNvSpPr txBox="1"/>
          <p:nvPr/>
        </p:nvSpPr>
        <p:spPr>
          <a:xfrm>
            <a:off x="8085378" y="354527"/>
            <a:ext cx="2970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Conda Environments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9985297-630F-A003-C0CA-40A9D9E10730}"/>
              </a:ext>
            </a:extLst>
          </p:cNvPr>
          <p:cNvSpPr txBox="1">
            <a:spLocks/>
          </p:cNvSpPr>
          <p:nvPr/>
        </p:nvSpPr>
        <p:spPr>
          <a:xfrm>
            <a:off x="6537862" y="1538844"/>
            <a:ext cx="5654138" cy="484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Build from custom environments</a:t>
            </a:r>
          </a:p>
          <a:p>
            <a:pPr lvl="1"/>
            <a:r>
              <a:rPr lang="en-US" dirty="0"/>
              <a:t>GitHub, built environments, etc. </a:t>
            </a:r>
          </a:p>
          <a:p>
            <a:r>
              <a:rPr lang="en-US" dirty="0"/>
              <a:t>Activate environment</a:t>
            </a:r>
          </a:p>
          <a:p>
            <a:pPr lvl="1"/>
            <a:r>
              <a:rPr lang="en-US" b="1" dirty="0" err="1"/>
              <a:t>conda</a:t>
            </a:r>
            <a:r>
              <a:rPr lang="en-US" b="1" dirty="0"/>
              <a:t> activate &lt;</a:t>
            </a:r>
            <a:r>
              <a:rPr lang="en-US" b="1" dirty="0" err="1"/>
              <a:t>env_name</a:t>
            </a:r>
            <a:r>
              <a:rPr lang="en-US" b="1" dirty="0"/>
              <a:t>&gt;</a:t>
            </a:r>
          </a:p>
          <a:p>
            <a:pPr lvl="1"/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CFE45-2485-F8A2-811F-9E238AA4F508}"/>
              </a:ext>
            </a:extLst>
          </p:cNvPr>
          <p:cNvSpPr txBox="1"/>
          <p:nvPr/>
        </p:nvSpPr>
        <p:spPr>
          <a:xfrm>
            <a:off x="6537862" y="3959054"/>
            <a:ext cx="50941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Common mistake:</a:t>
            </a:r>
          </a:p>
          <a:p>
            <a:r>
              <a:rPr lang="en-US" dirty="0">
                <a:solidFill>
                  <a:srgbClr val="FF0000"/>
                </a:solidFill>
              </a:rPr>
              <a:t>Job fails in SLURM because the environment was not activated in the job script</a:t>
            </a:r>
          </a:p>
        </p:txBody>
      </p:sp>
    </p:spTree>
    <p:extLst>
      <p:ext uri="{BB962C8B-B14F-4D97-AF65-F5344CB8AC3E}">
        <p14:creationId xmlns:p14="http://schemas.microsoft.com/office/powerpoint/2010/main" val="1508542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B0AE24-260D-A6D1-190C-3A8E0F8B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via SLURM, Check Queue, Canceling Jobs.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B0A1D79-F900-8D16-40CD-CE535466B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 a job to </a:t>
            </a:r>
            <a:r>
              <a:rPr lang="en-US" dirty="0" err="1"/>
              <a:t>slurm</a:t>
            </a:r>
            <a:endParaRPr lang="en-US" dirty="0"/>
          </a:p>
          <a:p>
            <a:pPr lvl="1"/>
            <a:r>
              <a:rPr lang="en-US" b="1" dirty="0" err="1"/>
              <a:t>sbatch</a:t>
            </a:r>
            <a:r>
              <a:rPr lang="en-US" b="1" dirty="0"/>
              <a:t> </a:t>
            </a:r>
            <a:r>
              <a:rPr lang="en-US" b="1" dirty="0" err="1"/>
              <a:t>job.sh</a:t>
            </a:r>
            <a:r>
              <a:rPr lang="en-US" b="1" dirty="0"/>
              <a:t> </a:t>
            </a:r>
            <a:r>
              <a:rPr lang="en-US" dirty="0"/>
              <a:t>      Expected output: Submitted batch job 123456</a:t>
            </a:r>
          </a:p>
          <a:p>
            <a:r>
              <a:rPr lang="en-US" dirty="0"/>
              <a:t>Check jobs</a:t>
            </a:r>
          </a:p>
          <a:p>
            <a:pPr lvl="1"/>
            <a:r>
              <a:rPr lang="en-US" b="1" dirty="0" err="1"/>
              <a:t>squeue</a:t>
            </a:r>
            <a:r>
              <a:rPr lang="en-US" b="1" dirty="0"/>
              <a:t> -u &lt;</a:t>
            </a:r>
            <a:r>
              <a:rPr lang="en-US" b="1" dirty="0" err="1"/>
              <a:t>UserID</a:t>
            </a:r>
            <a:r>
              <a:rPr lang="en-US" b="1" dirty="0"/>
              <a:t>&gt;</a:t>
            </a:r>
          </a:p>
          <a:p>
            <a:r>
              <a:rPr lang="en-US" dirty="0"/>
              <a:t>Canceling Jobs</a:t>
            </a:r>
          </a:p>
          <a:p>
            <a:pPr lvl="1"/>
            <a:r>
              <a:rPr lang="en-US" b="1" dirty="0" err="1"/>
              <a:t>scancel</a:t>
            </a:r>
            <a:r>
              <a:rPr lang="en-US" b="1" dirty="0"/>
              <a:t> &lt;</a:t>
            </a:r>
            <a:r>
              <a:rPr lang="en-US" b="1" dirty="0" err="1"/>
              <a:t>jobID</a:t>
            </a:r>
            <a:r>
              <a:rPr lang="en-US" b="1" dirty="0"/>
              <a:t>&gt;</a:t>
            </a:r>
          </a:p>
          <a:p>
            <a:pPr lvl="1"/>
            <a:r>
              <a:rPr lang="en-US" b="1" dirty="0" err="1"/>
              <a:t>scancel</a:t>
            </a:r>
            <a:r>
              <a:rPr lang="en-US" b="1" dirty="0"/>
              <a:t> –u  &lt;</a:t>
            </a:r>
            <a:r>
              <a:rPr lang="en-US" b="1" dirty="0" err="1"/>
              <a:t>UserID</a:t>
            </a:r>
            <a:r>
              <a:rPr lang="en-US" b="1" dirty="0"/>
              <a:t>&gt;</a:t>
            </a:r>
          </a:p>
          <a:p>
            <a:r>
              <a:rPr lang="en-US" dirty="0"/>
              <a:t>Checking finished jobs</a:t>
            </a:r>
          </a:p>
          <a:p>
            <a:pPr lvl="1"/>
            <a:r>
              <a:rPr lang="en-US" b="1" dirty="0" err="1"/>
              <a:t>sacct</a:t>
            </a:r>
            <a:r>
              <a:rPr lang="en-US" b="1" dirty="0"/>
              <a:t> -j </a:t>
            </a:r>
            <a:r>
              <a:rPr lang="en-US" b="1" dirty="0" err="1"/>
              <a:t>jobid</a:t>
            </a:r>
            <a:r>
              <a:rPr lang="en-US" b="1" dirty="0"/>
              <a:t> --format=</a:t>
            </a:r>
            <a:r>
              <a:rPr lang="en-US" b="1" dirty="0" err="1"/>
              <a:t>JobID,JobName,State,Elapsed,MaxRSS,ExitCode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9382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A5681F-3389-C5F0-6783-4CBC42F1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Look at a Researcher’s Directories</a:t>
            </a:r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936FC526-DE49-F043-0B4B-DE19C8CC5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5708" y="182882"/>
            <a:ext cx="6442365" cy="6442365"/>
          </a:xfrm>
          <a:prstGeom prst="rect">
            <a:avLst/>
          </a:prstGeom>
        </p:spPr>
      </p:pic>
      <p:pic>
        <p:nvPicPr>
          <p:cNvPr id="7" name="Graphic 6" descr="Folder with solid fill">
            <a:extLst>
              <a:ext uri="{FF2B5EF4-FFF2-40B4-BE49-F238E27FC236}">
                <a16:creationId xmlns:a16="http://schemas.microsoft.com/office/drawing/2014/main" id="{5BA7CA45-0517-F3FB-B01A-0C134D8E56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5018" y="1891145"/>
            <a:ext cx="710254" cy="710254"/>
          </a:xfrm>
          <a:prstGeom prst="rect">
            <a:avLst/>
          </a:prstGeom>
        </p:spPr>
      </p:pic>
      <p:pic>
        <p:nvPicPr>
          <p:cNvPr id="8" name="Graphic 7" descr="Folder with solid fill">
            <a:extLst>
              <a:ext uri="{FF2B5EF4-FFF2-40B4-BE49-F238E27FC236}">
                <a16:creationId xmlns:a16="http://schemas.microsoft.com/office/drawing/2014/main" id="{432E98CF-B8B0-530F-723B-F49652F34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2545" y="2383398"/>
            <a:ext cx="710254" cy="710254"/>
          </a:xfrm>
          <a:prstGeom prst="rect">
            <a:avLst/>
          </a:prstGeom>
        </p:spPr>
      </p:pic>
      <p:pic>
        <p:nvPicPr>
          <p:cNvPr id="9" name="Graphic 8" descr="Folder with solid fill">
            <a:extLst>
              <a:ext uri="{FF2B5EF4-FFF2-40B4-BE49-F238E27FC236}">
                <a16:creationId xmlns:a16="http://schemas.microsoft.com/office/drawing/2014/main" id="{B0F5BF38-74B8-3A8B-B16D-5FDA787D6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2545" y="2906199"/>
            <a:ext cx="710254" cy="710254"/>
          </a:xfrm>
          <a:prstGeom prst="rect">
            <a:avLst/>
          </a:prstGeom>
        </p:spPr>
      </p:pic>
      <p:pic>
        <p:nvPicPr>
          <p:cNvPr id="10" name="Graphic 9" descr="Folder with solid fill">
            <a:extLst>
              <a:ext uri="{FF2B5EF4-FFF2-40B4-BE49-F238E27FC236}">
                <a16:creationId xmlns:a16="http://schemas.microsoft.com/office/drawing/2014/main" id="{B21B79E7-FB27-F021-C1AB-4F7B4B31D1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636" y="3261326"/>
            <a:ext cx="710254" cy="710254"/>
          </a:xfrm>
          <a:prstGeom prst="rect">
            <a:avLst/>
          </a:prstGeom>
        </p:spPr>
      </p:pic>
      <p:pic>
        <p:nvPicPr>
          <p:cNvPr id="11" name="Graphic 10" descr="Folder with solid fill">
            <a:extLst>
              <a:ext uri="{FF2B5EF4-FFF2-40B4-BE49-F238E27FC236}">
                <a16:creationId xmlns:a16="http://schemas.microsoft.com/office/drawing/2014/main" id="{9285C067-EE2C-07B8-D6D8-C759DB711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8009" y="3261326"/>
            <a:ext cx="710254" cy="710254"/>
          </a:xfrm>
          <a:prstGeom prst="rect">
            <a:avLst/>
          </a:prstGeom>
        </p:spPr>
      </p:pic>
      <p:pic>
        <p:nvPicPr>
          <p:cNvPr id="12" name="Graphic 11" descr="Folder with solid fill">
            <a:extLst>
              <a:ext uri="{FF2B5EF4-FFF2-40B4-BE49-F238E27FC236}">
                <a16:creationId xmlns:a16="http://schemas.microsoft.com/office/drawing/2014/main" id="{FBF62C23-47DB-6293-9428-2232267F6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0981" y="3261326"/>
            <a:ext cx="710254" cy="710254"/>
          </a:xfrm>
          <a:prstGeom prst="rect">
            <a:avLst/>
          </a:prstGeom>
        </p:spPr>
      </p:pic>
      <p:pic>
        <p:nvPicPr>
          <p:cNvPr id="13" name="Graphic 12" descr="Folder with solid fill">
            <a:extLst>
              <a:ext uri="{FF2B5EF4-FFF2-40B4-BE49-F238E27FC236}">
                <a16:creationId xmlns:a16="http://schemas.microsoft.com/office/drawing/2014/main" id="{5125003F-2241-E0ED-D492-0A0CADD82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9718" y="2551072"/>
            <a:ext cx="710254" cy="710254"/>
          </a:xfrm>
          <a:prstGeom prst="rect">
            <a:avLst/>
          </a:prstGeom>
        </p:spPr>
      </p:pic>
      <p:pic>
        <p:nvPicPr>
          <p:cNvPr id="14" name="Graphic 13" descr="Folder with solid fill">
            <a:extLst>
              <a:ext uri="{FF2B5EF4-FFF2-40B4-BE49-F238E27FC236}">
                <a16:creationId xmlns:a16="http://schemas.microsoft.com/office/drawing/2014/main" id="{4E36CFF5-BEF9-16F6-F0A1-2DEB87E0B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5954" y="2551072"/>
            <a:ext cx="710254" cy="710254"/>
          </a:xfrm>
          <a:prstGeom prst="rect">
            <a:avLst/>
          </a:prstGeom>
        </p:spPr>
      </p:pic>
      <p:pic>
        <p:nvPicPr>
          <p:cNvPr id="15" name="Graphic 14" descr="Folder with solid fill">
            <a:extLst>
              <a:ext uri="{FF2B5EF4-FFF2-40B4-BE49-F238E27FC236}">
                <a16:creationId xmlns:a16="http://schemas.microsoft.com/office/drawing/2014/main" id="{7D06D2AF-327D-ED1D-4ADE-92E4B7A8E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0981" y="2551072"/>
            <a:ext cx="710254" cy="710254"/>
          </a:xfrm>
          <a:prstGeom prst="rect">
            <a:avLst/>
          </a:prstGeom>
        </p:spPr>
      </p:pic>
      <p:pic>
        <p:nvPicPr>
          <p:cNvPr id="16" name="Graphic 15" descr="Folder with solid fill">
            <a:extLst>
              <a:ext uri="{FF2B5EF4-FFF2-40B4-BE49-F238E27FC236}">
                <a16:creationId xmlns:a16="http://schemas.microsoft.com/office/drawing/2014/main" id="{F66C6E26-0F8F-2043-74C0-9E90CE11A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9363" y="2551072"/>
            <a:ext cx="710254" cy="71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65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1030AA-69F1-A32A-B663-B3F19F9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work directory:</a:t>
            </a:r>
          </a:p>
          <a:p>
            <a:pPr lvl="1"/>
            <a:r>
              <a:rPr lang="en-US" dirty="0"/>
              <a:t>Create a folder called </a:t>
            </a:r>
            <a:r>
              <a:rPr lang="en-US" dirty="0" err="1"/>
              <a:t>cluster_practice</a:t>
            </a:r>
            <a:r>
              <a:rPr lang="en-US" dirty="0"/>
              <a:t> and move into it</a:t>
            </a:r>
          </a:p>
          <a:p>
            <a:pPr lvl="1"/>
            <a:r>
              <a:rPr lang="en-US" dirty="0"/>
              <a:t>Create a file called </a:t>
            </a:r>
            <a:r>
              <a:rPr lang="en-US" dirty="0" err="1"/>
              <a:t>hello.sh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Add this script: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echo "Hello from the Cluster"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hostname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date</a:t>
            </a:r>
          </a:p>
          <a:p>
            <a:pPr marL="457200" lvl="1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Check the file contents, make it executable (</a:t>
            </a:r>
            <a:r>
              <a:rPr lang="en-US" dirty="0" err="1"/>
              <a:t>chmod</a:t>
            </a:r>
            <a:r>
              <a:rPr lang="en-US" dirty="0"/>
              <a:t> +x </a:t>
            </a:r>
            <a:r>
              <a:rPr lang="en-US" dirty="0" err="1"/>
              <a:t>hello.sh</a:t>
            </a:r>
            <a:r>
              <a:rPr lang="en-US" dirty="0"/>
              <a:t>), then try to run it. (./</a:t>
            </a:r>
            <a:r>
              <a:rPr lang="en-US" dirty="0" err="1"/>
              <a:t>hello.sh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Bonus: Turn it into a SLURM script at submit it that way. View the output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DDCA2-BD18-9016-E0CE-6483ADCF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This!</a:t>
            </a:r>
          </a:p>
        </p:txBody>
      </p:sp>
    </p:spTree>
    <p:extLst>
      <p:ext uri="{BB962C8B-B14F-4D97-AF65-F5344CB8AC3E}">
        <p14:creationId xmlns:p14="http://schemas.microsoft.com/office/powerpoint/2010/main" val="2956815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Logo, company name&#10;&#10;Description automatically generated">
            <a:extLst>
              <a:ext uri="{FF2B5EF4-FFF2-40B4-BE49-F238E27FC236}">
                <a16:creationId xmlns:a16="http://schemas.microsoft.com/office/drawing/2014/main" id="{F47D5480-B9B8-4845-E2B1-1403AEBD4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9"/>
          <a:stretch/>
        </p:blipFill>
        <p:spPr>
          <a:xfrm>
            <a:off x="3050550" y="0"/>
            <a:ext cx="6090900" cy="6139543"/>
          </a:xfrm>
        </p:spPr>
      </p:pic>
    </p:spTree>
    <p:extLst>
      <p:ext uri="{BB962C8B-B14F-4D97-AF65-F5344CB8AC3E}">
        <p14:creationId xmlns:p14="http://schemas.microsoft.com/office/powerpoint/2010/main" val="388475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1308</Words>
  <Application>Microsoft Macintosh PowerPoint</Application>
  <PresentationFormat>Widescreen</PresentationFormat>
  <Paragraphs>254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Presentation</vt:lpstr>
      <vt:lpstr>What is a Cluster?</vt:lpstr>
      <vt:lpstr>Local vs. Cluster Nodes</vt:lpstr>
      <vt:lpstr>Cluster: Home vs. Work Directories</vt:lpstr>
      <vt:lpstr>Before Login</vt:lpstr>
      <vt:lpstr>Nova OnDemand</vt:lpstr>
      <vt:lpstr>Nova OnDemand</vt:lpstr>
      <vt:lpstr>VPN to IASTATE via Cisco AnyConnect</vt:lpstr>
      <vt:lpstr>1. Logging in MacOS</vt:lpstr>
      <vt:lpstr>1. Logging in WindowOS</vt:lpstr>
      <vt:lpstr>Overview: Running a Calculation</vt:lpstr>
      <vt:lpstr>Command Line Basics</vt:lpstr>
      <vt:lpstr>Paths: Setting Up Your Work Directory</vt:lpstr>
      <vt:lpstr>Making Directories, Moving Files</vt:lpstr>
      <vt:lpstr>Moving Files Continued: From local to cluster and back</vt:lpstr>
      <vt:lpstr>scp vs rsync file transfer</vt:lpstr>
      <vt:lpstr>Search/View File Contents</vt:lpstr>
      <vt:lpstr>vi Editor</vt:lpstr>
      <vt:lpstr>SLURM Job Scheduler</vt:lpstr>
      <vt:lpstr>Job Script</vt:lpstr>
      <vt:lpstr>Modules and Environments</vt:lpstr>
      <vt:lpstr>Submit via SLURM, Check Queue, Canceling Jobs.</vt:lpstr>
      <vt:lpstr>Have a Look at a Researcher’s Directories</vt:lpstr>
      <vt:lpstr>Try This!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Schwartz, Adam [A LAB]</dc:creator>
  <cp:lastModifiedBy>Curtin, Gregory [A LAB]</cp:lastModifiedBy>
  <cp:revision>1040</cp:revision>
  <cp:lastPrinted>2025-07-09T16:38:33Z</cp:lastPrinted>
  <dcterms:created xsi:type="dcterms:W3CDTF">2024-11-15T17:02:57Z</dcterms:created>
  <dcterms:modified xsi:type="dcterms:W3CDTF">2026-06-04T15:47:54Z</dcterms:modified>
</cp:coreProperties>
</file>