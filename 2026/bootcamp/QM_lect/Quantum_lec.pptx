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29"/>
  </p:notesMasterIdLst>
  <p:sldIdLst>
    <p:sldId id="257" r:id="rId2"/>
    <p:sldId id="3173" r:id="rId3"/>
    <p:sldId id="3174" r:id="rId4"/>
    <p:sldId id="3198" r:id="rId5"/>
    <p:sldId id="3199" r:id="rId6"/>
    <p:sldId id="3200" r:id="rId7"/>
    <p:sldId id="3175" r:id="rId8"/>
    <p:sldId id="3176" r:id="rId9"/>
    <p:sldId id="3177" r:id="rId10"/>
    <p:sldId id="3181" r:id="rId11"/>
    <p:sldId id="3190" r:id="rId12"/>
    <p:sldId id="3185" r:id="rId13"/>
    <p:sldId id="3183" r:id="rId14"/>
    <p:sldId id="3184" r:id="rId15"/>
    <p:sldId id="3197" r:id="rId16"/>
    <p:sldId id="3178" r:id="rId17"/>
    <p:sldId id="3180" r:id="rId18"/>
    <p:sldId id="3179" r:id="rId19"/>
    <p:sldId id="3189" r:id="rId20"/>
    <p:sldId id="3191" r:id="rId21"/>
    <p:sldId id="3192" r:id="rId22"/>
    <p:sldId id="3196" r:id="rId23"/>
    <p:sldId id="3186" r:id="rId24"/>
    <p:sldId id="3187" r:id="rId25"/>
    <p:sldId id="3201" r:id="rId26"/>
    <p:sldId id="3188" r:id="rId27"/>
    <p:sldId id="3117" r:id="rId2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C2CC56-948B-CB6A-0B97-281ECC37BF6A}" name="Prozorov, Tanya [A LAB]" initials="PL" userId="vZACtO9GwNukAiz7awD2VP1nNYaQWhyCPxgCWq0WdR4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156082"/>
    <a:srgbClr val="033540"/>
    <a:srgbClr val="063843"/>
    <a:srgbClr val="032C36"/>
    <a:srgbClr val="032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12"/>
    <p:restoredTop sz="94759"/>
  </p:normalViewPr>
  <p:slideViewPr>
    <p:cSldViewPr snapToGrid="0">
      <p:cViewPr varScale="1">
        <p:scale>
          <a:sx n="116" d="100"/>
          <a:sy n="116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919B51E-4469-4E47-8366-68D04A300423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89C18CD-7935-BA43-AE3B-7EEACC2C4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4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701675"/>
            <a:ext cx="6261100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65887">
              <a:defRPr/>
            </a:pPr>
            <a:fld id="{54F66FB8-99B1-3E44-80C3-4E78C4312A31}" type="slidenum">
              <a:rPr lang="en-US" sz="1100">
                <a:solidFill>
                  <a:prstClr val="black"/>
                </a:solidFill>
                <a:latin typeface="Calibri"/>
              </a:rPr>
              <a:pPr defTabSz="465887">
                <a:defRPr/>
              </a:pPr>
              <a:t>1</a:t>
            </a:fld>
            <a:endParaRPr lang="en-US" sz="11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5265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C18CD-7935-BA43-AE3B-7EEACC2C449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85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66FB8-99B1-3E44-80C3-4E78C4312A3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0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C4B3-E85D-CD20-56DB-F216F51DA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C66C1-0135-13C3-B9AF-AA13F2121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9F494-92D1-8C7E-1685-E2A9023E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05D8E7-B2F0-AC4E-9D55-F8F5C8FDAB8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B640A-5D68-26C8-8348-6BA24F9F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5A82C-7B9F-7893-FA98-8D3C36DB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67B243-965E-DF46-87B2-6D8F01E6E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2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862" y="1371600"/>
            <a:ext cx="11338556" cy="48404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0165" y="182882"/>
            <a:ext cx="11281852" cy="710254"/>
          </a:xfrm>
          <a:prstGeom prst="rect">
            <a:avLst/>
          </a:prstGeom>
        </p:spPr>
        <p:txBody>
          <a:bodyPr vert="horz"/>
          <a:lstStyle>
            <a:lvl1pPr algn="l">
              <a:defRPr lang="en-US" sz="3200" b="1" kern="1200" dirty="0">
                <a:solidFill>
                  <a:srgbClr val="17375E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3979" y="6617399"/>
            <a:ext cx="5959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E7E35AA-12E7-46C8-AA84-143DFF5694C1}" type="slidenum">
              <a:rPr lang="en-US" sz="1100" i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pPr algn="r"/>
              <a:t>‹#›</a:t>
            </a:fld>
            <a:endParaRPr lang="en-US" sz="1100" i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0D87E8-D302-1E49-BCAD-BE52BC9E6D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3309" y="6575954"/>
            <a:ext cx="1746481" cy="232172"/>
          </a:xfrm>
          <a:prstGeom prst="rect">
            <a:avLst/>
          </a:prstGeom>
        </p:spPr>
      </p:pic>
      <p:pic>
        <p:nvPicPr>
          <p:cNvPr id="2" name="Picture 1" descr="Logo_AL_Tag_DOE Horiz.tif">
            <a:extLst>
              <a:ext uri="{FF2B5EF4-FFF2-40B4-BE49-F238E27FC236}">
                <a16:creationId xmlns:a16="http://schemas.microsoft.com/office/drawing/2014/main" id="{3007B8EB-5457-5F99-991A-8B5F82C1D1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227" y="6457514"/>
            <a:ext cx="474240" cy="353709"/>
          </a:xfrm>
          <a:prstGeom prst="rect">
            <a:avLst/>
          </a:prstGeom>
        </p:spPr>
      </p:pic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DA3C6547-7E03-F91C-DA24-6073272A1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3" b="24182"/>
          <a:stretch/>
        </p:blipFill>
        <p:spPr>
          <a:xfrm>
            <a:off x="580312" y="6467760"/>
            <a:ext cx="1045896" cy="35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8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0F4E0-9E5D-284D-84D1-046A01AD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3F057-965C-691F-2E7C-6786DC3E7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BA250-FF22-C1F4-59E4-A1A4158C5A37}"/>
              </a:ext>
            </a:extLst>
          </p:cNvPr>
          <p:cNvSpPr txBox="1"/>
          <p:nvPr userDrawn="1"/>
        </p:nvSpPr>
        <p:spPr>
          <a:xfrm>
            <a:off x="11633979" y="6617399"/>
            <a:ext cx="5959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E7E35AA-12E7-46C8-AA84-143DFF5694C1}" type="slidenum">
              <a:rPr lang="en-US" sz="1100" i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pPr algn="r"/>
              <a:t>‹#›</a:t>
            </a:fld>
            <a:endParaRPr lang="en-US" sz="1100" i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CDCABA-2C63-8721-1570-C2F2644E59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309" y="6575954"/>
            <a:ext cx="1746481" cy="232172"/>
          </a:xfrm>
          <a:prstGeom prst="rect">
            <a:avLst/>
          </a:prstGeom>
        </p:spPr>
      </p:pic>
      <p:pic>
        <p:nvPicPr>
          <p:cNvPr id="9" name="Picture 8" descr="Logo_AL_Tag_DOE Horiz.tif">
            <a:extLst>
              <a:ext uri="{FF2B5EF4-FFF2-40B4-BE49-F238E27FC236}">
                <a16:creationId xmlns:a16="http://schemas.microsoft.com/office/drawing/2014/main" id="{5E1AE788-DFF1-A3C8-712A-1EA4B1FDF06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227" y="6457514"/>
            <a:ext cx="474240" cy="353709"/>
          </a:xfrm>
          <a:prstGeom prst="rect">
            <a:avLst/>
          </a:prstGeom>
        </p:spPr>
      </p:pic>
      <p:pic>
        <p:nvPicPr>
          <p:cNvPr id="10" name="Picture 9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32B484E-7029-C92E-669B-72B245DAE0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3" b="24182"/>
          <a:stretch/>
        </p:blipFill>
        <p:spPr>
          <a:xfrm>
            <a:off x="580312" y="6467760"/>
            <a:ext cx="1045896" cy="359107"/>
          </a:xfrm>
          <a:prstGeom prst="rect">
            <a:avLst/>
          </a:prstGeom>
        </p:spPr>
      </p:pic>
      <p:pic>
        <p:nvPicPr>
          <p:cNvPr id="5" name="Picture 4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489F6B82-A507-BB97-3F61-B4E77FC940B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196955" y="6212137"/>
            <a:ext cx="379809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6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dirty="0">
          <a:solidFill>
            <a:schemeClr val="tx2"/>
          </a:solidFill>
          <a:effectLst/>
          <a:latin typeface="+mn-lt"/>
          <a:ea typeface="+mn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d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msg.chem.iastate.edu/gamess/GAMESS_Manual/docs-input.t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nwchemgit.github.io/Sample.html#job-1-single-point-scf-energ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0" descr="Thumbnail Image A gray tone abstract background suitable for a scientific presentation slide. The design should subtly evoke themes of chemical separations, heterogeneous catalysis, and computational chemistry. Include abstract molecular structures, catalyst surfaces, and digital or grid-like patterns to represent computation. The overall tone should be professional, clean, and not distracting, with a white-to-gray gradient and soft textures. No words, no symbols, and no logos.">
            <a:extLst>
              <a:ext uri="{FF2B5EF4-FFF2-40B4-BE49-F238E27FC236}">
                <a16:creationId xmlns:a16="http://schemas.microsoft.com/office/drawing/2014/main" id="{5B471530-9FD4-F0BE-DD24-F2909F7737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/>
          <a:stretch/>
        </p:blipFill>
        <p:spPr bwMode="auto">
          <a:xfrm flipH="1">
            <a:off x="6586990" y="14514"/>
            <a:ext cx="5686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FFB0B8C-26EB-7D4E-8D4C-BB0566967870}"/>
              </a:ext>
            </a:extLst>
          </p:cNvPr>
          <p:cNvSpPr txBox="1">
            <a:spLocks/>
          </p:cNvSpPr>
          <p:nvPr/>
        </p:nvSpPr>
        <p:spPr>
          <a:xfrm>
            <a:off x="-1432192" y="2817947"/>
            <a:ext cx="9406468" cy="2666265"/>
          </a:xfrm>
          <a:prstGeom prst="rect">
            <a:avLst/>
          </a:prstGeom>
          <a:effectLst/>
        </p:spPr>
        <p:txBody>
          <a:bodyPr lIns="121920" tIns="60960" rIns="121920" bIns="60960" anchor="t"/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8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defRPr/>
            </a:pPr>
            <a:r>
              <a:rPr lang="en-US" b="1" dirty="0">
                <a:solidFill>
                  <a:srgbClr val="1F497D">
                    <a:lumMod val="75000"/>
                  </a:srgbClr>
                </a:solidFill>
                <a:effectLst>
                  <a:outerShdw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Quantum Chemistry</a:t>
            </a:r>
          </a:p>
          <a:p>
            <a:pPr algn="ctr">
              <a:spcBef>
                <a:spcPts val="300"/>
              </a:spcBef>
              <a:defRPr/>
            </a:pPr>
            <a:r>
              <a:rPr lang="en-US" b="1" dirty="0">
                <a:solidFill>
                  <a:srgbClr val="1F497D">
                    <a:lumMod val="75000"/>
                  </a:srgbClr>
                </a:solidFill>
                <a:effectLst>
                  <a:outerShdw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06/05/2026</a:t>
            </a:r>
          </a:p>
        </p:txBody>
      </p:sp>
      <p:pic>
        <p:nvPicPr>
          <p:cNvPr id="16" name="Picture 15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3BB5309-A7AF-7D49-285F-7D89FDFA2B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233" y="4426227"/>
            <a:ext cx="2213768" cy="63747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3B4549-CAF3-E28D-8BDC-6FC73073D16B}"/>
              </a:ext>
            </a:extLst>
          </p:cNvPr>
          <p:cNvCxnSpPr>
            <a:cxnSpLocks/>
          </p:cNvCxnSpPr>
          <p:nvPr/>
        </p:nvCxnSpPr>
        <p:spPr>
          <a:xfrm>
            <a:off x="9105683" y="4426227"/>
            <a:ext cx="0" cy="211597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470E21E9-FF44-939A-7DEC-C078A494A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665" y="5305096"/>
            <a:ext cx="2368339" cy="68026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7DCACD8-B053-4AE2-EA71-319D56959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4814" y="6277007"/>
            <a:ext cx="2650684" cy="20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0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84EE5C-2E6D-59F9-6655-655AE6A5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2" y="1008789"/>
            <a:ext cx="11338556" cy="4840421"/>
          </a:xfrm>
        </p:spPr>
        <p:txBody>
          <a:bodyPr/>
          <a:lstStyle/>
          <a:p>
            <a:r>
              <a:rPr lang="en-US" dirty="0"/>
              <a:t>Branch of chemistry using computer simulations/mathematical algorithms</a:t>
            </a:r>
          </a:p>
          <a:p>
            <a:r>
              <a:rPr lang="en-US" dirty="0"/>
              <a:t>Calculation of molecular structure, energies, reaction pathways, etc.</a:t>
            </a:r>
          </a:p>
          <a:p>
            <a:endParaRPr lang="en-US" dirty="0"/>
          </a:p>
          <a:p>
            <a:r>
              <a:rPr lang="en-US" dirty="0"/>
              <a:t>Every calculation is a model</a:t>
            </a:r>
          </a:p>
          <a:p>
            <a:pPr lvl="1"/>
            <a:r>
              <a:rPr lang="en-US" dirty="0"/>
              <a:t>Every model has assumptions</a:t>
            </a:r>
          </a:p>
          <a:p>
            <a:pPr lvl="2"/>
            <a:r>
              <a:rPr lang="en-US" dirty="0"/>
              <a:t>Structure, charge, multiplicity, method, basis-set, solvent, temperature, etc. </a:t>
            </a:r>
          </a:p>
          <a:p>
            <a:pPr lvl="2"/>
            <a:endParaRPr lang="en-US" dirty="0"/>
          </a:p>
          <a:p>
            <a:r>
              <a:rPr lang="en-US" b="1" dirty="0"/>
              <a:t>Goal of lecture: </a:t>
            </a:r>
          </a:p>
          <a:p>
            <a:pPr lvl="1"/>
            <a:r>
              <a:rPr lang="en-US" b="1" dirty="0"/>
              <a:t>Give students a baseline understanding of quantum mechanics calculations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D8D49-A737-67CF-A5D0-A105A22C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Computational Chemistry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FC7DB6-6E71-F012-8676-B2DC7445FE05}"/>
              </a:ext>
            </a:extLst>
          </p:cNvPr>
          <p:cNvGrpSpPr/>
          <p:nvPr/>
        </p:nvGrpSpPr>
        <p:grpSpPr>
          <a:xfrm>
            <a:off x="4844143" y="4267201"/>
            <a:ext cx="2503713" cy="2503713"/>
            <a:chOff x="4554177" y="4354287"/>
            <a:chExt cx="2503713" cy="2503713"/>
          </a:xfrm>
        </p:grpSpPr>
        <p:pic>
          <p:nvPicPr>
            <p:cNvPr id="5" name="Graphic 4" descr="Atom with solid fill">
              <a:extLst>
                <a:ext uri="{FF2B5EF4-FFF2-40B4-BE49-F238E27FC236}">
                  <a16:creationId xmlns:a16="http://schemas.microsoft.com/office/drawing/2014/main" id="{2EC1F0FF-947F-FC5E-BD5D-DB83CA6DAE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48834" y="5050463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Laptop with solid fill">
              <a:extLst>
                <a:ext uri="{FF2B5EF4-FFF2-40B4-BE49-F238E27FC236}">
                  <a16:creationId xmlns:a16="http://schemas.microsoft.com/office/drawing/2014/main" id="{85A9ADC3-D43F-FE18-E92A-53EAB73A73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4177" y="4354287"/>
              <a:ext cx="2503713" cy="25037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7840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F39E2E-6EE1-9DB8-CD01-9F826C8BF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953" y="1008789"/>
            <a:ext cx="5654138" cy="484042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Modeling Methods:</a:t>
            </a:r>
          </a:p>
          <a:p>
            <a:pPr lvl="1"/>
            <a:r>
              <a:rPr lang="en-US" b="1" dirty="0"/>
              <a:t>Cheminformatics:</a:t>
            </a:r>
          </a:p>
          <a:p>
            <a:pPr lvl="2"/>
            <a:r>
              <a:rPr lang="en-US" dirty="0"/>
              <a:t>Molecular Graphs, descriptors, databases</a:t>
            </a:r>
          </a:p>
          <a:p>
            <a:pPr lvl="2"/>
            <a:r>
              <a:rPr lang="en-US" dirty="0"/>
              <a:t>Quick screening of molecules 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Molecular Mechanics/Dynamics:</a:t>
            </a:r>
          </a:p>
          <a:p>
            <a:pPr lvl="2"/>
            <a:r>
              <a:rPr lang="en-US" dirty="0"/>
              <a:t>Ball-and-spring model</a:t>
            </a:r>
          </a:p>
          <a:p>
            <a:pPr lvl="2"/>
            <a:r>
              <a:rPr lang="en-US" dirty="0"/>
              <a:t>For large systems</a:t>
            </a:r>
          </a:p>
          <a:p>
            <a:pPr lvl="2"/>
            <a:r>
              <a:rPr lang="en-US" dirty="0"/>
              <a:t>Cannot describe electronic structure</a:t>
            </a:r>
          </a:p>
          <a:p>
            <a:pPr lvl="3"/>
            <a:r>
              <a:rPr lang="en-US" dirty="0"/>
              <a:t>Ex. Bond forming/breaking</a:t>
            </a:r>
          </a:p>
          <a:p>
            <a:pPr lvl="3"/>
            <a:endParaRPr lang="en-US" dirty="0"/>
          </a:p>
          <a:p>
            <a:pPr lvl="1"/>
            <a:r>
              <a:rPr lang="en-US" b="1" dirty="0"/>
              <a:t>Quantum Mechanics/Dynamics</a:t>
            </a:r>
          </a:p>
          <a:p>
            <a:pPr lvl="2"/>
            <a:r>
              <a:rPr lang="en-US" b="1" dirty="0"/>
              <a:t>Models electronic structure</a:t>
            </a:r>
          </a:p>
          <a:p>
            <a:pPr lvl="2"/>
            <a:r>
              <a:rPr lang="en-US" b="1" dirty="0"/>
              <a:t>Bonding, spectroscopy, reactions, charge transfer, etc.</a:t>
            </a:r>
          </a:p>
          <a:p>
            <a:pPr lvl="2"/>
            <a:r>
              <a:rPr lang="en-US" b="1" dirty="0"/>
              <a:t>More chemically detailed approximations</a:t>
            </a:r>
          </a:p>
          <a:p>
            <a:pPr lvl="2"/>
            <a:r>
              <a:rPr lang="en-US" b="1" dirty="0"/>
              <a:t>More expensive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4D930-F2D5-2527-27A9-5F9B8BDC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Options/Scaling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2ECEF-9FC7-6AE9-3CA3-353A3D543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11" y="1368997"/>
            <a:ext cx="5493338" cy="412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6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030E94-8F48-BA6B-EF4F-2E554104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Schrödinger's Equation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5D60D4-9DE4-427D-AAA3-86600B68E29E}"/>
                  </a:ext>
                </a:extLst>
              </p:cNvPr>
              <p:cNvSpPr txBox="1"/>
              <p:nvPr/>
            </p:nvSpPr>
            <p:spPr>
              <a:xfrm>
                <a:off x="4951595" y="893136"/>
                <a:ext cx="1998689" cy="569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5D60D4-9DE4-427D-AAA3-86600B68E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595" y="893136"/>
                <a:ext cx="1998689" cy="569067"/>
              </a:xfrm>
              <a:prstGeom prst="rect">
                <a:avLst/>
              </a:prstGeom>
              <a:blipFill>
                <a:blip r:embed="rId2"/>
                <a:stretch>
                  <a:fillRect l="-4403" t="-17391" r="-754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CE2685-22A0-0A61-37FB-ABF75FE58F2D}"/>
                  </a:ext>
                </a:extLst>
              </p:cNvPr>
              <p:cNvSpPr txBox="1"/>
              <p:nvPr/>
            </p:nvSpPr>
            <p:spPr>
              <a:xfrm>
                <a:off x="565529" y="1542835"/>
                <a:ext cx="10770823" cy="4843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800" dirty="0"/>
                  <a:t>: The wavefunction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Describes the electrons within the system</a:t>
                </a:r>
              </a:p>
              <a:p>
                <a:pPr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sz="2800" dirty="0"/>
                  <a:t>: Hamiltonian operator 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What forces and energy interactions exist within system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800" dirty="0"/>
                  <a:t>: Energy of the system</a:t>
                </a:r>
              </a:p>
              <a:p>
                <a:pPr/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Why a Wavefunction?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Wave-particle duality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No set path for an electron around a nuclei 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Wavefunction: 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Where the electrons are likely to be and what energy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CE2685-22A0-0A61-37FB-ABF75FE58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29" y="1542835"/>
                <a:ext cx="10770823" cy="4843634"/>
              </a:xfrm>
              <a:prstGeom prst="rect">
                <a:avLst/>
              </a:prstGeom>
              <a:blipFill>
                <a:blip r:embed="rId3"/>
                <a:stretch>
                  <a:fillRect l="-942" t="-1305" b="-2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80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EF8A18-A1DF-95F3-42E4-0CFE01DF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2BF45-6310-C919-7C04-EDA3EE8F4357}"/>
                  </a:ext>
                </a:extLst>
              </p:cNvPr>
              <p:cNvSpPr txBox="1"/>
              <p:nvPr/>
            </p:nvSpPr>
            <p:spPr>
              <a:xfrm>
                <a:off x="2993003" y="1182683"/>
                <a:ext cx="6205994" cy="569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𝑒𝑁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𝑁𝑁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2BF45-6310-C919-7C04-EDA3EE8F4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03" y="1182683"/>
                <a:ext cx="6205994" cy="569067"/>
              </a:xfrm>
              <a:prstGeom prst="rect">
                <a:avLst/>
              </a:prstGeom>
              <a:blipFill>
                <a:blip r:embed="rId2"/>
                <a:stretch>
                  <a:fillRect l="-1224" t="-20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98152E-A2BB-B159-4B74-A70039F814FA}"/>
                  </a:ext>
                </a:extLst>
              </p:cNvPr>
              <p:cNvSpPr txBox="1"/>
              <p:nvPr/>
            </p:nvSpPr>
            <p:spPr>
              <a:xfrm>
                <a:off x="798723" y="2041298"/>
                <a:ext cx="10833294" cy="2357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/>
                  <a:t>: Electron Kinetic Energy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/>
                  <a:t>: Nuclear Kinetic Energy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𝑒𝑁</m:t>
                        </m:r>
                      </m:sub>
                    </m:sSub>
                  </m:oMath>
                </a14:m>
                <a:r>
                  <a:rPr lang="en-US" sz="2400" dirty="0"/>
                  <a:t>: Electron-Nuclear Attraction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𝑒𝑒</m:t>
                        </m:r>
                      </m:sub>
                    </m:sSub>
                  </m:oMath>
                </a14:m>
                <a:r>
                  <a:rPr lang="en-US" sz="2400" dirty="0"/>
                  <a:t>: Electron-Electron Repulsion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𝑁𝑁</m:t>
                        </m:r>
                      </m:sub>
                    </m:sSub>
                  </m:oMath>
                </a14:m>
                <a:r>
                  <a:rPr lang="en-US" sz="2400" dirty="0"/>
                  <a:t>: Nucleus-Nucleus Repulsion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98152E-A2BB-B159-4B74-A70039F81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23" y="2041298"/>
                <a:ext cx="10833294" cy="2357697"/>
              </a:xfrm>
              <a:prstGeom prst="rect">
                <a:avLst/>
              </a:prstGeom>
              <a:blipFill>
                <a:blip r:embed="rId3"/>
                <a:stretch>
                  <a:fillRect l="-117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70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87BA-83D2-32E8-FF4C-B43A7B5E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D62091-191A-C615-3992-72CE7C14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Born-Oppenheimer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87685E-1664-D663-B107-93E72F517A9F}"/>
                  </a:ext>
                </a:extLst>
              </p:cNvPr>
              <p:cNvSpPr txBox="1"/>
              <p:nvPr/>
            </p:nvSpPr>
            <p:spPr>
              <a:xfrm>
                <a:off x="798723" y="2957654"/>
                <a:ext cx="10833294" cy="2357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/>
                  <a:t>: Electron Kinetic Energy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/>
                  <a:t>: Nuclear Kinetic Energy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𝑒𝑁</m:t>
                        </m:r>
                      </m:sub>
                    </m:sSub>
                  </m:oMath>
                </a14:m>
                <a:r>
                  <a:rPr lang="en-US" sz="2400" dirty="0"/>
                  <a:t>: Electron-Nuclear Attraction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𝑒𝑒</m:t>
                        </m:r>
                      </m:sub>
                    </m:sSub>
                  </m:oMath>
                </a14:m>
                <a:r>
                  <a:rPr lang="en-US" sz="2400" dirty="0"/>
                  <a:t>: Electron-Electron Repulsion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𝑁𝑁</m:t>
                        </m:r>
                      </m:sub>
                    </m:sSub>
                  </m:oMath>
                </a14:m>
                <a:r>
                  <a:rPr lang="en-US" sz="2400" dirty="0"/>
                  <a:t>: Nucleus-Nucleus Repulsion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87685E-1664-D663-B107-93E72F517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23" y="2957654"/>
                <a:ext cx="10833294" cy="2357697"/>
              </a:xfrm>
              <a:prstGeom prst="rect">
                <a:avLst/>
              </a:prstGeom>
              <a:blipFill>
                <a:blip r:embed="rId2"/>
                <a:stretch>
                  <a:fillRect l="-117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3D462E4-866D-E7E6-5D87-683A80E5DED6}"/>
              </a:ext>
            </a:extLst>
          </p:cNvPr>
          <p:cNvGrpSpPr/>
          <p:nvPr/>
        </p:nvGrpSpPr>
        <p:grpSpPr>
          <a:xfrm>
            <a:off x="2858181" y="1635667"/>
            <a:ext cx="6714377" cy="1321987"/>
            <a:chOff x="2993003" y="1660655"/>
            <a:chExt cx="6714377" cy="132198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56FFE20-F2D1-D3C1-B804-6F4AE56828D8}"/>
                    </a:ext>
                  </a:extLst>
                </p:cNvPr>
                <p:cNvSpPr txBox="1"/>
                <p:nvPr/>
              </p:nvSpPr>
              <p:spPr>
                <a:xfrm>
                  <a:off x="2993003" y="1767658"/>
                  <a:ext cx="6205994" cy="5690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𝑒𝑁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𝑒𝑒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𝑁𝑁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56FFE20-F2D1-D3C1-B804-6F4AE5682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03" y="1767658"/>
                  <a:ext cx="6205994" cy="569067"/>
                </a:xfrm>
                <a:prstGeom prst="rect">
                  <a:avLst/>
                </a:prstGeom>
                <a:blipFill>
                  <a:blip r:embed="rId3"/>
                  <a:stretch>
                    <a:fillRect l="-1431" t="-17778" r="-204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F22D3D-6001-D02C-84BC-B894BD3CA032}"/>
                </a:ext>
              </a:extLst>
            </p:cNvPr>
            <p:cNvCxnSpPr/>
            <p:nvPr/>
          </p:nvCxnSpPr>
          <p:spPr>
            <a:xfrm>
              <a:off x="4913523" y="1660655"/>
              <a:ext cx="572877" cy="782197"/>
            </a:xfrm>
            <a:prstGeom prst="line">
              <a:avLst/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8E37969-D54A-2F1D-905D-34B324F11537}"/>
                </a:ext>
              </a:extLst>
            </p:cNvPr>
            <p:cNvCxnSpPr/>
            <p:nvPr/>
          </p:nvCxnSpPr>
          <p:spPr>
            <a:xfrm>
              <a:off x="8423720" y="1706062"/>
              <a:ext cx="572877" cy="782197"/>
            </a:xfrm>
            <a:prstGeom prst="line">
              <a:avLst/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E57E6C-9BCD-0D67-50C4-D57A8C9F9CCF}"/>
                </a:ext>
              </a:extLst>
            </p:cNvPr>
            <p:cNvSpPr txBox="1"/>
            <p:nvPr/>
          </p:nvSpPr>
          <p:spPr>
            <a:xfrm>
              <a:off x="4913523" y="2377486"/>
              <a:ext cx="572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5D13A8B-61DE-FCBD-D74A-A4E6F51E7EDC}"/>
                </a:ext>
              </a:extLst>
            </p:cNvPr>
            <p:cNvSpPr txBox="1"/>
            <p:nvPr/>
          </p:nvSpPr>
          <p:spPr>
            <a:xfrm>
              <a:off x="7622995" y="2397867"/>
              <a:ext cx="20843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Constant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BB7473-5DC8-AD64-DBE8-CF1CA8AA49A4}"/>
                  </a:ext>
                </a:extLst>
              </p:cNvPr>
              <p:cNvSpPr txBox="1"/>
              <p:nvPr/>
            </p:nvSpPr>
            <p:spPr>
              <a:xfrm>
                <a:off x="4303308" y="5026779"/>
                <a:ext cx="3824124" cy="505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𝑒𝑙𝑒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𝑒𝑁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BB7473-5DC8-AD64-DBE8-CF1CA8AA4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308" y="5026779"/>
                <a:ext cx="3824124" cy="505844"/>
              </a:xfrm>
              <a:prstGeom prst="rect">
                <a:avLst/>
              </a:prstGeom>
              <a:blipFill>
                <a:blip r:embed="rId4"/>
                <a:stretch>
                  <a:fillRect l="-1987" t="-250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0AEA2A-94D3-8E57-CDEF-8183C6F05372}"/>
                  </a:ext>
                </a:extLst>
              </p:cNvPr>
              <p:cNvSpPr txBox="1"/>
              <p:nvPr/>
            </p:nvSpPr>
            <p:spPr>
              <a:xfrm>
                <a:off x="4361711" y="5683358"/>
                <a:ext cx="3468578" cy="505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𝑁𝑁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0AEA2A-94D3-8E57-CDEF-8183C6F05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711" y="5683358"/>
                <a:ext cx="3468578" cy="505844"/>
              </a:xfrm>
              <a:prstGeom prst="rect">
                <a:avLst/>
              </a:prstGeom>
              <a:blipFill>
                <a:blip r:embed="rId5"/>
                <a:stretch>
                  <a:fillRect l="-2190" t="-21951" r="-365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49A894-3FE6-B8DE-D41A-8B02E6ADAF5C}"/>
              </a:ext>
            </a:extLst>
          </p:cNvPr>
          <p:cNvSpPr txBox="1"/>
          <p:nvPr/>
        </p:nvSpPr>
        <p:spPr>
          <a:xfrm>
            <a:off x="798723" y="893136"/>
            <a:ext cx="10536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Nuclei are ~1800x Heavier than electrons: </a:t>
            </a:r>
            <a:r>
              <a:rPr lang="en-US" sz="2400" b="1" dirty="0"/>
              <a:t>Treat nuclei as fixed</a:t>
            </a:r>
          </a:p>
        </p:txBody>
      </p:sp>
    </p:spTree>
    <p:extLst>
      <p:ext uri="{BB962C8B-B14F-4D97-AF65-F5344CB8AC3E}">
        <p14:creationId xmlns:p14="http://schemas.microsoft.com/office/powerpoint/2010/main" val="352634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42768F-FC14-F587-DB60-B9B164B27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2" y="1008789"/>
            <a:ext cx="11338556" cy="484042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Foundational </a:t>
            </a:r>
            <a:r>
              <a:rPr lang="en-US" b="1" i="1" dirty="0"/>
              <a:t>ab initio</a:t>
            </a:r>
            <a:r>
              <a:rPr lang="en-US" b="1" dirty="0"/>
              <a:t> QM approach</a:t>
            </a:r>
          </a:p>
          <a:p>
            <a:r>
              <a:rPr lang="en-US" dirty="0"/>
              <a:t>Mean-Field approximation: </a:t>
            </a:r>
          </a:p>
          <a:p>
            <a:pPr lvl="1"/>
            <a:r>
              <a:rPr lang="en-US" dirty="0"/>
              <a:t>Electron interactions as a static average field of all other electrons</a:t>
            </a:r>
          </a:p>
          <a:p>
            <a:pPr lvl="1"/>
            <a:endParaRPr lang="en-US" dirty="0"/>
          </a:p>
          <a:p>
            <a:r>
              <a:rPr lang="en-US" dirty="0"/>
              <a:t>Variational Principle: </a:t>
            </a:r>
          </a:p>
          <a:p>
            <a:pPr lvl="1"/>
            <a:r>
              <a:rPr lang="en-US" dirty="0"/>
              <a:t>Restricts wavefunction to a single Slater determinant</a:t>
            </a:r>
          </a:p>
          <a:p>
            <a:pPr lvl="1"/>
            <a:r>
              <a:rPr lang="en-US" dirty="0"/>
              <a:t>“What set of molecular orbitals gives the lowest possible energy for this single-determinant model?”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Self-Consistent Field (SCF):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Guess/Receive initial set of orbitals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Calculate potential energy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Solve for new set of orbitals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Repeat process until orbitals/energy is converged (unchanging)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r>
              <a:rPr lang="en-US" b="1" dirty="0"/>
              <a:t>Not usually accurate enough for final models (missing electron correlation term)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6A986E-792D-E019-7A25-C139BA21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Mechanics Methods: Hartree-Fock (HF)</a:t>
            </a:r>
          </a:p>
        </p:txBody>
      </p:sp>
    </p:spTree>
    <p:extLst>
      <p:ext uri="{BB962C8B-B14F-4D97-AF65-F5344CB8AC3E}">
        <p14:creationId xmlns:p14="http://schemas.microsoft.com/office/powerpoint/2010/main" val="2266348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4745FD-558E-38B5-0086-F9FC97589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65" y="893137"/>
            <a:ext cx="6579424" cy="5275342"/>
          </a:xfrm>
        </p:spPr>
        <p:txBody>
          <a:bodyPr/>
          <a:lstStyle/>
          <a:p>
            <a:r>
              <a:rPr lang="en-US" b="1" dirty="0"/>
              <a:t>Advanced methods built from HF</a:t>
            </a:r>
          </a:p>
          <a:p>
            <a:r>
              <a:rPr lang="en-US" b="1" dirty="0"/>
              <a:t>Electron Correlation terms added to HF</a:t>
            </a:r>
          </a:p>
          <a:p>
            <a:pPr lvl="1"/>
            <a:r>
              <a:rPr lang="en-US" dirty="0"/>
              <a:t>Electron motions are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independent, motions are linked</a:t>
            </a:r>
          </a:p>
          <a:p>
            <a:r>
              <a:rPr lang="en-US" b="1" dirty="0"/>
              <a:t>Adding Correlation term Provides:</a:t>
            </a:r>
          </a:p>
          <a:p>
            <a:pPr lvl="1"/>
            <a:r>
              <a:rPr lang="en-US" b="1" dirty="0"/>
              <a:t>Better relative energies, reaction energies, better described weak interactions (H-bonding), etc.</a:t>
            </a:r>
          </a:p>
          <a:p>
            <a:pPr lvl="1"/>
            <a:endParaRPr lang="en-US" b="1" dirty="0"/>
          </a:p>
          <a:p>
            <a:r>
              <a:rPr lang="en-US" b="1" dirty="0"/>
              <a:t>More accurate, but more expensive </a:t>
            </a:r>
          </a:p>
          <a:p>
            <a:endParaRPr lang="en-US" dirty="0"/>
          </a:p>
          <a:p>
            <a:r>
              <a:rPr lang="en-US" dirty="0"/>
              <a:t>MP2, CC, CI, CASSCF,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121D46-121A-4ECA-5299-DF24B2CD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Mechanics Methods: Post-HF (</a:t>
            </a:r>
            <a:r>
              <a:rPr lang="en-US" i="1" dirty="0"/>
              <a:t>ab initio)</a:t>
            </a:r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E550460-BE76-1037-54D5-0EBF25FAC641}"/>
              </a:ext>
            </a:extLst>
          </p:cNvPr>
          <p:cNvGrpSpPr>
            <a:grpSpLocks noChangeAspect="1"/>
          </p:cNvGrpSpPr>
          <p:nvPr/>
        </p:nvGrpSpPr>
        <p:grpSpPr>
          <a:xfrm>
            <a:off x="6929589" y="1508760"/>
            <a:ext cx="5120640" cy="3840480"/>
            <a:chOff x="6929589" y="1508760"/>
            <a:chExt cx="5120640" cy="3840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051D2F-F5FD-3C18-9061-68D2F8B7D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589" y="1508760"/>
              <a:ext cx="5120640" cy="38404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3E8D4E-2B26-858D-D794-95C2EE582A13}"/>
                </a:ext>
              </a:extLst>
            </p:cNvPr>
            <p:cNvSpPr txBox="1"/>
            <p:nvPr/>
          </p:nvSpPr>
          <p:spPr>
            <a:xfrm rot="20199203">
              <a:off x="8951702" y="3627775"/>
              <a:ext cx="2076414" cy="6742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8820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53ACAA-D3C7-7570-72DE-B9EFCCE9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Mechanics Methods: Density Functional Theory (DFT)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5AE55-EB5A-7D4C-7B13-5505FFD7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165" y="1691640"/>
            <a:ext cx="5352947" cy="3474720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D2FEF6C7-73FE-B970-B9CF-7A7DAD3A2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65" y="893136"/>
            <a:ext cx="5745835" cy="5657566"/>
          </a:xfrm>
        </p:spPr>
        <p:txBody>
          <a:bodyPr>
            <a:normAutofit/>
          </a:bodyPr>
          <a:lstStyle/>
          <a:p>
            <a:r>
              <a:rPr lang="en-US" dirty="0"/>
              <a:t>HF/Post-HF methods solve Schrodinger equation</a:t>
            </a:r>
          </a:p>
          <a:p>
            <a:pPr lvl="1"/>
            <a:r>
              <a:rPr lang="en-US" dirty="0"/>
              <a:t>Cost scales exponentially with # of electrons</a:t>
            </a:r>
          </a:p>
          <a:p>
            <a:r>
              <a:rPr lang="en-US" b="1" dirty="0"/>
              <a:t>Density Functional Theory</a:t>
            </a:r>
          </a:p>
          <a:p>
            <a:pPr lvl="1"/>
            <a:r>
              <a:rPr lang="en-US" b="1" dirty="0"/>
              <a:t>Utilizing Electron density to describe system as a probability an electron at any point in space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Balance between accuracy and cost</a:t>
            </a:r>
          </a:p>
          <a:p>
            <a:endParaRPr lang="en-US" dirty="0"/>
          </a:p>
          <a:p>
            <a:r>
              <a:rPr lang="en-US" dirty="0"/>
              <a:t>Additional Considerations:</a:t>
            </a:r>
          </a:p>
          <a:p>
            <a:pPr lvl="1"/>
            <a:r>
              <a:rPr lang="en-US" dirty="0"/>
              <a:t>Functionals</a:t>
            </a:r>
          </a:p>
          <a:p>
            <a:pPr lvl="1"/>
            <a:r>
              <a:rPr lang="en-US" dirty="0"/>
              <a:t>Different functional, different approximation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EB865-1AD3-C302-043D-D9F880D06CE6}"/>
              </a:ext>
            </a:extLst>
          </p:cNvPr>
          <p:cNvSpPr txBox="1"/>
          <p:nvPr/>
        </p:nvSpPr>
        <p:spPr>
          <a:xfrm>
            <a:off x="6063753" y="5614481"/>
            <a:ext cx="61177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rgbClr val="222222"/>
                </a:solidFill>
                <a:effectLst/>
              </a:rPr>
              <a:t>Nakata, A., Morikawa, Y. (2024). Density Functional Theory Calculations for Materials with Complex Structures. In: Hayashi, K. (eds) </a:t>
            </a:r>
            <a:r>
              <a:rPr lang="en-US" sz="1000" b="0" i="0" u="none" strike="noStrike" dirty="0" err="1">
                <a:solidFill>
                  <a:srgbClr val="222222"/>
                </a:solidFill>
                <a:effectLst/>
              </a:rPr>
              <a:t>Hyperordered</a:t>
            </a:r>
            <a:r>
              <a:rPr lang="en-US" sz="1000" b="0" i="0" u="none" strike="noStrike" dirty="0">
                <a:solidFill>
                  <a:srgbClr val="222222"/>
                </a:solidFill>
                <a:effectLst/>
              </a:rPr>
              <a:t> Structures in Materials. The Materials Research Society Series. Springer, Singapore.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287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2A5460-F221-D4BE-68F3-A8BED7510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Toolkit used to approximate/describe orbitals </a:t>
            </a:r>
          </a:p>
          <a:p>
            <a:r>
              <a:rPr lang="en-US" dirty="0"/>
              <a:t>Smaller basis-set:</a:t>
            </a:r>
          </a:p>
          <a:p>
            <a:pPr lvl="1"/>
            <a:r>
              <a:rPr lang="en-US" dirty="0"/>
              <a:t>Faster, less flexible orbital description, less accurate</a:t>
            </a:r>
          </a:p>
          <a:p>
            <a:r>
              <a:rPr lang="en-US" dirty="0"/>
              <a:t>Larger basis-set:</a:t>
            </a:r>
          </a:p>
          <a:p>
            <a:pPr lvl="1"/>
            <a:r>
              <a:rPr lang="en-US" dirty="0"/>
              <a:t>More flexible orbital description, more accurate, slower </a:t>
            </a:r>
          </a:p>
          <a:p>
            <a:pPr lvl="1"/>
            <a:endParaRPr lang="en-US" dirty="0"/>
          </a:p>
          <a:p>
            <a:r>
              <a:rPr lang="en-US" dirty="0"/>
              <a:t>Polarization functions:</a:t>
            </a:r>
          </a:p>
          <a:p>
            <a:pPr lvl="1"/>
            <a:r>
              <a:rPr lang="en-US" dirty="0"/>
              <a:t>Allow orbitals to distort, hybridize during bonding</a:t>
            </a:r>
          </a:p>
          <a:p>
            <a:pPr lvl="1"/>
            <a:r>
              <a:rPr lang="en-US" dirty="0"/>
              <a:t>Important for reaction chemistry/bonding</a:t>
            </a:r>
          </a:p>
          <a:p>
            <a:pPr lvl="1"/>
            <a:endParaRPr lang="en-US" dirty="0"/>
          </a:p>
          <a:p>
            <a:r>
              <a:rPr lang="en-US" dirty="0"/>
              <a:t>Diffuse functions:</a:t>
            </a:r>
          </a:p>
          <a:p>
            <a:pPr lvl="1"/>
            <a:r>
              <a:rPr lang="en-US" dirty="0"/>
              <a:t>Allow electron density to spread outwards</a:t>
            </a:r>
          </a:p>
          <a:p>
            <a:pPr lvl="1"/>
            <a:r>
              <a:rPr lang="en-US" dirty="0"/>
              <a:t>Important to weak interactions, long-range effects, excited states, etc.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192A23-94CD-93BC-C5C3-5EA4AE09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Chemistry: Basis Sets</a:t>
            </a:r>
          </a:p>
        </p:txBody>
      </p:sp>
    </p:spTree>
    <p:extLst>
      <p:ext uri="{BB962C8B-B14F-4D97-AF65-F5344CB8AC3E}">
        <p14:creationId xmlns:p14="http://schemas.microsoft.com/office/powerpoint/2010/main" val="894227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F8BA0-F5D9-94E8-E51D-00F8D68C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Chemistry: Basis Sets and Density Functionals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2048DE-9E50-0F50-93D1-B1E7549D4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739505"/>
              </p:ext>
            </p:extLst>
          </p:nvPr>
        </p:nvGraphicFramePr>
        <p:xfrm>
          <a:off x="838200" y="893136"/>
          <a:ext cx="10515600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69014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7612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Basis-set family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 basis 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6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Minimal basis sets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STO-3G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477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Pople</a:t>
                      </a:r>
                      <a:r>
                        <a:rPr lang="en-US" b="1" dirty="0"/>
                        <a:t> basis sets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6-31G(d)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9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Ahlrichs/Karlsruhe basis sets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def2-TZVP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161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Dunning correlation-consistent basis sets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cc-pVDZ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21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Sapporo basis sets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Sapporo-DZP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24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Effective core potential basis sets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LANL2DZ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06778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740B923-8101-C369-B196-BD04E834E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34" y="4023360"/>
            <a:ext cx="6839713" cy="2834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EC738B-359E-2903-0809-D473E8C7AC54}"/>
              </a:ext>
            </a:extLst>
          </p:cNvPr>
          <p:cNvSpPr txBox="1"/>
          <p:nvPr/>
        </p:nvSpPr>
        <p:spPr>
          <a:xfrm>
            <a:off x="3502996" y="3654028"/>
            <a:ext cx="6117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effectLst/>
                <a:latin typeface="Source Sans Pro" panose="020B0503030403020204" pitchFamily="34" charset="0"/>
              </a:rPr>
              <a:t>Phys. Chem. Chem. Phys.</a:t>
            </a:r>
            <a:r>
              <a:rPr lang="en-US" b="0" i="0" u="none" strike="noStrike" dirty="0">
                <a:effectLst/>
                <a:latin typeface="Source Sans Pro" panose="020B0503030403020204" pitchFamily="34" charset="0"/>
              </a:rPr>
              <a:t>, 2014,</a:t>
            </a:r>
            <a:r>
              <a:rPr lang="en-US" b="1" i="0" dirty="0">
                <a:effectLst/>
                <a:latin typeface="Source Sans Pro" panose="020B0503030403020204" pitchFamily="34" charset="0"/>
              </a:rPr>
              <a:t>16</a:t>
            </a:r>
            <a:r>
              <a:rPr lang="en-US" b="0" i="0" u="none" strike="noStrike" dirty="0">
                <a:effectLst/>
                <a:latin typeface="Source Sans Pro" panose="020B0503030403020204" pitchFamily="34" charset="0"/>
              </a:rPr>
              <a:t>, 26769-26778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CB20D4-B73A-BD8A-804E-2FDE8C3DD3F9}"/>
              </a:ext>
            </a:extLst>
          </p:cNvPr>
          <p:cNvCxnSpPr/>
          <p:nvPr/>
        </p:nvCxnSpPr>
        <p:spPr>
          <a:xfrm>
            <a:off x="0" y="3621370"/>
            <a:ext cx="12192000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248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C0A1AC-4791-23B5-6763-3D52F0A0D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Charge: Net molecular charge determines total number of electrons</a:t>
            </a:r>
          </a:p>
          <a:p>
            <a:r>
              <a:rPr lang="en-US" dirty="0"/>
              <a:t>Multiplicity: How many unpaired electrons are there. </a:t>
            </a:r>
          </a:p>
          <a:p>
            <a:r>
              <a:rPr lang="en-US" dirty="0"/>
              <a:t>Always important, Especially for:</a:t>
            </a:r>
          </a:p>
          <a:p>
            <a:pPr lvl="1"/>
            <a:r>
              <a:rPr lang="en-US" dirty="0"/>
              <a:t>Metal complexes and radicals</a:t>
            </a:r>
          </a:p>
          <a:p>
            <a:pPr lvl="1"/>
            <a:r>
              <a:rPr lang="en-US" dirty="0"/>
              <a:t>Ex. d</a:t>
            </a:r>
            <a:r>
              <a:rPr lang="en-US" baseline="30000" dirty="0"/>
              <a:t>6</a:t>
            </a:r>
            <a:r>
              <a:rPr lang="en-US" dirty="0"/>
              <a:t> transition metal (Fe</a:t>
            </a:r>
            <a:r>
              <a:rPr lang="en-US" baseline="30000" dirty="0"/>
              <a:t>2+</a:t>
            </a:r>
            <a:r>
              <a:rPr lang="en-US" dirty="0"/>
              <a:t>, Co</a:t>
            </a:r>
            <a:r>
              <a:rPr lang="en-US" baseline="30000" dirty="0"/>
              <a:t>3+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3AE958-73C3-43B1-0877-8817422CF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Charge and Multiplicity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EC9EF-C027-C2CF-A24F-5BA30145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724" y="3945978"/>
            <a:ext cx="5776552" cy="22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91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0A9B4B-AC62-9DF4-6DCD-AB43448CC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Core Potentials (ECPs)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19E6249-8244-91D9-9904-16E0D27142AF}"/>
              </a:ext>
            </a:extLst>
          </p:cNvPr>
          <p:cNvGrpSpPr/>
          <p:nvPr/>
        </p:nvGrpSpPr>
        <p:grpSpPr>
          <a:xfrm>
            <a:off x="269865" y="879290"/>
            <a:ext cx="6404253" cy="3372671"/>
            <a:chOff x="-605212" y="895862"/>
            <a:chExt cx="6404253" cy="337267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753C1BB-28AB-E09A-0B9A-5CCD7251B3C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47274" y="1342453"/>
              <a:ext cx="2811600" cy="2926080"/>
              <a:chOff x="706593" y="1324744"/>
              <a:chExt cx="4298279" cy="447328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A37BA84-8838-3231-BBAF-5BA232B261BC}"/>
                  </a:ext>
                </a:extLst>
              </p:cNvPr>
              <p:cNvGrpSpPr/>
              <p:nvPr/>
            </p:nvGrpSpPr>
            <p:grpSpPr>
              <a:xfrm>
                <a:off x="706593" y="1412506"/>
                <a:ext cx="4298279" cy="4385523"/>
                <a:chOff x="706593" y="1412506"/>
                <a:chExt cx="4298279" cy="4385523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E4C4ECE8-7885-7F42-D216-7EAFBB7EE4FE}"/>
                    </a:ext>
                  </a:extLst>
                </p:cNvPr>
                <p:cNvGrpSpPr/>
                <p:nvPr/>
              </p:nvGrpSpPr>
              <p:grpSpPr>
                <a:xfrm>
                  <a:off x="706593" y="1412506"/>
                  <a:ext cx="4298279" cy="4297680"/>
                  <a:chOff x="706593" y="1412506"/>
                  <a:chExt cx="4298279" cy="4297680"/>
                </a:xfrm>
              </p:grpSpPr>
              <p:sp>
                <p:nvSpPr>
                  <p:cNvPr id="57" name="Donut 56">
                    <a:extLst>
                      <a:ext uri="{FF2B5EF4-FFF2-40B4-BE49-F238E27FC236}">
                        <a16:creationId xmlns:a16="http://schemas.microsoft.com/office/drawing/2014/main" id="{88F3DFFE-AC8C-D155-4684-F602EC3281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22947" y="1828800"/>
                    <a:ext cx="3465576" cy="3465095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Donut 57">
                    <a:extLst>
                      <a:ext uri="{FF2B5EF4-FFF2-40B4-BE49-F238E27FC236}">
                        <a16:creationId xmlns:a16="http://schemas.microsoft.com/office/drawing/2014/main" id="{399B25E4-1F22-3D96-3D1A-1FA51BE87E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75395" y="2281186"/>
                    <a:ext cx="2560677" cy="2560320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Donut 58">
                    <a:extLst>
                      <a:ext uri="{FF2B5EF4-FFF2-40B4-BE49-F238E27FC236}">
                        <a16:creationId xmlns:a16="http://schemas.microsoft.com/office/drawing/2014/main" id="{E7541401-CF19-DF2A-9645-6BC6EBA69F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08947" y="2914649"/>
                    <a:ext cx="1293574" cy="1293394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" name="Donut 59">
                    <a:extLst>
                      <a:ext uri="{FF2B5EF4-FFF2-40B4-BE49-F238E27FC236}">
                        <a16:creationId xmlns:a16="http://schemas.microsoft.com/office/drawing/2014/main" id="{6C10B644-60AB-70F9-0E17-247A85F7CB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593" y="1412506"/>
                    <a:ext cx="4298279" cy="4297680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D5E6306C-09BF-F7F7-21A0-25534777F8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663227" y="3378466"/>
                    <a:ext cx="385009" cy="36576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DD88ADE0-FBC7-F655-E4E7-75C2D7820752}"/>
                      </a:ext>
                    </a:extLst>
                  </p:cNvPr>
                  <p:cNvSpPr/>
                  <p:nvPr/>
                </p:nvSpPr>
                <p:spPr>
                  <a:xfrm>
                    <a:off x="2745562" y="2821416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47BA93CD-3C8B-2688-9371-D933902A44CC}"/>
                      </a:ext>
                    </a:extLst>
                  </p:cNvPr>
                  <p:cNvSpPr/>
                  <p:nvPr/>
                </p:nvSpPr>
                <p:spPr>
                  <a:xfrm>
                    <a:off x="2745562" y="409195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2091AB9A-3FD9-F950-E3A8-AA3C2B60F9F6}"/>
                      </a:ext>
                    </a:extLst>
                  </p:cNvPr>
                  <p:cNvSpPr/>
                  <p:nvPr/>
                </p:nvSpPr>
                <p:spPr>
                  <a:xfrm>
                    <a:off x="2745562" y="4717570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AF230AEE-AE6C-EA5D-7E19-BAA787E1D843}"/>
                      </a:ext>
                    </a:extLst>
                  </p:cNvPr>
                  <p:cNvSpPr/>
                  <p:nvPr/>
                </p:nvSpPr>
                <p:spPr>
                  <a:xfrm>
                    <a:off x="2745561" y="2212700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41B31C4C-D189-E7B1-3540-56CED880F6F5}"/>
                      </a:ext>
                    </a:extLst>
                  </p:cNvPr>
                  <p:cNvSpPr/>
                  <p:nvPr/>
                </p:nvSpPr>
                <p:spPr>
                  <a:xfrm>
                    <a:off x="1465226" y="345668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16627295-AE49-3288-08CC-A5C0296ACFE2}"/>
                      </a:ext>
                    </a:extLst>
                  </p:cNvPr>
                  <p:cNvSpPr/>
                  <p:nvPr/>
                </p:nvSpPr>
                <p:spPr>
                  <a:xfrm>
                    <a:off x="4013741" y="345668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87A07B96-4E72-2757-86CB-7821F3254F7E}"/>
                      </a:ext>
                    </a:extLst>
                  </p:cNvPr>
                  <p:cNvSpPr/>
                  <p:nvPr/>
                </p:nvSpPr>
                <p:spPr>
                  <a:xfrm>
                    <a:off x="3665398" y="4301276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B4176760-84E3-D43A-B333-27D16D98F61B}"/>
                      </a:ext>
                    </a:extLst>
                  </p:cNvPr>
                  <p:cNvSpPr/>
                  <p:nvPr/>
                </p:nvSpPr>
                <p:spPr>
                  <a:xfrm>
                    <a:off x="3665398" y="261209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E96AA2FF-4B3B-E321-E91D-D51AE676D02D}"/>
                      </a:ext>
                    </a:extLst>
                  </p:cNvPr>
                  <p:cNvSpPr/>
                  <p:nvPr/>
                </p:nvSpPr>
                <p:spPr>
                  <a:xfrm>
                    <a:off x="1825726" y="2612094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BDFB5580-E88E-7B75-8A0B-5A9449A5E753}"/>
                    </a:ext>
                  </a:extLst>
                </p:cNvPr>
                <p:cNvSpPr/>
                <p:nvPr/>
              </p:nvSpPr>
              <p:spPr>
                <a:xfrm>
                  <a:off x="1825726" y="4301276"/>
                  <a:ext cx="220337" cy="20932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5B55E20-EC7D-0EDF-F21A-29B63C579066}"/>
                    </a:ext>
                  </a:extLst>
                </p:cNvPr>
                <p:cNvSpPr/>
                <p:nvPr/>
              </p:nvSpPr>
              <p:spPr>
                <a:xfrm>
                  <a:off x="2745560" y="5153139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6435C5A-8896-55FC-33FE-B6941BBFDE02}"/>
                    </a:ext>
                  </a:extLst>
                </p:cNvPr>
                <p:cNvSpPr/>
                <p:nvPr/>
              </p:nvSpPr>
              <p:spPr>
                <a:xfrm>
                  <a:off x="2745560" y="1759058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B04A5D80-FD30-DE97-3D81-5E4FC9DF2602}"/>
                    </a:ext>
                  </a:extLst>
                </p:cNvPr>
                <p:cNvSpPr/>
                <p:nvPr/>
              </p:nvSpPr>
              <p:spPr>
                <a:xfrm>
                  <a:off x="4398000" y="3017527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3E78A7-1DF2-9A5C-C950-CCD918F38269}"/>
                    </a:ext>
                  </a:extLst>
                </p:cNvPr>
                <p:cNvSpPr/>
                <p:nvPr/>
              </p:nvSpPr>
              <p:spPr>
                <a:xfrm>
                  <a:off x="1069625" y="3811719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EDDADAE8-606D-4EF7-48C5-6A58CF0BA32A}"/>
                    </a:ext>
                  </a:extLst>
                </p:cNvPr>
                <p:cNvSpPr/>
                <p:nvPr/>
              </p:nvSpPr>
              <p:spPr>
                <a:xfrm>
                  <a:off x="1464068" y="2328761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3EFD671B-75F0-36D2-7727-C499C8628F63}"/>
                    </a:ext>
                  </a:extLst>
                </p:cNvPr>
                <p:cNvSpPr/>
                <p:nvPr/>
              </p:nvSpPr>
              <p:spPr>
                <a:xfrm>
                  <a:off x="4074907" y="2330775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FEE7303-14E0-B6A5-F65C-571054F6333A}"/>
                    </a:ext>
                  </a:extLst>
                </p:cNvPr>
                <p:cNvSpPr/>
                <p:nvPr/>
              </p:nvSpPr>
              <p:spPr>
                <a:xfrm>
                  <a:off x="4060753" y="4544666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DB0173C-F6FC-8672-AA6A-64D4EBFA82A0}"/>
                    </a:ext>
                  </a:extLst>
                </p:cNvPr>
                <p:cNvSpPr/>
                <p:nvPr/>
              </p:nvSpPr>
              <p:spPr>
                <a:xfrm>
                  <a:off x="1935894" y="4963040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53A3F12-B03C-878D-D715-81D1EB9A0CD8}"/>
                    </a:ext>
                  </a:extLst>
                </p:cNvPr>
                <p:cNvSpPr/>
                <p:nvPr/>
              </p:nvSpPr>
              <p:spPr>
                <a:xfrm>
                  <a:off x="1430371" y="4544666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09C1F3B-3D34-D18B-159C-C735FA04A535}"/>
                    </a:ext>
                  </a:extLst>
                </p:cNvPr>
                <p:cNvSpPr/>
                <p:nvPr/>
              </p:nvSpPr>
              <p:spPr>
                <a:xfrm>
                  <a:off x="4435432" y="3811719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F4336387-8AFD-A896-7F44-5428FE3A7F95}"/>
                    </a:ext>
                  </a:extLst>
                </p:cNvPr>
                <p:cNvSpPr/>
                <p:nvPr/>
              </p:nvSpPr>
              <p:spPr>
                <a:xfrm>
                  <a:off x="3459190" y="1873723"/>
                  <a:ext cx="220336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DA1EAC10-7755-EEE8-584A-92AB959D7F30}"/>
                    </a:ext>
                  </a:extLst>
                </p:cNvPr>
                <p:cNvSpPr/>
                <p:nvPr/>
              </p:nvSpPr>
              <p:spPr>
                <a:xfrm>
                  <a:off x="3555229" y="4963040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A3F150F7-A7C4-DBAA-F0B8-02155D847454}"/>
                    </a:ext>
                  </a:extLst>
                </p:cNvPr>
                <p:cNvSpPr/>
                <p:nvPr/>
              </p:nvSpPr>
              <p:spPr>
                <a:xfrm>
                  <a:off x="1093366" y="3017526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1EC95AA8-55F2-B764-A6E5-B8F2652B6F60}"/>
                    </a:ext>
                  </a:extLst>
                </p:cNvPr>
                <p:cNvSpPr/>
                <p:nvPr/>
              </p:nvSpPr>
              <p:spPr>
                <a:xfrm>
                  <a:off x="2037312" y="1889801"/>
                  <a:ext cx="220336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89A9C5B6-6923-0CDA-8072-B97581AA428F}"/>
                    </a:ext>
                  </a:extLst>
                </p:cNvPr>
                <p:cNvSpPr/>
                <p:nvPr/>
              </p:nvSpPr>
              <p:spPr>
                <a:xfrm>
                  <a:off x="2745559" y="5588708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44C2B1A-1FCD-0137-E75E-EA8F843B8169}"/>
                  </a:ext>
                </a:extLst>
              </p:cNvPr>
              <p:cNvSpPr/>
              <p:nvPr/>
            </p:nvSpPr>
            <p:spPr>
              <a:xfrm>
                <a:off x="2745558" y="1324744"/>
                <a:ext cx="220337" cy="20932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319F048-7336-EF4A-EF18-4880B3E0DF93}"/>
                </a:ext>
              </a:extLst>
            </p:cNvPr>
            <p:cNvSpPr txBox="1"/>
            <p:nvPr/>
          </p:nvSpPr>
          <p:spPr>
            <a:xfrm>
              <a:off x="1379772" y="895862"/>
              <a:ext cx="2346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All-Electron model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4BB5AA51-F845-F4A2-14A6-F487C26FC644}"/>
                </a:ext>
              </a:extLst>
            </p:cNvPr>
            <p:cNvCxnSpPr>
              <a:cxnSpLocks/>
            </p:cNvCxnSpPr>
            <p:nvPr/>
          </p:nvCxnSpPr>
          <p:spPr>
            <a:xfrm>
              <a:off x="760739" y="2710878"/>
              <a:ext cx="1700767" cy="499242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E731F5C-749F-3DEF-652C-421283661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9671" y="1433984"/>
              <a:ext cx="961931" cy="302568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98EB6E6-EB82-D7F6-49BD-BBA66C1602EC}"/>
                </a:ext>
              </a:extLst>
            </p:cNvPr>
            <p:cNvSpPr txBox="1"/>
            <p:nvPr/>
          </p:nvSpPr>
          <p:spPr>
            <a:xfrm>
              <a:off x="-605212" y="2337826"/>
              <a:ext cx="2346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Core e</a:t>
              </a:r>
              <a:r>
                <a:rPr lang="en-US" b="1" baseline="30000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A14CE35-F10B-94B5-CBAB-243C7EF82C6C}"/>
                </a:ext>
              </a:extLst>
            </p:cNvPr>
            <p:cNvSpPr txBox="1"/>
            <p:nvPr/>
          </p:nvSpPr>
          <p:spPr>
            <a:xfrm>
              <a:off x="3452448" y="1234120"/>
              <a:ext cx="2346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Valence e</a:t>
              </a:r>
              <a:r>
                <a:rPr lang="en-US" b="1" baseline="30000" dirty="0"/>
                <a:t>-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C26A5AC-70C8-B6EE-DD0A-49A4BD05746A}"/>
              </a:ext>
            </a:extLst>
          </p:cNvPr>
          <p:cNvGrpSpPr/>
          <p:nvPr/>
        </p:nvGrpSpPr>
        <p:grpSpPr>
          <a:xfrm>
            <a:off x="4967575" y="893136"/>
            <a:ext cx="6910941" cy="3372644"/>
            <a:chOff x="4967575" y="893136"/>
            <a:chExt cx="6910941" cy="3372644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C88617-DC6B-E76E-F6D2-F8F01E4AA371}"/>
                </a:ext>
              </a:extLst>
            </p:cNvPr>
            <p:cNvSpPr txBox="1"/>
            <p:nvPr/>
          </p:nvSpPr>
          <p:spPr>
            <a:xfrm>
              <a:off x="7459247" y="893136"/>
              <a:ext cx="2346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ECP model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AED650C-4F57-0ADD-4533-DB59B1E1028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12829" y="1339700"/>
              <a:ext cx="2816352" cy="2926080"/>
              <a:chOff x="6979025" y="1306672"/>
              <a:chExt cx="4298279" cy="449135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4620533-B9D1-2EAB-7262-47D2DE477B25}"/>
                  </a:ext>
                </a:extLst>
              </p:cNvPr>
              <p:cNvGrpSpPr/>
              <p:nvPr/>
            </p:nvGrpSpPr>
            <p:grpSpPr>
              <a:xfrm>
                <a:off x="6979025" y="1412506"/>
                <a:ext cx="4298279" cy="4385523"/>
                <a:chOff x="706593" y="1412506"/>
                <a:chExt cx="4298279" cy="4385523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23258DFE-3C78-07BD-08EA-1B86444C3D3A}"/>
                    </a:ext>
                  </a:extLst>
                </p:cNvPr>
                <p:cNvGrpSpPr/>
                <p:nvPr/>
              </p:nvGrpSpPr>
              <p:grpSpPr>
                <a:xfrm>
                  <a:off x="706593" y="1412506"/>
                  <a:ext cx="4298279" cy="4297680"/>
                  <a:chOff x="706593" y="1412506"/>
                  <a:chExt cx="4298279" cy="4297680"/>
                </a:xfrm>
              </p:grpSpPr>
              <p:sp>
                <p:nvSpPr>
                  <p:cNvPr id="94" name="Donut 93">
                    <a:extLst>
                      <a:ext uri="{FF2B5EF4-FFF2-40B4-BE49-F238E27FC236}">
                        <a16:creationId xmlns:a16="http://schemas.microsoft.com/office/drawing/2014/main" id="{E2518AE7-B59D-5F24-2C71-C578E6D4055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22947" y="1828800"/>
                    <a:ext cx="3465576" cy="3465095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Donut 94">
                    <a:extLst>
                      <a:ext uri="{FF2B5EF4-FFF2-40B4-BE49-F238E27FC236}">
                        <a16:creationId xmlns:a16="http://schemas.microsoft.com/office/drawing/2014/main" id="{84C142FB-B54A-1D69-D2C7-A14F761FC24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75395" y="2281186"/>
                    <a:ext cx="2560677" cy="2560320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Donut 95">
                    <a:extLst>
                      <a:ext uri="{FF2B5EF4-FFF2-40B4-BE49-F238E27FC236}">
                        <a16:creationId xmlns:a16="http://schemas.microsoft.com/office/drawing/2014/main" id="{DD43727B-F12F-41FC-224B-70FF894460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08947" y="2914649"/>
                    <a:ext cx="1293574" cy="1293394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Donut 96">
                    <a:extLst>
                      <a:ext uri="{FF2B5EF4-FFF2-40B4-BE49-F238E27FC236}">
                        <a16:creationId xmlns:a16="http://schemas.microsoft.com/office/drawing/2014/main" id="{14C5E235-5ED8-444F-87C5-F6BB06FE7E5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593" y="1412506"/>
                    <a:ext cx="4298279" cy="4297680"/>
                  </a:xfrm>
                  <a:prstGeom prst="donut">
                    <a:avLst>
                      <a:gd name="adj" fmla="val 1346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5501A1E3-DDE0-E1DE-6C96-B11E68D818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663227" y="3378466"/>
                    <a:ext cx="385009" cy="36576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89A00D66-1EB0-530A-F46F-BCDB497F4A6C}"/>
                      </a:ext>
                    </a:extLst>
                  </p:cNvPr>
                  <p:cNvSpPr/>
                  <p:nvPr/>
                </p:nvSpPr>
                <p:spPr>
                  <a:xfrm>
                    <a:off x="2745562" y="2821416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79046F41-06F9-D013-1DC8-EF7A03B5A34D}"/>
                      </a:ext>
                    </a:extLst>
                  </p:cNvPr>
                  <p:cNvSpPr/>
                  <p:nvPr/>
                </p:nvSpPr>
                <p:spPr>
                  <a:xfrm>
                    <a:off x="2745562" y="409195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EED2E65A-8B70-BAE7-4302-52D33AA9AF86}"/>
                      </a:ext>
                    </a:extLst>
                  </p:cNvPr>
                  <p:cNvSpPr/>
                  <p:nvPr/>
                </p:nvSpPr>
                <p:spPr>
                  <a:xfrm>
                    <a:off x="2745562" y="4717570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17F81633-F1E5-3819-3FB7-4827FF61F693}"/>
                      </a:ext>
                    </a:extLst>
                  </p:cNvPr>
                  <p:cNvSpPr/>
                  <p:nvPr/>
                </p:nvSpPr>
                <p:spPr>
                  <a:xfrm>
                    <a:off x="2745561" y="2212700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C19D4078-0633-F327-5998-7FBDA89FC312}"/>
                      </a:ext>
                    </a:extLst>
                  </p:cNvPr>
                  <p:cNvSpPr/>
                  <p:nvPr/>
                </p:nvSpPr>
                <p:spPr>
                  <a:xfrm>
                    <a:off x="1465226" y="345668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" name="Oval 103">
                    <a:extLst>
                      <a:ext uri="{FF2B5EF4-FFF2-40B4-BE49-F238E27FC236}">
                        <a16:creationId xmlns:a16="http://schemas.microsoft.com/office/drawing/2014/main" id="{51CFA498-60DB-F9C9-44E7-36D23BAB1B20}"/>
                      </a:ext>
                    </a:extLst>
                  </p:cNvPr>
                  <p:cNvSpPr/>
                  <p:nvPr/>
                </p:nvSpPr>
                <p:spPr>
                  <a:xfrm>
                    <a:off x="4013741" y="345668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D9020AE0-94C8-47FB-356D-7C50CC9C21C4}"/>
                      </a:ext>
                    </a:extLst>
                  </p:cNvPr>
                  <p:cNvSpPr/>
                  <p:nvPr/>
                </p:nvSpPr>
                <p:spPr>
                  <a:xfrm>
                    <a:off x="3665398" y="4301276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Oval 105">
                    <a:extLst>
                      <a:ext uri="{FF2B5EF4-FFF2-40B4-BE49-F238E27FC236}">
                        <a16:creationId xmlns:a16="http://schemas.microsoft.com/office/drawing/2014/main" id="{97C29EA2-A619-F0ED-A871-896A0A43E1D0}"/>
                      </a:ext>
                    </a:extLst>
                  </p:cNvPr>
                  <p:cNvSpPr/>
                  <p:nvPr/>
                </p:nvSpPr>
                <p:spPr>
                  <a:xfrm>
                    <a:off x="3665398" y="2612095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59A6DF7C-DF92-5E02-86F5-C20928E4EFAA}"/>
                      </a:ext>
                    </a:extLst>
                  </p:cNvPr>
                  <p:cNvSpPr/>
                  <p:nvPr/>
                </p:nvSpPr>
                <p:spPr>
                  <a:xfrm>
                    <a:off x="1825726" y="2612094"/>
                    <a:ext cx="220337" cy="20932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48A0D8C3-7F90-F6E5-EAA0-7BD602EF3DA9}"/>
                    </a:ext>
                  </a:extLst>
                </p:cNvPr>
                <p:cNvSpPr/>
                <p:nvPr/>
              </p:nvSpPr>
              <p:spPr>
                <a:xfrm>
                  <a:off x="1825726" y="4301276"/>
                  <a:ext cx="220337" cy="20932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DD2C7350-5519-EDD1-90FA-ABCEC8A55A4B}"/>
                    </a:ext>
                  </a:extLst>
                </p:cNvPr>
                <p:cNvSpPr/>
                <p:nvPr/>
              </p:nvSpPr>
              <p:spPr>
                <a:xfrm>
                  <a:off x="2745560" y="5153139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802512AD-899C-FC3F-CFA1-4610ABF9D831}"/>
                    </a:ext>
                  </a:extLst>
                </p:cNvPr>
                <p:cNvSpPr/>
                <p:nvPr/>
              </p:nvSpPr>
              <p:spPr>
                <a:xfrm>
                  <a:off x="2745560" y="1759058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7E329CBE-454A-087D-B770-0EF9D09C26C6}"/>
                    </a:ext>
                  </a:extLst>
                </p:cNvPr>
                <p:cNvSpPr/>
                <p:nvPr/>
              </p:nvSpPr>
              <p:spPr>
                <a:xfrm>
                  <a:off x="4398000" y="3017527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830FBFF3-FA1E-F912-D0D9-E66891872AD1}"/>
                    </a:ext>
                  </a:extLst>
                </p:cNvPr>
                <p:cNvSpPr/>
                <p:nvPr/>
              </p:nvSpPr>
              <p:spPr>
                <a:xfrm>
                  <a:off x="1069625" y="3811719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6649BBE1-A32C-2A0A-5C7C-9411A208361C}"/>
                    </a:ext>
                  </a:extLst>
                </p:cNvPr>
                <p:cNvSpPr/>
                <p:nvPr/>
              </p:nvSpPr>
              <p:spPr>
                <a:xfrm>
                  <a:off x="1464068" y="2328761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3719FFD7-0421-83D0-DE28-291F08E007C6}"/>
                    </a:ext>
                  </a:extLst>
                </p:cNvPr>
                <p:cNvSpPr/>
                <p:nvPr/>
              </p:nvSpPr>
              <p:spPr>
                <a:xfrm>
                  <a:off x="4074907" y="2330775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82307BB4-B79C-92EA-1DFB-24FF91651382}"/>
                    </a:ext>
                  </a:extLst>
                </p:cNvPr>
                <p:cNvSpPr/>
                <p:nvPr/>
              </p:nvSpPr>
              <p:spPr>
                <a:xfrm>
                  <a:off x="4060753" y="4544666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35E36164-BAF7-62A6-884A-28D0B231EB00}"/>
                    </a:ext>
                  </a:extLst>
                </p:cNvPr>
                <p:cNvSpPr/>
                <p:nvPr/>
              </p:nvSpPr>
              <p:spPr>
                <a:xfrm>
                  <a:off x="1935894" y="4963040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ACC96603-70BC-809F-4F49-F36DA38FB7DB}"/>
                    </a:ext>
                  </a:extLst>
                </p:cNvPr>
                <p:cNvSpPr/>
                <p:nvPr/>
              </p:nvSpPr>
              <p:spPr>
                <a:xfrm>
                  <a:off x="1430371" y="4544666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00AD5943-5F44-3F4A-D2B4-B6512DFD4DA6}"/>
                    </a:ext>
                  </a:extLst>
                </p:cNvPr>
                <p:cNvSpPr/>
                <p:nvPr/>
              </p:nvSpPr>
              <p:spPr>
                <a:xfrm>
                  <a:off x="4435432" y="3811719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DDDCAE32-8CAB-21BF-6DA2-28B3CBFB0645}"/>
                    </a:ext>
                  </a:extLst>
                </p:cNvPr>
                <p:cNvSpPr/>
                <p:nvPr/>
              </p:nvSpPr>
              <p:spPr>
                <a:xfrm>
                  <a:off x="3466337" y="1881711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BF2BBADD-3989-3656-7447-7D18D093FC2B}"/>
                    </a:ext>
                  </a:extLst>
                </p:cNvPr>
                <p:cNvSpPr/>
                <p:nvPr/>
              </p:nvSpPr>
              <p:spPr>
                <a:xfrm>
                  <a:off x="3555229" y="4963040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6EC5BBF6-57B3-D505-B164-15D246E95265}"/>
                    </a:ext>
                  </a:extLst>
                </p:cNvPr>
                <p:cNvSpPr/>
                <p:nvPr/>
              </p:nvSpPr>
              <p:spPr>
                <a:xfrm>
                  <a:off x="1093366" y="3017526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2E6B955-1099-533B-C975-F2B290E4A7B7}"/>
                    </a:ext>
                  </a:extLst>
                </p:cNvPr>
                <p:cNvSpPr/>
                <p:nvPr/>
              </p:nvSpPr>
              <p:spPr>
                <a:xfrm>
                  <a:off x="1936503" y="1918356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A75D3679-5015-47C3-3A60-B01C44F93D40}"/>
                    </a:ext>
                  </a:extLst>
                </p:cNvPr>
                <p:cNvSpPr/>
                <p:nvPr/>
              </p:nvSpPr>
              <p:spPr>
                <a:xfrm>
                  <a:off x="2745559" y="5588708"/>
                  <a:ext cx="220337" cy="20932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5" name="Donut 74">
                <a:extLst>
                  <a:ext uri="{FF2B5EF4-FFF2-40B4-BE49-F238E27FC236}">
                    <a16:creationId xmlns:a16="http://schemas.microsoft.com/office/drawing/2014/main" id="{7508F511-00C2-91C9-E3BD-A32ABA8BBBF8}"/>
                  </a:ext>
                </a:extLst>
              </p:cNvPr>
              <p:cNvSpPr/>
              <p:nvPr/>
            </p:nvSpPr>
            <p:spPr>
              <a:xfrm>
                <a:off x="7706267" y="2139992"/>
                <a:ext cx="2843784" cy="2842706"/>
              </a:xfrm>
              <a:prstGeom prst="donut">
                <a:avLst>
                  <a:gd name="adj" fmla="val 3690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0F1CFD6-F822-2D9D-435F-D8898D925132}"/>
                  </a:ext>
                </a:extLst>
              </p:cNvPr>
              <p:cNvSpPr/>
              <p:nvPr/>
            </p:nvSpPr>
            <p:spPr>
              <a:xfrm>
                <a:off x="9017990" y="1306672"/>
                <a:ext cx="220337" cy="20932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0E33AEE-F7DE-7FAC-A7B8-F57EEF344BE7}"/>
                </a:ext>
              </a:extLst>
            </p:cNvPr>
            <p:cNvSpPr txBox="1"/>
            <p:nvPr/>
          </p:nvSpPr>
          <p:spPr>
            <a:xfrm>
              <a:off x="4967575" y="2986416"/>
              <a:ext cx="2346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Core ECP</a:t>
              </a:r>
              <a:endParaRPr lang="en-US" b="1" baseline="30000" dirty="0">
                <a:solidFill>
                  <a:srgbClr val="FF0000"/>
                </a:solidFill>
              </a:endParaRP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808F2243-D2E4-5BF8-E3EE-0A3417441DB8}"/>
                </a:ext>
              </a:extLst>
            </p:cNvPr>
            <p:cNvCxnSpPr>
              <a:cxnSpLocks/>
            </p:cNvCxnSpPr>
            <p:nvPr/>
          </p:nvCxnSpPr>
          <p:spPr>
            <a:xfrm>
              <a:off x="6684023" y="3171082"/>
              <a:ext cx="1021955" cy="26878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89CDDC0B-7F4D-C8EB-CF4D-9B551D806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3651" y="1451147"/>
              <a:ext cx="961931" cy="302568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E87F6A4-BE4F-D106-A90A-61BD7E752476}"/>
                </a:ext>
              </a:extLst>
            </p:cNvPr>
            <p:cNvSpPr txBox="1"/>
            <p:nvPr/>
          </p:nvSpPr>
          <p:spPr>
            <a:xfrm>
              <a:off x="9531923" y="1213344"/>
              <a:ext cx="2346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Valence e</a:t>
              </a:r>
              <a:r>
                <a:rPr lang="en-US" b="1" baseline="30000" dirty="0"/>
                <a:t>-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1AB4D56E-167A-8439-2930-A7FA129CA029}"/>
              </a:ext>
            </a:extLst>
          </p:cNvPr>
          <p:cNvSpPr txBox="1"/>
          <p:nvPr/>
        </p:nvSpPr>
        <p:spPr>
          <a:xfrm>
            <a:off x="468086" y="4812337"/>
            <a:ext cx="1125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All-electron models treat core and valence electrons (e</a:t>
            </a:r>
            <a:r>
              <a:rPr lang="en-US" baseline="30000" dirty="0"/>
              <a:t>-</a:t>
            </a:r>
            <a:r>
              <a:rPr lang="en-US" dirty="0"/>
              <a:t>) equally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ECPs replace core e</a:t>
            </a:r>
            <a:r>
              <a:rPr lang="en-US" baseline="30000" dirty="0"/>
              <a:t>-</a:t>
            </a:r>
            <a:r>
              <a:rPr lang="en-US" dirty="0"/>
              <a:t> with a potential (approximation)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ECPs focus on the Valence e</a:t>
            </a:r>
            <a:r>
              <a:rPr lang="en-US" baseline="30000" dirty="0"/>
              <a:t>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computational cost of heavier atoms (ex. metals)</a:t>
            </a:r>
          </a:p>
        </p:txBody>
      </p:sp>
    </p:spTree>
    <p:extLst>
      <p:ext uri="{BB962C8B-B14F-4D97-AF65-F5344CB8AC3E}">
        <p14:creationId xmlns:p14="http://schemas.microsoft.com/office/powerpoint/2010/main" val="62627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F4C79A-7652-C3C8-B9CF-2E694293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Solvent Effects: Explicit Vs. Implicit Solvation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78C5D-81AE-7CFB-50EC-0A4269E3EF1D}"/>
              </a:ext>
            </a:extLst>
          </p:cNvPr>
          <p:cNvSpPr txBox="1"/>
          <p:nvPr/>
        </p:nvSpPr>
        <p:spPr>
          <a:xfrm>
            <a:off x="944884" y="1097727"/>
            <a:ext cx="234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Gas Phase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B472DF8D-8EA1-666D-2180-3FB98B8EEE99}"/>
              </a:ext>
            </a:extLst>
          </p:cNvPr>
          <p:cNvSpPr>
            <a:spLocks noChangeAspect="1"/>
          </p:cNvSpPr>
          <p:nvPr/>
        </p:nvSpPr>
        <p:spPr>
          <a:xfrm>
            <a:off x="350162" y="1467059"/>
            <a:ext cx="3536035" cy="2495341"/>
          </a:xfrm>
          <a:prstGeom prst="frame">
            <a:avLst>
              <a:gd name="adj1" fmla="val 26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8A497-C2ED-937B-472D-93E1BEC97306}"/>
              </a:ext>
            </a:extLst>
          </p:cNvPr>
          <p:cNvSpPr txBox="1"/>
          <p:nvPr/>
        </p:nvSpPr>
        <p:spPr>
          <a:xfrm>
            <a:off x="4915262" y="1097727"/>
            <a:ext cx="234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Explicit Solvation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01125EE-295E-DA81-E04D-4D1371C2DCAA}"/>
              </a:ext>
            </a:extLst>
          </p:cNvPr>
          <p:cNvSpPr>
            <a:spLocks noChangeAspect="1"/>
          </p:cNvSpPr>
          <p:nvPr/>
        </p:nvSpPr>
        <p:spPr>
          <a:xfrm>
            <a:off x="4320540" y="1467059"/>
            <a:ext cx="3536035" cy="2495341"/>
          </a:xfrm>
          <a:prstGeom prst="frame">
            <a:avLst>
              <a:gd name="adj1" fmla="val 26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8293A-0986-C282-D0CA-03D79FB5FDF1}"/>
              </a:ext>
            </a:extLst>
          </p:cNvPr>
          <p:cNvSpPr txBox="1"/>
          <p:nvPr/>
        </p:nvSpPr>
        <p:spPr>
          <a:xfrm>
            <a:off x="8885639" y="1097727"/>
            <a:ext cx="234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Implicit Solvation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266F50DB-C02D-86AD-22FB-D33CE82883CD}"/>
              </a:ext>
            </a:extLst>
          </p:cNvPr>
          <p:cNvSpPr>
            <a:spLocks noChangeAspect="1"/>
          </p:cNvSpPr>
          <p:nvPr/>
        </p:nvSpPr>
        <p:spPr>
          <a:xfrm>
            <a:off x="8290918" y="1467059"/>
            <a:ext cx="3536035" cy="2495341"/>
          </a:xfrm>
          <a:prstGeom prst="frame">
            <a:avLst>
              <a:gd name="adj1" fmla="val 26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F6C6BF-97AB-261B-D9C5-50C1FC6B09DC}"/>
              </a:ext>
            </a:extLst>
          </p:cNvPr>
          <p:cNvSpPr>
            <a:spLocks noChangeAspect="1"/>
          </p:cNvSpPr>
          <p:nvPr/>
        </p:nvSpPr>
        <p:spPr>
          <a:xfrm>
            <a:off x="1992257" y="2595103"/>
            <a:ext cx="251843" cy="2392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B21CCA-4662-BF30-5CD1-76F57813225D}"/>
              </a:ext>
            </a:extLst>
          </p:cNvPr>
          <p:cNvSpPr>
            <a:spLocks noChangeAspect="1"/>
          </p:cNvSpPr>
          <p:nvPr/>
        </p:nvSpPr>
        <p:spPr>
          <a:xfrm>
            <a:off x="5962635" y="2595103"/>
            <a:ext cx="251843" cy="2392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7BD001-F687-234B-1C25-D59D29CAF3E6}"/>
              </a:ext>
            </a:extLst>
          </p:cNvPr>
          <p:cNvSpPr/>
          <p:nvPr/>
        </p:nvSpPr>
        <p:spPr>
          <a:xfrm>
            <a:off x="4915262" y="3070689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408AAA-949E-05D5-BBA5-D091E5B18F75}"/>
              </a:ext>
            </a:extLst>
          </p:cNvPr>
          <p:cNvSpPr/>
          <p:nvPr/>
        </p:nvSpPr>
        <p:spPr>
          <a:xfrm>
            <a:off x="6104309" y="1954892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710E40-B5D3-3293-3F51-12E30F3B96C1}"/>
              </a:ext>
            </a:extLst>
          </p:cNvPr>
          <p:cNvSpPr/>
          <p:nvPr/>
        </p:nvSpPr>
        <p:spPr>
          <a:xfrm>
            <a:off x="6705021" y="283435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BC0ABC-D887-8823-610D-4485CD502085}"/>
              </a:ext>
            </a:extLst>
          </p:cNvPr>
          <p:cNvSpPr/>
          <p:nvPr/>
        </p:nvSpPr>
        <p:spPr>
          <a:xfrm>
            <a:off x="5361923" y="2490442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6FDCBB-C990-191B-BC6C-05A5119529A7}"/>
              </a:ext>
            </a:extLst>
          </p:cNvPr>
          <p:cNvSpPr/>
          <p:nvPr/>
        </p:nvSpPr>
        <p:spPr>
          <a:xfrm>
            <a:off x="6214477" y="328001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772D0E-22E3-7A74-D3BB-2292325CB848}"/>
              </a:ext>
            </a:extLst>
          </p:cNvPr>
          <p:cNvSpPr/>
          <p:nvPr/>
        </p:nvSpPr>
        <p:spPr>
          <a:xfrm>
            <a:off x="6999332" y="209391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E7264FE-BBD0-FB1B-1D5E-D4275391EC85}"/>
              </a:ext>
            </a:extLst>
          </p:cNvPr>
          <p:cNvSpPr/>
          <p:nvPr/>
        </p:nvSpPr>
        <p:spPr>
          <a:xfrm>
            <a:off x="5025430" y="209391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91FFFE7-3054-2B4B-274F-F137F687798D}"/>
              </a:ext>
            </a:extLst>
          </p:cNvPr>
          <p:cNvSpPr/>
          <p:nvPr/>
        </p:nvSpPr>
        <p:spPr>
          <a:xfrm>
            <a:off x="5472091" y="1821759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D3E68E-C4EA-E59D-D456-C5EE0EA175B5}"/>
              </a:ext>
            </a:extLst>
          </p:cNvPr>
          <p:cNvSpPr/>
          <p:nvPr/>
        </p:nvSpPr>
        <p:spPr>
          <a:xfrm>
            <a:off x="5564870" y="338467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FC33172-023A-FAE4-7425-B5E13D8F6DAC}"/>
              </a:ext>
            </a:extLst>
          </p:cNvPr>
          <p:cNvSpPr/>
          <p:nvPr/>
        </p:nvSpPr>
        <p:spPr>
          <a:xfrm>
            <a:off x="7151686" y="348933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C668C8-FDE9-4047-4F61-A5AE0F6D9880}"/>
              </a:ext>
            </a:extLst>
          </p:cNvPr>
          <p:cNvSpPr/>
          <p:nvPr/>
        </p:nvSpPr>
        <p:spPr>
          <a:xfrm>
            <a:off x="4661293" y="348933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F17A953-0FA0-E0C8-AA61-730A4E049B1E}"/>
              </a:ext>
            </a:extLst>
          </p:cNvPr>
          <p:cNvSpPr/>
          <p:nvPr/>
        </p:nvSpPr>
        <p:spPr>
          <a:xfrm>
            <a:off x="4551124" y="258988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AF1128-C76E-0309-146D-E059B447DC75}"/>
              </a:ext>
            </a:extLst>
          </p:cNvPr>
          <p:cNvSpPr/>
          <p:nvPr/>
        </p:nvSpPr>
        <p:spPr>
          <a:xfrm>
            <a:off x="5432066" y="2964434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E05A465-884B-F468-7186-92B7785EA8E7}"/>
              </a:ext>
            </a:extLst>
          </p:cNvPr>
          <p:cNvSpPr/>
          <p:nvPr/>
        </p:nvSpPr>
        <p:spPr>
          <a:xfrm>
            <a:off x="6513474" y="2360889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4F423A5-FEBB-B138-3817-25E94191272E}"/>
              </a:ext>
            </a:extLst>
          </p:cNvPr>
          <p:cNvSpPr/>
          <p:nvPr/>
        </p:nvSpPr>
        <p:spPr>
          <a:xfrm>
            <a:off x="7151686" y="2490442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410879-C068-9149-BD56-7CA7D1864386}"/>
              </a:ext>
            </a:extLst>
          </p:cNvPr>
          <p:cNvSpPr/>
          <p:nvPr/>
        </p:nvSpPr>
        <p:spPr>
          <a:xfrm>
            <a:off x="4637765" y="1714491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0910F6-D054-6A03-17C2-EE0A4F51FB3D}"/>
              </a:ext>
            </a:extLst>
          </p:cNvPr>
          <p:cNvSpPr/>
          <p:nvPr/>
        </p:nvSpPr>
        <p:spPr>
          <a:xfrm>
            <a:off x="6594852" y="1759946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43268D-004A-66D1-759E-D2E6CED9DF7C}"/>
              </a:ext>
            </a:extLst>
          </p:cNvPr>
          <p:cNvSpPr/>
          <p:nvPr/>
        </p:nvSpPr>
        <p:spPr>
          <a:xfrm>
            <a:off x="7280203" y="1678154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3258DD-50D7-94A0-C978-9BE6F66ABCEC}"/>
              </a:ext>
            </a:extLst>
          </p:cNvPr>
          <p:cNvSpPr/>
          <p:nvPr/>
        </p:nvSpPr>
        <p:spPr>
          <a:xfrm>
            <a:off x="5663216" y="2237458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CE19749-178B-B5C3-5C29-FC2D8062F5A6}"/>
              </a:ext>
            </a:extLst>
          </p:cNvPr>
          <p:cNvSpPr/>
          <p:nvPr/>
        </p:nvSpPr>
        <p:spPr>
          <a:xfrm>
            <a:off x="7261854" y="301626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CD50C23-DCD6-B4BF-A0C9-C355F20F477B}"/>
              </a:ext>
            </a:extLst>
          </p:cNvPr>
          <p:cNvSpPr/>
          <p:nvPr/>
        </p:nvSpPr>
        <p:spPr>
          <a:xfrm>
            <a:off x="6513474" y="3512938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ame 33">
            <a:extLst>
              <a:ext uri="{FF2B5EF4-FFF2-40B4-BE49-F238E27FC236}">
                <a16:creationId xmlns:a16="http://schemas.microsoft.com/office/drawing/2014/main" id="{DE82DCF8-0AFB-C135-4418-3C9535CFDF99}"/>
              </a:ext>
            </a:extLst>
          </p:cNvPr>
          <p:cNvSpPr/>
          <p:nvPr/>
        </p:nvSpPr>
        <p:spPr>
          <a:xfrm>
            <a:off x="8414657" y="1589314"/>
            <a:ext cx="3298372" cy="2264229"/>
          </a:xfrm>
          <a:prstGeom prst="frame">
            <a:avLst>
              <a:gd name="adj1" fmla="val 38942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4AD1FF-7119-D23D-B350-A12C300B0199}"/>
              </a:ext>
            </a:extLst>
          </p:cNvPr>
          <p:cNvSpPr/>
          <p:nvPr/>
        </p:nvSpPr>
        <p:spPr>
          <a:xfrm>
            <a:off x="9133114" y="2164213"/>
            <a:ext cx="789527" cy="12647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8F07BF-CBF9-9D06-F721-B6D5D6519901}"/>
              </a:ext>
            </a:extLst>
          </p:cNvPr>
          <p:cNvSpPr/>
          <p:nvPr/>
        </p:nvSpPr>
        <p:spPr>
          <a:xfrm>
            <a:off x="10199743" y="2179168"/>
            <a:ext cx="789527" cy="12647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01D357-7D78-595A-2C98-BEBB4B86FDB2}"/>
              </a:ext>
            </a:extLst>
          </p:cNvPr>
          <p:cNvSpPr/>
          <p:nvPr/>
        </p:nvSpPr>
        <p:spPr>
          <a:xfrm>
            <a:off x="9584840" y="2045051"/>
            <a:ext cx="789527" cy="12647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217C85-6649-A21C-4290-B020E6B70633}"/>
              </a:ext>
            </a:extLst>
          </p:cNvPr>
          <p:cNvSpPr>
            <a:spLocks noChangeAspect="1"/>
          </p:cNvSpPr>
          <p:nvPr/>
        </p:nvSpPr>
        <p:spPr>
          <a:xfrm>
            <a:off x="9933013" y="2595103"/>
            <a:ext cx="251843" cy="2392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256966-7400-6F56-C13A-29F89B20E4E8}"/>
              </a:ext>
            </a:extLst>
          </p:cNvPr>
          <p:cNvSpPr txBox="1"/>
          <p:nvPr/>
        </p:nvSpPr>
        <p:spPr>
          <a:xfrm>
            <a:off x="476395" y="4250942"/>
            <a:ext cx="112558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Simplest model: Gas Phase/ Vacuum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Chemistry not often in vacuum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Solvent can affect: Geometry, charge distribution, energy barriers, spectra, binding energies,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Explicit Solvent: Includes solvent molecules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Good for hydrogen bonding, coordination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Expensive</a:t>
            </a:r>
          </a:p>
        </p:txBody>
      </p:sp>
    </p:spTree>
    <p:extLst>
      <p:ext uri="{BB962C8B-B14F-4D97-AF65-F5344CB8AC3E}">
        <p14:creationId xmlns:p14="http://schemas.microsoft.com/office/powerpoint/2010/main" val="365702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C104-7EE7-3450-64A0-6059D8CF0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A7C44-255B-30CF-999D-07078468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Solvent Effects: Explicit Vs. Implicit Solvation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92732-7901-5CB4-8D91-50AB6128A630}"/>
              </a:ext>
            </a:extLst>
          </p:cNvPr>
          <p:cNvSpPr txBox="1"/>
          <p:nvPr/>
        </p:nvSpPr>
        <p:spPr>
          <a:xfrm>
            <a:off x="944884" y="1097727"/>
            <a:ext cx="234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Gas Phase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D0CB9E2-C8F1-DE9D-9F4D-70001BC1FB89}"/>
              </a:ext>
            </a:extLst>
          </p:cNvPr>
          <p:cNvSpPr>
            <a:spLocks noChangeAspect="1"/>
          </p:cNvSpPr>
          <p:nvPr/>
        </p:nvSpPr>
        <p:spPr>
          <a:xfrm>
            <a:off x="350162" y="1467059"/>
            <a:ext cx="3536035" cy="2495341"/>
          </a:xfrm>
          <a:prstGeom prst="frame">
            <a:avLst>
              <a:gd name="adj1" fmla="val 26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D1F36-1777-3822-A04C-0C3AC8D41C31}"/>
              </a:ext>
            </a:extLst>
          </p:cNvPr>
          <p:cNvSpPr txBox="1"/>
          <p:nvPr/>
        </p:nvSpPr>
        <p:spPr>
          <a:xfrm>
            <a:off x="4915262" y="1097727"/>
            <a:ext cx="234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Explicit Solvation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26A58923-94CD-F456-8F47-08F00FC11B50}"/>
              </a:ext>
            </a:extLst>
          </p:cNvPr>
          <p:cNvSpPr>
            <a:spLocks noChangeAspect="1"/>
          </p:cNvSpPr>
          <p:nvPr/>
        </p:nvSpPr>
        <p:spPr>
          <a:xfrm>
            <a:off x="4320540" y="1467059"/>
            <a:ext cx="3536035" cy="2495341"/>
          </a:xfrm>
          <a:prstGeom prst="frame">
            <a:avLst>
              <a:gd name="adj1" fmla="val 26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54D29-A804-29A5-7B59-6594E2E6DA63}"/>
              </a:ext>
            </a:extLst>
          </p:cNvPr>
          <p:cNvSpPr txBox="1"/>
          <p:nvPr/>
        </p:nvSpPr>
        <p:spPr>
          <a:xfrm>
            <a:off x="8885639" y="1097727"/>
            <a:ext cx="234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Implicit Solvation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20CBAC52-02E4-9B71-1F55-C513FB2CD287}"/>
              </a:ext>
            </a:extLst>
          </p:cNvPr>
          <p:cNvSpPr>
            <a:spLocks noChangeAspect="1"/>
          </p:cNvSpPr>
          <p:nvPr/>
        </p:nvSpPr>
        <p:spPr>
          <a:xfrm>
            <a:off x="8290918" y="1467059"/>
            <a:ext cx="3536035" cy="2495341"/>
          </a:xfrm>
          <a:prstGeom prst="frame">
            <a:avLst>
              <a:gd name="adj1" fmla="val 26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167224-672F-9B09-E4A1-E482C95F9422}"/>
              </a:ext>
            </a:extLst>
          </p:cNvPr>
          <p:cNvSpPr>
            <a:spLocks noChangeAspect="1"/>
          </p:cNvSpPr>
          <p:nvPr/>
        </p:nvSpPr>
        <p:spPr>
          <a:xfrm>
            <a:off x="1992257" y="2595103"/>
            <a:ext cx="251843" cy="2392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895BFA-9905-8E10-2170-8DFB2905916A}"/>
              </a:ext>
            </a:extLst>
          </p:cNvPr>
          <p:cNvSpPr>
            <a:spLocks noChangeAspect="1"/>
          </p:cNvSpPr>
          <p:nvPr/>
        </p:nvSpPr>
        <p:spPr>
          <a:xfrm>
            <a:off x="5962635" y="2595103"/>
            <a:ext cx="251843" cy="2392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53004E-3FE2-2B02-D69A-7A58EC3E14F7}"/>
              </a:ext>
            </a:extLst>
          </p:cNvPr>
          <p:cNvSpPr/>
          <p:nvPr/>
        </p:nvSpPr>
        <p:spPr>
          <a:xfrm>
            <a:off x="4915262" y="3070689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840059-F13E-51BE-A776-7C7BE03BA74E}"/>
              </a:ext>
            </a:extLst>
          </p:cNvPr>
          <p:cNvSpPr/>
          <p:nvPr/>
        </p:nvSpPr>
        <p:spPr>
          <a:xfrm>
            <a:off x="6104309" y="1954892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37405B-5898-279A-1137-DAFAC58D021C}"/>
              </a:ext>
            </a:extLst>
          </p:cNvPr>
          <p:cNvSpPr/>
          <p:nvPr/>
        </p:nvSpPr>
        <p:spPr>
          <a:xfrm>
            <a:off x="6705021" y="283435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ECD2C6-EF67-4E13-A65A-30BF7856279C}"/>
              </a:ext>
            </a:extLst>
          </p:cNvPr>
          <p:cNvSpPr/>
          <p:nvPr/>
        </p:nvSpPr>
        <p:spPr>
          <a:xfrm>
            <a:off x="5361923" y="2490442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6A4A5A-F882-2694-4FA9-D27E4E754139}"/>
              </a:ext>
            </a:extLst>
          </p:cNvPr>
          <p:cNvSpPr/>
          <p:nvPr/>
        </p:nvSpPr>
        <p:spPr>
          <a:xfrm>
            <a:off x="6214477" y="328001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9DCEE6-481E-1FFB-E0CC-54EEB5CF19AC}"/>
              </a:ext>
            </a:extLst>
          </p:cNvPr>
          <p:cNvSpPr/>
          <p:nvPr/>
        </p:nvSpPr>
        <p:spPr>
          <a:xfrm>
            <a:off x="6999332" y="209391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E0604A-5A11-2450-23DF-8F45A4F1D468}"/>
              </a:ext>
            </a:extLst>
          </p:cNvPr>
          <p:cNvSpPr/>
          <p:nvPr/>
        </p:nvSpPr>
        <p:spPr>
          <a:xfrm>
            <a:off x="5025430" y="209391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FBE3A6-F333-6B17-12AD-A4E512B8B9BC}"/>
              </a:ext>
            </a:extLst>
          </p:cNvPr>
          <p:cNvSpPr/>
          <p:nvPr/>
        </p:nvSpPr>
        <p:spPr>
          <a:xfrm>
            <a:off x="5472091" y="1821759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A070D0-3BED-24B2-D010-322E1F204ABA}"/>
              </a:ext>
            </a:extLst>
          </p:cNvPr>
          <p:cNvSpPr/>
          <p:nvPr/>
        </p:nvSpPr>
        <p:spPr>
          <a:xfrm>
            <a:off x="5564870" y="338467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1EF7EC-029F-1CC3-22AF-34DF1C3DC46F}"/>
              </a:ext>
            </a:extLst>
          </p:cNvPr>
          <p:cNvSpPr/>
          <p:nvPr/>
        </p:nvSpPr>
        <p:spPr>
          <a:xfrm>
            <a:off x="7151686" y="348933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2CB1D2-6D0B-5DEB-E030-FCC237DF1B4B}"/>
              </a:ext>
            </a:extLst>
          </p:cNvPr>
          <p:cNvSpPr/>
          <p:nvPr/>
        </p:nvSpPr>
        <p:spPr>
          <a:xfrm>
            <a:off x="4661293" y="348933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5E5EDD8-8741-FBAF-C1B5-1993D4EA5489}"/>
              </a:ext>
            </a:extLst>
          </p:cNvPr>
          <p:cNvSpPr/>
          <p:nvPr/>
        </p:nvSpPr>
        <p:spPr>
          <a:xfrm>
            <a:off x="4551124" y="2589885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CB4B186-0E25-0B49-50FA-697D9D92B11D}"/>
              </a:ext>
            </a:extLst>
          </p:cNvPr>
          <p:cNvSpPr/>
          <p:nvPr/>
        </p:nvSpPr>
        <p:spPr>
          <a:xfrm>
            <a:off x="5432066" y="2964434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1AA61AD-7F61-1E2E-E062-9FFC3436D13B}"/>
              </a:ext>
            </a:extLst>
          </p:cNvPr>
          <p:cNvSpPr/>
          <p:nvPr/>
        </p:nvSpPr>
        <p:spPr>
          <a:xfrm>
            <a:off x="6513474" y="2360889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3F9A7F-E5E0-B309-96C0-F463A564A477}"/>
              </a:ext>
            </a:extLst>
          </p:cNvPr>
          <p:cNvSpPr/>
          <p:nvPr/>
        </p:nvSpPr>
        <p:spPr>
          <a:xfrm>
            <a:off x="7151686" y="2490442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4358D8D-6B57-246E-54C9-7D365E1E9529}"/>
              </a:ext>
            </a:extLst>
          </p:cNvPr>
          <p:cNvSpPr/>
          <p:nvPr/>
        </p:nvSpPr>
        <p:spPr>
          <a:xfrm>
            <a:off x="4637765" y="1714491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BC96160-DDFC-F7E9-86C7-5BE606845C3C}"/>
              </a:ext>
            </a:extLst>
          </p:cNvPr>
          <p:cNvSpPr/>
          <p:nvPr/>
        </p:nvSpPr>
        <p:spPr>
          <a:xfrm>
            <a:off x="6594852" y="1759946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23EC379-8803-AA6B-2450-EE88BD2E8FBA}"/>
              </a:ext>
            </a:extLst>
          </p:cNvPr>
          <p:cNvSpPr/>
          <p:nvPr/>
        </p:nvSpPr>
        <p:spPr>
          <a:xfrm>
            <a:off x="7280203" y="1678154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5C2B53-61B1-B0C3-0F96-3009A04972C4}"/>
              </a:ext>
            </a:extLst>
          </p:cNvPr>
          <p:cNvSpPr/>
          <p:nvPr/>
        </p:nvSpPr>
        <p:spPr>
          <a:xfrm>
            <a:off x="5663216" y="2237458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A57CFC8-72EA-5094-1AD6-71382C8B0EE7}"/>
              </a:ext>
            </a:extLst>
          </p:cNvPr>
          <p:cNvSpPr/>
          <p:nvPr/>
        </p:nvSpPr>
        <p:spPr>
          <a:xfrm>
            <a:off x="7261854" y="3016260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8910768-663E-23FA-FEBB-FC93407FBE78}"/>
              </a:ext>
            </a:extLst>
          </p:cNvPr>
          <p:cNvSpPr/>
          <p:nvPr/>
        </p:nvSpPr>
        <p:spPr>
          <a:xfrm>
            <a:off x="6513474" y="3512938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ame 33">
            <a:extLst>
              <a:ext uri="{FF2B5EF4-FFF2-40B4-BE49-F238E27FC236}">
                <a16:creationId xmlns:a16="http://schemas.microsoft.com/office/drawing/2014/main" id="{85DEBEAE-59D7-9946-2247-5C12BB054EA6}"/>
              </a:ext>
            </a:extLst>
          </p:cNvPr>
          <p:cNvSpPr/>
          <p:nvPr/>
        </p:nvSpPr>
        <p:spPr>
          <a:xfrm>
            <a:off x="8414657" y="1589314"/>
            <a:ext cx="3298372" cy="2264229"/>
          </a:xfrm>
          <a:prstGeom prst="frame">
            <a:avLst>
              <a:gd name="adj1" fmla="val 38942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A55540-2F30-69D9-85C5-BB5B3D97FC7D}"/>
              </a:ext>
            </a:extLst>
          </p:cNvPr>
          <p:cNvSpPr/>
          <p:nvPr/>
        </p:nvSpPr>
        <p:spPr>
          <a:xfrm>
            <a:off x="9133114" y="2164213"/>
            <a:ext cx="789527" cy="12647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9A9FB7-B139-6490-B16C-823722DBFDFF}"/>
              </a:ext>
            </a:extLst>
          </p:cNvPr>
          <p:cNvSpPr/>
          <p:nvPr/>
        </p:nvSpPr>
        <p:spPr>
          <a:xfrm>
            <a:off x="10199743" y="2179168"/>
            <a:ext cx="789527" cy="12647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663214-C687-57E0-5493-27D17916B368}"/>
              </a:ext>
            </a:extLst>
          </p:cNvPr>
          <p:cNvSpPr/>
          <p:nvPr/>
        </p:nvSpPr>
        <p:spPr>
          <a:xfrm>
            <a:off x="9584840" y="2045051"/>
            <a:ext cx="789527" cy="12647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5EBC68A-E136-2426-2335-36881CB18CCA}"/>
              </a:ext>
            </a:extLst>
          </p:cNvPr>
          <p:cNvSpPr>
            <a:spLocks noChangeAspect="1"/>
          </p:cNvSpPr>
          <p:nvPr/>
        </p:nvSpPr>
        <p:spPr>
          <a:xfrm>
            <a:off x="9933013" y="2595103"/>
            <a:ext cx="251843" cy="2392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4237B0-6F3D-FFE5-DB3A-9F8C143CB390}"/>
              </a:ext>
            </a:extLst>
          </p:cNvPr>
          <p:cNvSpPr txBox="1"/>
          <p:nvPr/>
        </p:nvSpPr>
        <p:spPr>
          <a:xfrm>
            <a:off x="476395" y="4250942"/>
            <a:ext cx="112558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Simplest model: Gas Phase/ Vacuum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Chemistry not often in vacuum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Solvent can affect: Geometry, charge distribution, energy barriers, spectra, binding energies,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Implicit Solvent: Treat solvent as a continuous medium (PCM, SMD)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Captures bulk solvent effects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Inexpensive</a:t>
            </a:r>
          </a:p>
        </p:txBody>
      </p:sp>
    </p:spTree>
    <p:extLst>
      <p:ext uri="{BB962C8B-B14F-4D97-AF65-F5344CB8AC3E}">
        <p14:creationId xmlns:p14="http://schemas.microsoft.com/office/powerpoint/2010/main" val="1998006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DBC737-30B0-633B-CF16-2916FA11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Energy Surface Model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508A4DA-757D-E1CE-8E8C-6908D38D4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91091" y="1143000"/>
            <a:ext cx="62103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DB2990-9F1E-1388-31CF-38DE2B5ACA81}"/>
              </a:ext>
            </a:extLst>
          </p:cNvPr>
          <p:cNvSpPr txBox="1"/>
          <p:nvPr/>
        </p:nvSpPr>
        <p:spPr>
          <a:xfrm>
            <a:off x="350165" y="930470"/>
            <a:ext cx="53675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 Energy Surface (PES):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Ground State PES (S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Energy changes as a function of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Minima: energy wells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Global vs. Local Minima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Transition State (TS):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Maxima between two minima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is a 2D 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Molecules have 3N-6 Dimensionality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 = # of atoms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50CD10-068A-559B-433D-21745F3872F7}"/>
              </a:ext>
            </a:extLst>
          </p:cNvPr>
          <p:cNvSpPr/>
          <p:nvPr/>
        </p:nvSpPr>
        <p:spPr>
          <a:xfrm>
            <a:off x="7910111" y="4781320"/>
            <a:ext cx="220337" cy="2093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3A97E-A02B-E3A2-1C85-7F957CB9A1A9}"/>
              </a:ext>
            </a:extLst>
          </p:cNvPr>
          <p:cNvSpPr/>
          <p:nvPr/>
        </p:nvSpPr>
        <p:spPr>
          <a:xfrm>
            <a:off x="10847939" y="4014448"/>
            <a:ext cx="220337" cy="2093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DBDA4-1698-AF39-272F-F8DD1D301790}"/>
              </a:ext>
            </a:extLst>
          </p:cNvPr>
          <p:cNvSpPr txBox="1"/>
          <p:nvPr/>
        </p:nvSpPr>
        <p:spPr>
          <a:xfrm>
            <a:off x="7565833" y="4119108"/>
            <a:ext cx="908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Min.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A998F-4BCE-F50D-5B0E-49D130F0FB60}"/>
              </a:ext>
            </a:extLst>
          </p:cNvPr>
          <p:cNvSpPr txBox="1"/>
          <p:nvPr/>
        </p:nvSpPr>
        <p:spPr>
          <a:xfrm>
            <a:off x="10503663" y="4264312"/>
            <a:ext cx="908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Local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Min.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369011-4602-65CF-1AA9-A473EE0EDD6C}"/>
              </a:ext>
            </a:extLst>
          </p:cNvPr>
          <p:cNvSpPr txBox="1"/>
          <p:nvPr/>
        </p:nvSpPr>
        <p:spPr>
          <a:xfrm>
            <a:off x="11749489" y="1958915"/>
            <a:ext cx="589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</a:t>
            </a:r>
            <a:r>
              <a:rPr lang="en-US" sz="2400" b="1" baseline="-25000" dirty="0"/>
              <a:t>0</a:t>
            </a:r>
            <a:endParaRPr lang="en-US" sz="2400" b="1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857749-5B4F-B601-DFA0-A4DC9626C40C}"/>
              </a:ext>
            </a:extLst>
          </p:cNvPr>
          <p:cNvSpPr/>
          <p:nvPr/>
        </p:nvSpPr>
        <p:spPr>
          <a:xfrm>
            <a:off x="9571822" y="2972717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99C9D4-B605-92D4-D629-7DD20399E392}"/>
              </a:ext>
            </a:extLst>
          </p:cNvPr>
          <p:cNvSpPr txBox="1"/>
          <p:nvPr/>
        </p:nvSpPr>
        <p:spPr>
          <a:xfrm>
            <a:off x="9227544" y="2538187"/>
            <a:ext cx="908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TS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639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FDECBE-FCB3-E89D-4B0B-238AE7B2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Point Energy Calculation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8156DF8-8EF6-31CD-4323-3444222D3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91091" y="1143000"/>
            <a:ext cx="62103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BBA3717-6AD7-2C34-EBAE-A5EEBCEF1630}"/>
              </a:ext>
            </a:extLst>
          </p:cNvPr>
          <p:cNvSpPr/>
          <p:nvPr/>
        </p:nvSpPr>
        <p:spPr>
          <a:xfrm>
            <a:off x="6981003" y="3423491"/>
            <a:ext cx="220337" cy="209321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538DE-0DCC-461A-D582-9B578718260A}"/>
              </a:ext>
            </a:extLst>
          </p:cNvPr>
          <p:cNvSpPr txBox="1"/>
          <p:nvPr/>
        </p:nvSpPr>
        <p:spPr>
          <a:xfrm>
            <a:off x="11749489" y="1958915"/>
            <a:ext cx="589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</a:t>
            </a:r>
            <a:r>
              <a:rPr lang="en-US" sz="2400" b="1" baseline="-25000" dirty="0"/>
              <a:t>0</a:t>
            </a:r>
            <a:endParaRPr 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53EE47-A413-F797-8329-73EF4AB58566}"/>
              </a:ext>
            </a:extLst>
          </p:cNvPr>
          <p:cNvSpPr/>
          <p:nvPr/>
        </p:nvSpPr>
        <p:spPr>
          <a:xfrm>
            <a:off x="9259658" y="3113182"/>
            <a:ext cx="220337" cy="20932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832E8-0F72-0569-A064-130AC23A75F9}"/>
              </a:ext>
            </a:extLst>
          </p:cNvPr>
          <p:cNvSpPr txBox="1"/>
          <p:nvPr/>
        </p:nvSpPr>
        <p:spPr>
          <a:xfrm>
            <a:off x="6852348" y="2894676"/>
            <a:ext cx="126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Structure #1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7FAB70-6814-5B11-A122-1180AD62227B}"/>
              </a:ext>
            </a:extLst>
          </p:cNvPr>
          <p:cNvSpPr txBox="1"/>
          <p:nvPr/>
        </p:nvSpPr>
        <p:spPr>
          <a:xfrm>
            <a:off x="8736284" y="2466851"/>
            <a:ext cx="126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Structure #2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1E1A5DE-F9DE-628C-4345-15361556A763}"/>
              </a:ext>
            </a:extLst>
          </p:cNvPr>
          <p:cNvSpPr/>
          <p:nvPr/>
        </p:nvSpPr>
        <p:spPr>
          <a:xfrm>
            <a:off x="10513745" y="3794391"/>
            <a:ext cx="220337" cy="2093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E100A-2FBD-5395-2DD2-DA33B77A3A0A}"/>
              </a:ext>
            </a:extLst>
          </p:cNvPr>
          <p:cNvSpPr txBox="1"/>
          <p:nvPr/>
        </p:nvSpPr>
        <p:spPr>
          <a:xfrm>
            <a:off x="9990371" y="4157336"/>
            <a:ext cx="126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Structure #3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73F32B-F742-DD8D-90B1-705F5F0DB0B6}"/>
              </a:ext>
            </a:extLst>
          </p:cNvPr>
          <p:cNvSpPr txBox="1"/>
          <p:nvPr/>
        </p:nvSpPr>
        <p:spPr>
          <a:xfrm>
            <a:off x="486002" y="1647653"/>
            <a:ext cx="53675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Computes energy at fixed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Answers: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“What is the energy at this exact molecular conformation”</a:t>
            </a:r>
          </a:p>
          <a:p>
            <a:pPr lvl="1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Comparatively cheap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Molecules have 3N-6 Dimensionality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Increase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Increased dimensionality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Increased # of conformers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44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3EAD80-EA60-4303-AA03-3F33948B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 Optimization, Energy </a:t>
            </a:r>
            <a:r>
              <a:rPr lang="en-US" dirty="0" err="1"/>
              <a:t>Minimzation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8B28C29-740C-B309-1AA0-BC4A6ED7C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91091" y="1143000"/>
            <a:ext cx="6210300" cy="4572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D04062F-F877-6E07-CE52-B9E60A939BF0}"/>
              </a:ext>
            </a:extLst>
          </p:cNvPr>
          <p:cNvSpPr/>
          <p:nvPr/>
        </p:nvSpPr>
        <p:spPr>
          <a:xfrm>
            <a:off x="6981003" y="3423491"/>
            <a:ext cx="220337" cy="209321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4BCC4-D5CD-3B58-D441-6DD5D1411913}"/>
              </a:ext>
            </a:extLst>
          </p:cNvPr>
          <p:cNvSpPr txBox="1"/>
          <p:nvPr/>
        </p:nvSpPr>
        <p:spPr>
          <a:xfrm>
            <a:off x="11749489" y="1958915"/>
            <a:ext cx="589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</a:t>
            </a:r>
            <a:r>
              <a:rPr lang="en-US" sz="2400" b="1" baseline="-25000" dirty="0"/>
              <a:t>0</a:t>
            </a:r>
            <a:endParaRPr lang="en-US" sz="24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478ADC-CF8B-56AE-CEC5-9FE0C0C4DAE2}"/>
              </a:ext>
            </a:extLst>
          </p:cNvPr>
          <p:cNvSpPr/>
          <p:nvPr/>
        </p:nvSpPr>
        <p:spPr>
          <a:xfrm>
            <a:off x="9259658" y="3113182"/>
            <a:ext cx="220337" cy="20932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B3105-6D43-5E88-5F88-0816A6C44B0C}"/>
              </a:ext>
            </a:extLst>
          </p:cNvPr>
          <p:cNvSpPr txBox="1"/>
          <p:nvPr/>
        </p:nvSpPr>
        <p:spPr>
          <a:xfrm>
            <a:off x="6852348" y="2894676"/>
            <a:ext cx="126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Structure #1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41640-4565-338E-9351-B8B2675FA74D}"/>
              </a:ext>
            </a:extLst>
          </p:cNvPr>
          <p:cNvSpPr txBox="1"/>
          <p:nvPr/>
        </p:nvSpPr>
        <p:spPr>
          <a:xfrm>
            <a:off x="8736284" y="2466851"/>
            <a:ext cx="126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Structure #2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0ABD23-915F-E231-68AE-23BC41380DC5}"/>
              </a:ext>
            </a:extLst>
          </p:cNvPr>
          <p:cNvSpPr/>
          <p:nvPr/>
        </p:nvSpPr>
        <p:spPr>
          <a:xfrm>
            <a:off x="10403575" y="3698151"/>
            <a:ext cx="220337" cy="20932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02B951-886E-E806-AC10-A06F542B922C}"/>
              </a:ext>
            </a:extLst>
          </p:cNvPr>
          <p:cNvSpPr txBox="1"/>
          <p:nvPr/>
        </p:nvSpPr>
        <p:spPr>
          <a:xfrm>
            <a:off x="9533112" y="3900603"/>
            <a:ext cx="126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Structure #3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EB79F3-A0EB-E0DA-A67A-D552A86E2470}"/>
              </a:ext>
            </a:extLst>
          </p:cNvPr>
          <p:cNvSpPr/>
          <p:nvPr/>
        </p:nvSpPr>
        <p:spPr>
          <a:xfrm>
            <a:off x="7910111" y="4781320"/>
            <a:ext cx="220337" cy="2093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49A11A-E563-09FE-4016-B2E520F3CD18}"/>
              </a:ext>
            </a:extLst>
          </p:cNvPr>
          <p:cNvSpPr/>
          <p:nvPr/>
        </p:nvSpPr>
        <p:spPr>
          <a:xfrm>
            <a:off x="10847939" y="4014448"/>
            <a:ext cx="220337" cy="2093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65134-4FA7-3C5C-B2E6-059DED701720}"/>
              </a:ext>
            </a:extLst>
          </p:cNvPr>
          <p:cNvSpPr txBox="1"/>
          <p:nvPr/>
        </p:nvSpPr>
        <p:spPr>
          <a:xfrm>
            <a:off x="8350767" y="4562814"/>
            <a:ext cx="908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Min.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964B0A-320E-9B8A-6E0B-65A9CEA5A04F}"/>
              </a:ext>
            </a:extLst>
          </p:cNvPr>
          <p:cNvSpPr txBox="1"/>
          <p:nvPr/>
        </p:nvSpPr>
        <p:spPr>
          <a:xfrm>
            <a:off x="10503663" y="4264312"/>
            <a:ext cx="908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Local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Min.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38FE1E-7317-2187-775B-87A9AEA0DB1A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099235" y="3534298"/>
            <a:ext cx="843144" cy="1277676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2DC024-DD94-D4DE-C7C3-A41ED37A751C}"/>
              </a:ext>
            </a:extLst>
          </p:cNvPr>
          <p:cNvCxnSpPr>
            <a:cxnSpLocks/>
            <a:stCxn id="7" idx="3"/>
            <a:endCxn id="12" idx="7"/>
          </p:cNvCxnSpPr>
          <p:nvPr/>
        </p:nvCxnSpPr>
        <p:spPr>
          <a:xfrm flipH="1">
            <a:off x="8098180" y="3291849"/>
            <a:ext cx="1193746" cy="152012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BCEF7F-9840-AC70-C054-0C40B5924A03}"/>
              </a:ext>
            </a:extLst>
          </p:cNvPr>
          <p:cNvCxnSpPr>
            <a:cxnSpLocks/>
            <a:stCxn id="10" idx="6"/>
            <a:endCxn id="13" idx="1"/>
          </p:cNvCxnSpPr>
          <p:nvPr/>
        </p:nvCxnSpPr>
        <p:spPr>
          <a:xfrm>
            <a:off x="10623912" y="3802812"/>
            <a:ext cx="256295" cy="24229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832AD31-43C6-2074-C5F8-6AE7132A08F7}"/>
              </a:ext>
            </a:extLst>
          </p:cNvPr>
          <p:cNvSpPr txBox="1"/>
          <p:nvPr/>
        </p:nvSpPr>
        <p:spPr>
          <a:xfrm>
            <a:off x="486002" y="1647653"/>
            <a:ext cx="53675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Change Molecular Conformation to achieve lower energies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Descend shape of 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Stop when optimization reaches an energy minimum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Finds a minimum energy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Global Minimum not </a:t>
            </a:r>
            <a:r>
              <a:rPr lang="en-US" b="1" dirty="0" err="1"/>
              <a:t>guarenteed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08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1C39-F400-6A4F-24D6-ADA59BC7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FF09C-A1F7-00D5-83DA-D3993FAB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Frequency/Hessian Calculations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9BCC754-CE59-8469-4445-830051B7B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91091" y="1143000"/>
            <a:ext cx="6210300" cy="4572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2BEE6F4-D5B5-C914-F1BD-31FAA0F94CF9}"/>
              </a:ext>
            </a:extLst>
          </p:cNvPr>
          <p:cNvSpPr/>
          <p:nvPr/>
        </p:nvSpPr>
        <p:spPr>
          <a:xfrm>
            <a:off x="7910111" y="4781320"/>
            <a:ext cx="220337" cy="2093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010037-660C-9263-85A7-3144094272F7}"/>
              </a:ext>
            </a:extLst>
          </p:cNvPr>
          <p:cNvSpPr/>
          <p:nvPr/>
        </p:nvSpPr>
        <p:spPr>
          <a:xfrm>
            <a:off x="10847939" y="4014448"/>
            <a:ext cx="220337" cy="2093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38528-1EB4-F4B3-3DD6-48ECA1C06E3A}"/>
              </a:ext>
            </a:extLst>
          </p:cNvPr>
          <p:cNvSpPr txBox="1"/>
          <p:nvPr/>
        </p:nvSpPr>
        <p:spPr>
          <a:xfrm>
            <a:off x="7117921" y="3857990"/>
            <a:ext cx="18047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Min.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0 Imaginary </a:t>
            </a:r>
            <a:r>
              <a:rPr lang="en-US" sz="1600" b="1" dirty="0" err="1">
                <a:solidFill>
                  <a:srgbClr val="FF0000"/>
                </a:solidFill>
              </a:rPr>
              <a:t>Freqs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A596A-1438-E49D-F708-F7D2DF6667DA}"/>
              </a:ext>
            </a:extLst>
          </p:cNvPr>
          <p:cNvSpPr txBox="1"/>
          <p:nvPr/>
        </p:nvSpPr>
        <p:spPr>
          <a:xfrm>
            <a:off x="10109243" y="4227322"/>
            <a:ext cx="1697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Min.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0 Imaginary </a:t>
            </a:r>
            <a:r>
              <a:rPr lang="en-US" b="1" dirty="0" err="1">
                <a:solidFill>
                  <a:srgbClr val="FF0000"/>
                </a:solidFill>
              </a:rPr>
              <a:t>Freqs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A26BE1-97CD-1224-23ED-2D00CC4B8DA3}"/>
              </a:ext>
            </a:extLst>
          </p:cNvPr>
          <p:cNvSpPr/>
          <p:nvPr/>
        </p:nvSpPr>
        <p:spPr>
          <a:xfrm>
            <a:off x="9571822" y="2972717"/>
            <a:ext cx="220337" cy="20932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573F3-638F-2933-8FA5-DBDA993CCA0C}"/>
              </a:ext>
            </a:extLst>
          </p:cNvPr>
          <p:cNvSpPr txBox="1"/>
          <p:nvPr/>
        </p:nvSpPr>
        <p:spPr>
          <a:xfrm>
            <a:off x="8833126" y="2118298"/>
            <a:ext cx="1697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TS</a:t>
            </a:r>
          </a:p>
          <a:p>
            <a:pPr algn="ctr"/>
            <a:r>
              <a:rPr lang="en-US" sz="1600" b="1" dirty="0">
                <a:solidFill>
                  <a:srgbClr val="0070C0"/>
                </a:solidFill>
              </a:rPr>
              <a:t>1 Imaginary </a:t>
            </a:r>
            <a:r>
              <a:rPr lang="en-US" sz="1600" b="1" dirty="0" err="1">
                <a:solidFill>
                  <a:srgbClr val="0070C0"/>
                </a:solidFill>
              </a:rPr>
              <a:t>Freqs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24F1A3-5D94-5490-6555-B9D25DE0DCB2}"/>
              </a:ext>
            </a:extLst>
          </p:cNvPr>
          <p:cNvSpPr/>
          <p:nvPr/>
        </p:nvSpPr>
        <p:spPr>
          <a:xfrm>
            <a:off x="6981003" y="3423491"/>
            <a:ext cx="220337" cy="209321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5DD7E2-BA1F-9E09-2006-653D242BE4A3}"/>
              </a:ext>
            </a:extLst>
          </p:cNvPr>
          <p:cNvSpPr/>
          <p:nvPr/>
        </p:nvSpPr>
        <p:spPr>
          <a:xfrm>
            <a:off x="9029241" y="3366570"/>
            <a:ext cx="220337" cy="20932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0FE868-868E-D403-629C-6884C4B2D0C9}"/>
              </a:ext>
            </a:extLst>
          </p:cNvPr>
          <p:cNvSpPr txBox="1"/>
          <p:nvPr/>
        </p:nvSpPr>
        <p:spPr>
          <a:xfrm>
            <a:off x="7392321" y="2831977"/>
            <a:ext cx="1476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&gt;1 Imaginary </a:t>
            </a:r>
            <a:r>
              <a:rPr lang="en-US" sz="1600" b="1" dirty="0" err="1"/>
              <a:t>Freqs</a:t>
            </a:r>
            <a:endParaRPr lang="en-US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C40C62-657F-0563-CBF5-1A30C3350285}"/>
              </a:ext>
            </a:extLst>
          </p:cNvPr>
          <p:cNvCxnSpPr>
            <a:cxnSpLocks/>
          </p:cNvCxnSpPr>
          <p:nvPr/>
        </p:nvCxnSpPr>
        <p:spPr>
          <a:xfrm>
            <a:off x="8772945" y="3114618"/>
            <a:ext cx="256295" cy="24229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C7D93A-34C6-2DDF-4030-D7DCB971BA13}"/>
              </a:ext>
            </a:extLst>
          </p:cNvPr>
          <p:cNvCxnSpPr>
            <a:cxnSpLocks/>
          </p:cNvCxnSpPr>
          <p:nvPr/>
        </p:nvCxnSpPr>
        <p:spPr>
          <a:xfrm flipH="1">
            <a:off x="7231655" y="3200835"/>
            <a:ext cx="371662" cy="251952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3AEEDC-E329-E3D1-3633-CCA761BB1F3F}"/>
              </a:ext>
            </a:extLst>
          </p:cNvPr>
          <p:cNvSpPr txBox="1"/>
          <p:nvPr/>
        </p:nvSpPr>
        <p:spPr>
          <a:xfrm>
            <a:off x="617217" y="1180334"/>
            <a:ext cx="536758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Compute vibrational frequencies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Second derivatives of molecular energy with respect to atomic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Builds a Hessian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Curvature of the 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“If I move atoms, what happens to energy?”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From minima: raise energy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From TS: 1 mode lowers energy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Other modes raise energy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Imaginary frequencies: Negative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0 imaginary </a:t>
            </a:r>
            <a:r>
              <a:rPr lang="en-US" b="1" dirty="0" err="1"/>
              <a:t>freqs</a:t>
            </a:r>
            <a:r>
              <a:rPr lang="en-US" b="1" dirty="0"/>
              <a:t>: Minimum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1 imaginary </a:t>
            </a:r>
            <a:r>
              <a:rPr lang="en-US" b="1" dirty="0" err="1"/>
              <a:t>freq</a:t>
            </a:r>
            <a:r>
              <a:rPr lang="en-US" b="1" dirty="0"/>
              <a:t>: 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&gt;1 imaginary </a:t>
            </a:r>
            <a:r>
              <a:rPr lang="en-US" b="1" dirty="0" err="1"/>
              <a:t>freqs</a:t>
            </a:r>
            <a:r>
              <a:rPr lang="en-US" b="1" dirty="0"/>
              <a:t>: Neither Min or 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618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90402-865E-1411-4883-19B206DB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26068E-D1A4-C933-0160-8ED10282C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Frequency/Hessian Calculations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15BDF2-1CDB-F012-54B6-7D8D95C1F15D}"/>
              </a:ext>
            </a:extLst>
          </p:cNvPr>
          <p:cNvSpPr txBox="1"/>
          <p:nvPr/>
        </p:nvSpPr>
        <p:spPr>
          <a:xfrm>
            <a:off x="301815" y="1079480"/>
            <a:ext cx="53675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Compute vibrational frequencies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Compute molecules normal modes of vibration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Stretches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Bending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Torsion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Linear combination of motions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Approximate IR spectra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Changes with vibrational change in dipole moment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AAB7CE-3AF3-AD16-6076-09F53DC61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590" y="724834"/>
            <a:ext cx="6267599" cy="27041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F2E1EB-7562-5DE7-9864-E47910613A5C}"/>
              </a:ext>
            </a:extLst>
          </p:cNvPr>
          <p:cNvSpPr txBox="1"/>
          <p:nvPr/>
        </p:nvSpPr>
        <p:spPr>
          <a:xfrm>
            <a:off x="8987390" y="4495800"/>
            <a:ext cx="34970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J. Phys. Chem. Lett.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2010, 1, 22, 3256-3260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CA5D648-23B6-68E7-FA0C-83C10D2F1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590" y="3429000"/>
            <a:ext cx="3352801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58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13F76B-05FE-C74E-FC93-262AB500D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“What can be obtained through frequencies?”</a:t>
            </a:r>
          </a:p>
          <a:p>
            <a:r>
              <a:rPr lang="en-US" b="1" dirty="0"/>
              <a:t>Zero-point energy: </a:t>
            </a:r>
          </a:p>
          <a:p>
            <a:pPr lvl="1"/>
            <a:r>
              <a:rPr lang="en-US" b="1" dirty="0"/>
              <a:t>Lowest energy a QM system can possess</a:t>
            </a:r>
          </a:p>
          <a:p>
            <a:pPr lvl="1"/>
            <a:r>
              <a:rPr lang="en-US" b="1" dirty="0"/>
              <a:t>Even a 0 K, there is quantum mechanical vibration</a:t>
            </a:r>
          </a:p>
          <a:p>
            <a:r>
              <a:rPr lang="en-US" b="1" dirty="0"/>
              <a:t>Thermal Corrections:</a:t>
            </a:r>
          </a:p>
          <a:p>
            <a:pPr lvl="1"/>
            <a:r>
              <a:rPr lang="en-US" b="1" dirty="0"/>
              <a:t>Temperature-dependent corrections to energy</a:t>
            </a:r>
          </a:p>
          <a:p>
            <a:pPr lvl="1"/>
            <a:r>
              <a:rPr lang="en-US" b="1" dirty="0"/>
              <a:t>Entropy (S), Enthalpy (H), Gibbs Free Energy (G)</a:t>
            </a:r>
          </a:p>
          <a:p>
            <a:pPr lvl="1"/>
            <a:endParaRPr lang="en-US" b="1" dirty="0"/>
          </a:p>
          <a:p>
            <a:r>
              <a:rPr lang="en-US" b="1" dirty="0"/>
              <a:t>Compare </a:t>
            </a:r>
          </a:p>
          <a:p>
            <a:pPr lvl="1"/>
            <a:r>
              <a:rPr lang="en-US" b="1" dirty="0"/>
              <a:t>reactions, </a:t>
            </a:r>
          </a:p>
          <a:p>
            <a:pPr lvl="1"/>
            <a:r>
              <a:rPr lang="en-US" b="1" dirty="0"/>
              <a:t>isomers, </a:t>
            </a:r>
          </a:p>
          <a:p>
            <a:pPr lvl="1"/>
            <a:r>
              <a:rPr lang="en-US" b="1" dirty="0"/>
              <a:t>binding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F4FC9D-8EF8-189F-3064-9EF75FD1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Thermochemistry</a:t>
            </a:r>
          </a:p>
        </p:txBody>
      </p:sp>
    </p:spTree>
    <p:extLst>
      <p:ext uri="{BB962C8B-B14F-4D97-AF65-F5344CB8AC3E}">
        <p14:creationId xmlns:p14="http://schemas.microsoft.com/office/powerpoint/2010/main" val="391372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EA5E9B-D6B1-2FE0-3B8B-33FD5A51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3C146C-AB14-47CF-0838-EC22F029342C}"/>
              </a:ext>
            </a:extLst>
          </p:cNvPr>
          <p:cNvGraphicFramePr>
            <a:graphicFrameLocks noGrp="1"/>
          </p:cNvGraphicFramePr>
          <p:nvPr/>
        </p:nvGraphicFramePr>
        <p:xfrm>
          <a:off x="350165" y="1507418"/>
          <a:ext cx="5776464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347">
                  <a:extLst>
                    <a:ext uri="{9D8B030D-6E8A-4147-A177-3AD203B41FA5}">
                      <a16:colId xmlns:a16="http://schemas.microsoft.com/office/drawing/2014/main" val="1001347242"/>
                    </a:ext>
                  </a:extLst>
                </a:gridCol>
                <a:gridCol w="1004488">
                  <a:extLst>
                    <a:ext uri="{9D8B030D-6E8A-4147-A177-3AD203B41FA5}">
                      <a16:colId xmlns:a16="http://schemas.microsoft.com/office/drawing/2014/main" val="2036586907"/>
                    </a:ext>
                  </a:extLst>
                </a:gridCol>
                <a:gridCol w="1903793">
                  <a:extLst>
                    <a:ext uri="{9D8B030D-6E8A-4147-A177-3AD203B41FA5}">
                      <a16:colId xmlns:a16="http://schemas.microsoft.com/office/drawing/2014/main" val="888822225"/>
                    </a:ext>
                  </a:extLst>
                </a:gridCol>
                <a:gridCol w="2129836">
                  <a:extLst>
                    <a:ext uri="{9D8B030D-6E8A-4147-A177-3AD203B41FA5}">
                      <a16:colId xmlns:a16="http://schemas.microsoft.com/office/drawing/2014/main" val="3073849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Spin/Multiplicity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683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</a:t>
                      </a:r>
                      <a:r>
                        <a:rPr lang="en-US" sz="1200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quartet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High spin with peptide donors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141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Ni</a:t>
                      </a:r>
                      <a:r>
                        <a:rPr lang="en-US" sz="1200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Triplet or singlet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Octahedral/tetrahedral (triplet); square planer (singlet)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51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Cu</a:t>
                      </a:r>
                      <a:r>
                        <a:rPr lang="en-US" sz="1200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d9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doublet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Jahn-Teller distortion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500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Zn</a:t>
                      </a:r>
                      <a:r>
                        <a:rPr lang="en-US" sz="1200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singlet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Closed-shell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2229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514F61-B5E5-4D1B-DFCF-7138DBB7E78D}"/>
              </a:ext>
            </a:extLst>
          </p:cNvPr>
          <p:cNvSpPr txBox="1"/>
          <p:nvPr/>
        </p:nvSpPr>
        <p:spPr>
          <a:xfrm>
            <a:off x="566670" y="4275786"/>
            <a:ext cx="1892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Binding reaction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DE5E83-0A70-0C3A-D0F1-C6EF871E76EE}"/>
                  </a:ext>
                </a:extLst>
              </p:cNvPr>
              <p:cNvSpPr txBox="1"/>
              <p:nvPr/>
            </p:nvSpPr>
            <p:spPr>
              <a:xfrm>
                <a:off x="-324523" y="4767850"/>
                <a:ext cx="7445375" cy="48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sup>
                          </m:sSubSup>
                        </m:e>
                        <m:sub/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DE5E83-0A70-0C3A-D0F1-C6EF871E7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523" y="4767850"/>
                <a:ext cx="7445375" cy="4868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B900BD-B54A-8E43-D52A-FC452FDF709F}"/>
              </a:ext>
            </a:extLst>
          </p:cNvPr>
          <p:cNvSpPr txBox="1"/>
          <p:nvPr/>
        </p:nvSpPr>
        <p:spPr>
          <a:xfrm>
            <a:off x="350165" y="5377190"/>
            <a:ext cx="57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 depends on how much of the coordination sphere is occupied by the peptide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F33BB-7A77-1214-C9B5-D71BDAA2B507}"/>
              </a:ext>
            </a:extLst>
          </p:cNvPr>
          <p:cNvSpPr txBox="1"/>
          <p:nvPr/>
        </p:nvSpPr>
        <p:spPr>
          <a:xfrm>
            <a:off x="7910675" y="1008876"/>
            <a:ext cx="2209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Protonation and 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D900A-3539-2826-332C-FEA32B52C42A}"/>
              </a:ext>
            </a:extLst>
          </p:cNvPr>
          <p:cNvSpPr txBox="1"/>
          <p:nvPr/>
        </p:nvSpPr>
        <p:spPr>
          <a:xfrm>
            <a:off x="6722771" y="1548326"/>
            <a:ext cx="3674724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Near-neutral pH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Peptide protonation assigned accordingly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 explicit counter ions (yet)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C7A85-E19C-E4E8-A7BF-555617A3BDE3}"/>
              </a:ext>
            </a:extLst>
          </p:cNvPr>
          <p:cNvSpPr txBox="1"/>
          <p:nvPr/>
        </p:nvSpPr>
        <p:spPr>
          <a:xfrm>
            <a:off x="6722771" y="4795881"/>
            <a:ext cx="36416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Explicit water for the coordination sphere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PCM for implicit solvation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1FDC52-0218-9CFA-6426-F525D45F937A}"/>
              </a:ext>
            </a:extLst>
          </p:cNvPr>
          <p:cNvSpPr txBox="1"/>
          <p:nvPr/>
        </p:nvSpPr>
        <p:spPr>
          <a:xfrm>
            <a:off x="1706422" y="1008876"/>
            <a:ext cx="3506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Metal states and spin treatment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81CD55-1341-2AE5-8FB8-4A2F6FD41902}"/>
              </a:ext>
            </a:extLst>
          </p:cNvPr>
          <p:cNvSpPr/>
          <p:nvPr/>
        </p:nvSpPr>
        <p:spPr>
          <a:xfrm>
            <a:off x="93516" y="957590"/>
            <a:ext cx="6204253" cy="284802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8492F6-283F-B803-F3A9-900A2E1CB86E}"/>
              </a:ext>
            </a:extLst>
          </p:cNvPr>
          <p:cNvSpPr/>
          <p:nvPr/>
        </p:nvSpPr>
        <p:spPr>
          <a:xfrm>
            <a:off x="93516" y="4151456"/>
            <a:ext cx="6204253" cy="209479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7BE95B-3C45-4453-4D35-47FF2916C5D5}"/>
              </a:ext>
            </a:extLst>
          </p:cNvPr>
          <p:cNvSpPr/>
          <p:nvPr/>
        </p:nvSpPr>
        <p:spPr>
          <a:xfrm>
            <a:off x="6459159" y="957589"/>
            <a:ext cx="5382676" cy="28480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059240-9D44-7BC8-F06A-68ECAF77463F}"/>
              </a:ext>
            </a:extLst>
          </p:cNvPr>
          <p:cNvSpPr txBox="1"/>
          <p:nvPr/>
        </p:nvSpPr>
        <p:spPr>
          <a:xfrm>
            <a:off x="8708665" y="4303817"/>
            <a:ext cx="122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Solvation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DDEB69-39E9-936D-A944-389FFB21719A}"/>
              </a:ext>
            </a:extLst>
          </p:cNvPr>
          <p:cNvSpPr/>
          <p:nvPr/>
        </p:nvSpPr>
        <p:spPr>
          <a:xfrm>
            <a:off x="6553236" y="4151457"/>
            <a:ext cx="5382676" cy="209479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30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2E409E-D3CB-F230-EFCE-0565AEEC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GAMESS Sample Input</a:t>
            </a:r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95381047-F2CF-9065-D3FA-438814DF1251}"/>
              </a:ext>
            </a:extLst>
          </p:cNvPr>
          <p:cNvSpPr txBox="1"/>
          <p:nvPr/>
        </p:nvSpPr>
        <p:spPr>
          <a:xfrm>
            <a:off x="411582" y="725269"/>
            <a:ext cx="78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www.msg.chem.iastate.edu</a:t>
            </a:r>
            <a:r>
              <a:rPr lang="en-US" dirty="0"/>
              <a:t>/</a:t>
            </a:r>
            <a:r>
              <a:rPr lang="en-US" dirty="0" err="1"/>
              <a:t>gamess</a:t>
            </a:r>
            <a:r>
              <a:rPr lang="en-US" dirty="0"/>
              <a:t>/</a:t>
            </a:r>
            <a:r>
              <a:rPr lang="en-US" dirty="0" err="1"/>
              <a:t>GAMESS_Manual</a:t>
            </a:r>
            <a:r>
              <a:rPr lang="en-US" dirty="0"/>
              <a:t>/docs-</a:t>
            </a:r>
            <a:r>
              <a:rPr lang="en-US" dirty="0" err="1"/>
              <a:t>input.txt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335AF-71A4-ECAC-8339-F0AD057B0D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70" t="22363" r="12782" b="33686"/>
          <a:stretch>
            <a:fillRect/>
          </a:stretch>
        </p:blipFill>
        <p:spPr>
          <a:xfrm>
            <a:off x="8239459" y="2418778"/>
            <a:ext cx="2989806" cy="1762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EB3600-57D3-C90D-04D3-C55ADAD4D8AF}"/>
              </a:ext>
            </a:extLst>
          </p:cNvPr>
          <p:cNvSpPr txBox="1"/>
          <p:nvPr/>
        </p:nvSpPr>
        <p:spPr>
          <a:xfrm>
            <a:off x="7836707" y="4346154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Level of Theory: HF/6-31g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4D58D3-F98A-9A1C-CB9F-0386B4C63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82" y="1938968"/>
            <a:ext cx="6702406" cy="35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1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2BDC85-AE71-CC57-5E4D-5D8B7F614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NWChem</a:t>
            </a:r>
            <a:r>
              <a:rPr lang="en-US" dirty="0"/>
              <a:t> Sample input</a:t>
            </a:r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073A7F71-5D6B-AB4C-16D9-71F6C3557F2F}"/>
              </a:ext>
            </a:extLst>
          </p:cNvPr>
          <p:cNvSpPr txBox="1"/>
          <p:nvPr/>
        </p:nvSpPr>
        <p:spPr>
          <a:xfrm>
            <a:off x="441862" y="893136"/>
            <a:ext cx="611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https://</a:t>
            </a:r>
            <a:r>
              <a:rPr lang="en-US" b="1" dirty="0" err="1"/>
              <a:t>nwchemgit.github.io</a:t>
            </a:r>
            <a:r>
              <a:rPr lang="en-US" b="1" dirty="0"/>
              <a:t>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268B95-C0A8-D730-D7F6-4C0E68A99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157388"/>
            <a:ext cx="5981700" cy="3505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8C6992-DCC8-0508-F9B6-0134BB0F5A1F}"/>
              </a:ext>
            </a:extLst>
          </p:cNvPr>
          <p:cNvSpPr txBox="1"/>
          <p:nvPr/>
        </p:nvSpPr>
        <p:spPr>
          <a:xfrm>
            <a:off x="350165" y="1788056"/>
            <a:ext cx="542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 at HF/6-31g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A62319-4B12-84E4-E919-CD3C643A11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70" t="22363" r="12782" b="33686"/>
          <a:stretch>
            <a:fillRect/>
          </a:stretch>
        </p:blipFill>
        <p:spPr>
          <a:xfrm>
            <a:off x="8239459" y="2418778"/>
            <a:ext cx="2989806" cy="17626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FBCA21-E6E7-9B7F-B39B-4456A5743E00}"/>
              </a:ext>
            </a:extLst>
          </p:cNvPr>
          <p:cNvSpPr txBox="1"/>
          <p:nvPr/>
        </p:nvSpPr>
        <p:spPr>
          <a:xfrm>
            <a:off x="7836707" y="4346154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Level of Theory: HF/6-31g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608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FDBD7B-D654-A240-73D1-7A9E8D32E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08" t="25899" r="19390" b="34964"/>
          <a:stretch>
            <a:fillRect/>
          </a:stretch>
        </p:blipFill>
        <p:spPr>
          <a:xfrm>
            <a:off x="4906020" y="1222030"/>
            <a:ext cx="2117844" cy="1347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47D9D-A607-650E-030F-25425C8A7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066" y="872966"/>
            <a:ext cx="5035934" cy="20458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C21FC-6639-2293-B255-AE129CC7F594}"/>
              </a:ext>
            </a:extLst>
          </p:cNvPr>
          <p:cNvSpPr txBox="1"/>
          <p:nvPr/>
        </p:nvSpPr>
        <p:spPr>
          <a:xfrm>
            <a:off x="4067287" y="279031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GAMESS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22EA88-08C2-D1A6-2EA7-85D308CD9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2024"/>
            <a:ext cx="4880145" cy="1180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5E8763-C9BB-7A64-B26A-DB479ABD6864}"/>
              </a:ext>
            </a:extLst>
          </p:cNvPr>
          <p:cNvSpPr txBox="1"/>
          <p:nvPr/>
        </p:nvSpPr>
        <p:spPr>
          <a:xfrm>
            <a:off x="271977" y="2549482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SCF Iteration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FC85B5-A743-CBFD-55D8-BE6BB588B2DD}"/>
              </a:ext>
            </a:extLst>
          </p:cNvPr>
          <p:cNvSpPr txBox="1"/>
          <p:nvPr/>
        </p:nvSpPr>
        <p:spPr>
          <a:xfrm>
            <a:off x="8014997" y="2918814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Vibrational Frequencies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D5FBC-3B9A-45BB-9849-83763047B463}"/>
              </a:ext>
            </a:extLst>
          </p:cNvPr>
          <p:cNvSpPr txBox="1"/>
          <p:nvPr/>
        </p:nvSpPr>
        <p:spPr>
          <a:xfrm>
            <a:off x="4067287" y="2734148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Optimization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8FE2D-549C-8A8B-DD19-35A4482E3481}"/>
              </a:ext>
            </a:extLst>
          </p:cNvPr>
          <p:cNvSpPr txBox="1"/>
          <p:nvPr/>
        </p:nvSpPr>
        <p:spPr>
          <a:xfrm>
            <a:off x="271977" y="5883717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SCF Iteration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5BC00-2C3C-857D-0255-A7D88D380F73}"/>
              </a:ext>
            </a:extLst>
          </p:cNvPr>
          <p:cNvSpPr txBox="1"/>
          <p:nvPr/>
        </p:nvSpPr>
        <p:spPr>
          <a:xfrm>
            <a:off x="8014997" y="6253049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Vibrational Frequencies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D0DEB7-C702-B7C4-4D2A-4074EC95CF78}"/>
              </a:ext>
            </a:extLst>
          </p:cNvPr>
          <p:cNvSpPr txBox="1"/>
          <p:nvPr/>
        </p:nvSpPr>
        <p:spPr>
          <a:xfrm>
            <a:off x="4067287" y="6068383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Optimization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28E82D-F018-41D8-5A04-BD0F27D174B2}"/>
              </a:ext>
            </a:extLst>
          </p:cNvPr>
          <p:cNvSpPr txBox="1"/>
          <p:nvPr/>
        </p:nvSpPr>
        <p:spPr>
          <a:xfrm>
            <a:off x="4067287" y="3356279"/>
            <a:ext cx="37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NWChem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FD3413A-3D53-FB5E-8314-B2C2AF940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43711"/>
            <a:ext cx="4767449" cy="16419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F051BF-7DAD-51EC-50D0-0D2B7C4A3B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08" t="25899" r="19390" b="34964"/>
          <a:stretch>
            <a:fillRect/>
          </a:stretch>
        </p:blipFill>
        <p:spPr>
          <a:xfrm>
            <a:off x="4899820" y="4290801"/>
            <a:ext cx="2117844" cy="13477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57F8FF-912A-3AE8-7085-4169E0F131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035" y="4143711"/>
            <a:ext cx="5050046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44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0C7AB-FFE1-7EE2-DE39-1D32B4F6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Molecules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F85CD-AF34-2964-D87E-FCA67F8D5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526" y="1451833"/>
            <a:ext cx="6180633" cy="3954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9E18C3-6EC5-CDB1-287E-FB5BCAFAB6F9}"/>
              </a:ext>
            </a:extLst>
          </p:cNvPr>
          <p:cNvSpPr txBox="1"/>
          <p:nvPr/>
        </p:nvSpPr>
        <p:spPr>
          <a:xfrm>
            <a:off x="223841" y="1267167"/>
            <a:ext cx="55636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Draw and edit molecules in 3D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 bond lengths, angles and dihedrals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geometry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orbitals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vibrations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surfaces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Export structures to GAMESS and </a:t>
            </a:r>
            <a:r>
              <a:rPr lang="en-US" dirty="0" err="1"/>
              <a:t>NWChem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103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Logo, company name&#10;&#10;Description automatically generated">
            <a:extLst>
              <a:ext uri="{FF2B5EF4-FFF2-40B4-BE49-F238E27FC236}">
                <a16:creationId xmlns:a16="http://schemas.microsoft.com/office/drawing/2014/main" id="{F47D5480-B9B8-4845-E2B1-1403AEBD4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9"/>
          <a:stretch/>
        </p:blipFill>
        <p:spPr>
          <a:xfrm>
            <a:off x="3050550" y="0"/>
            <a:ext cx="6090900" cy="6139543"/>
          </a:xfrm>
        </p:spPr>
      </p:pic>
    </p:spTree>
    <p:extLst>
      <p:ext uri="{BB962C8B-B14F-4D97-AF65-F5344CB8AC3E}">
        <p14:creationId xmlns:p14="http://schemas.microsoft.com/office/powerpoint/2010/main" val="388475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4107</TotalTime>
  <Words>1457</Words>
  <Application>Microsoft Macintosh PowerPoint</Application>
  <PresentationFormat>Widescreen</PresentationFormat>
  <Paragraphs>328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Roboto</vt:lpstr>
      <vt:lpstr>Source Sans Pro</vt:lpstr>
      <vt:lpstr>Office Theme</vt:lpstr>
      <vt:lpstr>PowerPoint Presentation</vt:lpstr>
      <vt:lpstr>What is Computational Chemistry</vt:lpstr>
      <vt:lpstr>Modeling Options/Scaling</vt:lpstr>
      <vt:lpstr>Schrödinger's Equation </vt:lpstr>
      <vt:lpstr>Hamiltonian Operator</vt:lpstr>
      <vt:lpstr>Born-Oppenheimer Approximation</vt:lpstr>
      <vt:lpstr>Quantum Mechanics Methods: Hartree-Fock (HF)</vt:lpstr>
      <vt:lpstr>Quantum Mechanics Methods: Post-HF (ab initio) </vt:lpstr>
      <vt:lpstr>Quantum Mechanics Methods: Density Functional Theory (DFT)</vt:lpstr>
      <vt:lpstr>Model Chemistry: Basis Sets</vt:lpstr>
      <vt:lpstr>Model Chemistry: Basis Sets and Density Functionals</vt:lpstr>
      <vt:lpstr>Charge and Multiplicity </vt:lpstr>
      <vt:lpstr>Effective Core Potentials (ECPs)</vt:lpstr>
      <vt:lpstr>Solvent Effects: Explicit Vs. Implicit Solvation</vt:lpstr>
      <vt:lpstr>Solvent Effects: Explicit Vs. Implicit Solvation</vt:lpstr>
      <vt:lpstr>Potential Energy Surface Model</vt:lpstr>
      <vt:lpstr>Single Point Energy Calculation</vt:lpstr>
      <vt:lpstr>Geometry Optimization, Energy Minimzation</vt:lpstr>
      <vt:lpstr>Frequency/Hessian Calculations </vt:lpstr>
      <vt:lpstr>Frequency/Hessian Calculations </vt:lpstr>
      <vt:lpstr>Thermochemistry</vt:lpstr>
      <vt:lpstr>Chemical Model</vt:lpstr>
      <vt:lpstr>GAMESS Sample Input</vt:lpstr>
      <vt:lpstr>NWChem Sample input</vt:lpstr>
      <vt:lpstr>PowerPoint Presentation</vt:lpstr>
      <vt:lpstr>Building Molecules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Schwartz, Adam [A LAB]</dc:creator>
  <cp:lastModifiedBy>Curtin, Gregory [A LAB]</cp:lastModifiedBy>
  <cp:revision>1041</cp:revision>
  <cp:lastPrinted>2025-07-09T16:38:33Z</cp:lastPrinted>
  <dcterms:created xsi:type="dcterms:W3CDTF">2024-11-15T17:02:57Z</dcterms:created>
  <dcterms:modified xsi:type="dcterms:W3CDTF">2026-06-05T12:45:44Z</dcterms:modified>
</cp:coreProperties>
</file>