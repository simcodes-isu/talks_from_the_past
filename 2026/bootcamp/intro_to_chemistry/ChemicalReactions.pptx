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525" r:id="rId2"/>
    <p:sldId id="530" r:id="rId3"/>
    <p:sldId id="529" r:id="rId4"/>
    <p:sldId id="526" r:id="rId5"/>
    <p:sldId id="527" r:id="rId6"/>
    <p:sldId id="528" r:id="rId7"/>
    <p:sldId id="531" r:id="rId8"/>
    <p:sldId id="532" r:id="rId9"/>
    <p:sldId id="577" r:id="rId10"/>
    <p:sldId id="533" r:id="rId11"/>
    <p:sldId id="534" r:id="rId12"/>
    <p:sldId id="788" r:id="rId13"/>
    <p:sldId id="739" r:id="rId14"/>
    <p:sldId id="789" r:id="rId15"/>
    <p:sldId id="780" r:id="rId16"/>
    <p:sldId id="790" r:id="rId17"/>
    <p:sldId id="781" r:id="rId18"/>
    <p:sldId id="791" r:id="rId19"/>
    <p:sldId id="796" r:id="rId20"/>
    <p:sldId id="797" r:id="rId21"/>
    <p:sldId id="792" r:id="rId22"/>
    <p:sldId id="811" r:id="rId23"/>
    <p:sldId id="793" r:id="rId24"/>
    <p:sldId id="783" r:id="rId25"/>
    <p:sldId id="784" r:id="rId26"/>
    <p:sldId id="785" r:id="rId27"/>
    <p:sldId id="786" r:id="rId28"/>
    <p:sldId id="842" r:id="rId29"/>
    <p:sldId id="804" r:id="rId30"/>
    <p:sldId id="805" r:id="rId31"/>
    <p:sldId id="843" r:id="rId32"/>
    <p:sldId id="806" r:id="rId33"/>
    <p:sldId id="809" r:id="rId34"/>
    <p:sldId id="844" r:id="rId35"/>
    <p:sldId id="814" r:id="rId36"/>
    <p:sldId id="845" r:id="rId37"/>
    <p:sldId id="815" r:id="rId38"/>
    <p:sldId id="817" r:id="rId39"/>
    <p:sldId id="846" r:id="rId40"/>
    <p:sldId id="818" r:id="rId41"/>
    <p:sldId id="819" r:id="rId42"/>
    <p:sldId id="820" r:id="rId43"/>
    <p:sldId id="821" r:id="rId44"/>
    <p:sldId id="822" r:id="rId45"/>
    <p:sldId id="823" r:id="rId46"/>
    <p:sldId id="824" r:id="rId47"/>
    <p:sldId id="825" r:id="rId48"/>
    <p:sldId id="826" r:id="rId49"/>
    <p:sldId id="827" r:id="rId50"/>
    <p:sldId id="828" r:id="rId51"/>
    <p:sldId id="829" r:id="rId52"/>
    <p:sldId id="830" r:id="rId53"/>
    <p:sldId id="831" r:id="rId54"/>
    <p:sldId id="832" r:id="rId55"/>
    <p:sldId id="833" r:id="rId56"/>
    <p:sldId id="834" r:id="rId57"/>
    <p:sldId id="835" r:id="rId58"/>
    <p:sldId id="836" r:id="rId59"/>
    <p:sldId id="837" r:id="rId60"/>
    <p:sldId id="838" r:id="rId61"/>
    <p:sldId id="839" r:id="rId62"/>
    <p:sldId id="840" r:id="rId63"/>
    <p:sldId id="841" r:id="rId64"/>
    <p:sldId id="581" r:id="rId65"/>
    <p:sldId id="535" r:id="rId66"/>
    <p:sldId id="536" r:id="rId67"/>
    <p:sldId id="579" r:id="rId68"/>
    <p:sldId id="544" r:id="rId69"/>
    <p:sldId id="538" r:id="rId70"/>
    <p:sldId id="539" r:id="rId71"/>
    <p:sldId id="541" r:id="rId72"/>
    <p:sldId id="580" r:id="rId73"/>
    <p:sldId id="542" r:id="rId74"/>
    <p:sldId id="543" r:id="rId75"/>
    <p:sldId id="537" r:id="rId76"/>
    <p:sldId id="540" r:id="rId77"/>
    <p:sldId id="546" r:id="rId78"/>
    <p:sldId id="548" r:id="rId79"/>
    <p:sldId id="574" r:id="rId80"/>
    <p:sldId id="554" r:id="rId81"/>
    <p:sldId id="568" r:id="rId82"/>
    <p:sldId id="561" r:id="rId83"/>
    <p:sldId id="575" r:id="rId84"/>
    <p:sldId id="563" r:id="rId85"/>
    <p:sldId id="564" r:id="rId86"/>
  </p:sldIdLst>
  <p:sldSz cx="9144000" cy="6858000" type="screen4x3"/>
  <p:notesSz cx="10234613" cy="7099300"/>
  <p:custDataLst>
    <p:tags r:id="rId8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802" autoAdjust="0"/>
  </p:normalViewPr>
  <p:slideViewPr>
    <p:cSldViewPr>
      <p:cViewPr varScale="1">
        <p:scale>
          <a:sx n="112" d="100"/>
          <a:sy n="112" d="100"/>
        </p:scale>
        <p:origin x="17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gs" Target="tags/tag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614" y="0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4335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614" y="6744335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758FBA6B-A8FE-4DEC-A23E-D0DDDFAED7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9614" y="0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1813"/>
            <a:ext cx="3551237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4615" y="3372168"/>
            <a:ext cx="7505383" cy="3194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4335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9614" y="6744335"/>
            <a:ext cx="4434999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13C79CBF-DE1A-45EA-9D70-643B1B1B3E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01C4ED-CC6F-48D7-A211-57D0E65BE23B}" type="slidenum">
              <a:rPr lang="en-US"/>
              <a:pPr/>
              <a:t>1</a:t>
            </a:fld>
            <a:endParaRPr lang="en-US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don't have to understand every reaction</a:t>
            </a:r>
          </a:p>
          <a:p>
            <a:r>
              <a:rPr lang="en-US"/>
              <a:t>Start with reactions that occur in water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43D240-B1C4-43D7-95E9-405774B753F3}" type="slidenum">
              <a:rPr lang="en-US"/>
              <a:pPr/>
              <a:t>13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6F4F0A-8DCC-4DA1-9C09-470A7D268F43}" type="slidenum">
              <a:rPr lang="en-US"/>
              <a:pPr/>
              <a:t>22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pose the question to the class?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AA795D-122C-43EF-A765-BB5AF1F1772A}" type="slidenum">
              <a:rPr lang="en-US"/>
              <a:pPr/>
              <a:t>72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D875AD-D329-47F7-B7B9-62A152AE1FD3}" type="slidenum">
              <a:rPr lang="en-US"/>
              <a:pPr/>
              <a:t>81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43275" y="531813"/>
            <a:ext cx="3549650" cy="26622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64615" y="3372168"/>
            <a:ext cx="7505383" cy="319468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		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55300E-E1BD-45F9-82C8-BAD07892030F}" type="slidenum">
              <a:rPr lang="en-US" smtClean="0"/>
              <a:pPr/>
              <a:t>83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Tro's "Introductory Chemistry", Chapter 7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60F42-309F-4FFB-A13B-C7439291E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9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7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10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8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4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5" Type="http://schemas.openxmlformats.org/officeDocument/2006/relationships/image" Target="../media/image40.gif"/><Relationship Id="rId4" Type="http://schemas.openxmlformats.org/officeDocument/2006/relationships/hyperlink" Target="../../media/AirshipHindenburgCra.mp4" TargetMode="Externa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41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43.e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45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4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50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18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5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8610600" cy="762000"/>
          </a:xfrm>
        </p:spPr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Why are Reactions Important?</a:t>
            </a:r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309688" y="1752600"/>
            <a:ext cx="5864225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5400" b="1">
                <a:solidFill>
                  <a:schemeClr val="accent2"/>
                </a:solidFill>
              </a:rPr>
              <a:t>Everything</a:t>
            </a:r>
            <a:r>
              <a:rPr lang="en-US" sz="5400"/>
              <a:t> </a:t>
            </a:r>
          </a:p>
          <a:p>
            <a:pPr algn="ctr"/>
            <a:r>
              <a:rPr lang="en-US" sz="5400"/>
              <a:t>is made by </a:t>
            </a:r>
          </a:p>
          <a:p>
            <a:pPr algn="ctr"/>
            <a:r>
              <a:rPr lang="en-US" sz="5400"/>
              <a:t>chemical reactions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567120" y="4724400"/>
            <a:ext cx="809548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Understanding basic chemical reactions allow us to make </a:t>
            </a:r>
          </a:p>
          <a:p>
            <a:pPr algn="ctr"/>
            <a:r>
              <a:rPr lang="en-US" dirty="0"/>
              <a:t>new materials and </a:t>
            </a:r>
            <a:r>
              <a:rPr lang="en-US" b="1" dirty="0"/>
              <a:t>reproducibly</a:t>
            </a:r>
            <a:r>
              <a:rPr lang="en-US" dirty="0"/>
              <a:t> make known substances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dirty="0"/>
              <a:t>How do reactions happen?</a:t>
            </a:r>
          </a:p>
        </p:txBody>
      </p:sp>
      <p:pic>
        <p:nvPicPr>
          <p:cNvPr id="6" name="Picture 4" descr="15_14"/>
          <p:cNvPicPr>
            <a:picLocks noChangeAspect="1" noChangeArrowheads="1"/>
          </p:cNvPicPr>
          <p:nvPr/>
        </p:nvPicPr>
        <p:blipFill>
          <a:blip r:embed="rId2" cstate="print"/>
          <a:srcRect b="4128"/>
          <a:stretch>
            <a:fillRect/>
          </a:stretch>
        </p:blipFill>
        <p:spPr bwMode="auto">
          <a:xfrm>
            <a:off x="685149" y="1197392"/>
            <a:ext cx="6858652" cy="4898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096000" y="1859340"/>
            <a:ext cx="2743200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minimum amount of energy for the reaction to even start: </a:t>
            </a:r>
            <a:r>
              <a:rPr lang="en-US" b="1" i="1" dirty="0"/>
              <a:t>kinetics</a:t>
            </a:r>
          </a:p>
        </p:txBody>
      </p:sp>
      <p:cxnSp>
        <p:nvCxnSpPr>
          <p:cNvPr id="5" name="Straight Arrow Connector 4"/>
          <p:cNvCxnSpPr>
            <a:stCxn id="4" idx="1"/>
          </p:cNvCxnSpPr>
          <p:nvPr/>
        </p:nvCxnSpPr>
        <p:spPr bwMode="auto">
          <a:xfrm flipH="1">
            <a:off x="4724400" y="2644170"/>
            <a:ext cx="1371600" cy="5867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6200" y="5950803"/>
            <a:ext cx="4495800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energy released upon reaction:</a:t>
            </a:r>
          </a:p>
          <a:p>
            <a:r>
              <a:rPr lang="en-US" b="1" i="1" dirty="0"/>
              <a:t>thermodynamics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rot="5400000" flipH="1" flipV="1">
            <a:off x="609600" y="4495800"/>
            <a:ext cx="1676400" cy="1219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029200" y="5874603"/>
            <a:ext cx="3962400" cy="83099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note: sometimes reactions do absorb energy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 rot="5400000">
            <a:off x="1943894" y="4305300"/>
            <a:ext cx="1447006" cy="7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 rot="10800000">
            <a:off x="1752600" y="5003800"/>
            <a:ext cx="381000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dirty="0"/>
              <a:t>How do reactions happen?</a:t>
            </a:r>
          </a:p>
        </p:txBody>
      </p:sp>
      <p:pic>
        <p:nvPicPr>
          <p:cNvPr id="4208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667000"/>
            <a:ext cx="5376863" cy="3063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143000" y="2057400"/>
            <a:ext cx="6470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1)  Molecules are always in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1295400"/>
            <a:ext cx="6947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Breaking bonds </a:t>
            </a:r>
            <a:r>
              <a:rPr lang="en-US" sz="3200" b="1" dirty="0"/>
              <a:t>always</a:t>
            </a:r>
            <a:r>
              <a:rPr lang="en-US" sz="3200" dirty="0"/>
              <a:t> takes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92225"/>
            <a:ext cx="73338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2)  Add energy – heat, light for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495800"/>
            <a:ext cx="3058475" cy="52322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The key is Energy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/>
            <a:r>
              <a:rPr lang="en-US" sz="4000" dirty="0"/>
              <a:t>What is a Chemical Reaction?</a:t>
            </a: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82000" cy="4953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In a chemical reaction, one or more substances are converted into different substances.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400" dirty="0"/>
              <a:t>The starting substance is a reactant.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400" dirty="0"/>
              <a:t>The resulting substance is a product.</a:t>
            </a:r>
          </a:p>
          <a:p>
            <a:pPr lvl="1"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We represent chemical reaction using a Chemical Equation as shown below.</a:t>
            </a:r>
          </a:p>
          <a:p>
            <a:pPr lvl="1"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		A(g) + B(l) </a:t>
            </a:r>
            <a:r>
              <a:rPr lang="en-US" dirty="0">
                <a:sym typeface="Wingdings" pitchFamily="2" charset="2"/>
              </a:rPr>
              <a:t> C(s) + D(g)</a:t>
            </a:r>
          </a:p>
          <a:p>
            <a:pPr lvl="1"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dirty="0">
              <a:sym typeface="Wingdings" pitchFamily="2" charset="2"/>
            </a:endParaRPr>
          </a:p>
          <a:p>
            <a:pPr lvl="1"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i="1" dirty="0">
                <a:sym typeface="Wingdings" pitchFamily="2" charset="2"/>
              </a:rPr>
              <a:t> In writing chemical reaction, it is important to show the  </a:t>
            </a:r>
            <a:br>
              <a:rPr lang="en-US" sz="2400" i="1" dirty="0">
                <a:sym typeface="Wingdings" pitchFamily="2" charset="2"/>
              </a:rPr>
            </a:br>
            <a:r>
              <a:rPr lang="en-US" sz="2400" i="1" dirty="0">
                <a:sym typeface="Wingdings" pitchFamily="2" charset="2"/>
              </a:rPr>
              <a:t> physical states of each reactants and products. </a:t>
            </a:r>
          </a:p>
          <a:p>
            <a:pPr lvl="1"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i="1" dirty="0">
                <a:sym typeface="Wingdings" pitchFamily="2" charset="2"/>
              </a:rPr>
              <a:t> Of course the chemical reaction has to be completely </a:t>
            </a:r>
            <a:br>
              <a:rPr lang="en-US" sz="2400" i="1" dirty="0">
                <a:sym typeface="Wingdings" pitchFamily="2" charset="2"/>
              </a:rPr>
            </a:br>
            <a:r>
              <a:rPr lang="en-US" sz="2400" i="1" dirty="0">
                <a:sym typeface="Wingdings" pitchFamily="2" charset="2"/>
              </a:rPr>
              <a:t> balanced (number of atoms on either side the equation should be equal) – </a:t>
            </a:r>
            <a:r>
              <a:rPr lang="en-US" sz="2400" b="1" i="1" dirty="0">
                <a:sym typeface="Wingdings" pitchFamily="2" charset="2"/>
              </a:rPr>
              <a:t>conservation of matter</a:t>
            </a:r>
            <a:r>
              <a:rPr lang="en-US" sz="2400" i="1" dirty="0">
                <a:sym typeface="Wingdings" pitchFamily="2" charset="2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457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3200" b="1"/>
              <a:t>Symbols Used in Chemical Equations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01000" cy="495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Symbols used to indicate state after chemical.</a:t>
            </a:r>
          </a:p>
          <a:p>
            <a:pPr lvl="1" eaLnBrk="1" hangingPunct="1"/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) = gas; (</a:t>
            </a:r>
            <a:r>
              <a:rPr lang="en-US" i="1" dirty="0"/>
              <a:t>l</a:t>
            </a:r>
            <a:r>
              <a:rPr lang="en-US" dirty="0"/>
              <a:t>) = liquid; (</a:t>
            </a:r>
            <a:r>
              <a:rPr lang="en-US" i="1" dirty="0"/>
              <a:t>s</a:t>
            </a:r>
            <a:r>
              <a:rPr lang="en-US" dirty="0"/>
              <a:t>) = solid.</a:t>
            </a:r>
          </a:p>
          <a:p>
            <a:pPr lvl="1" eaLnBrk="1" hangingPunct="1"/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) = aqueous  = dissolved in water.</a:t>
            </a:r>
          </a:p>
          <a:p>
            <a:pPr eaLnBrk="1" hangingPunct="1"/>
            <a:r>
              <a:rPr lang="en-US" dirty="0"/>
              <a:t>Energy symbols used above the arrow for decomposition reactions.</a:t>
            </a:r>
          </a:p>
          <a:p>
            <a:pPr lvl="1" eaLnBrk="1" hangingPunct="1"/>
            <a:r>
              <a:rPr lang="en-US" dirty="0"/>
              <a:t> </a:t>
            </a:r>
            <a:r>
              <a:rPr lang="en-US" dirty="0">
                <a:latin typeface="Symbol" pitchFamily="18" charset="2"/>
              </a:rPr>
              <a:t>D</a:t>
            </a:r>
            <a:r>
              <a:rPr lang="en-US" dirty="0"/>
              <a:t> = heat.</a:t>
            </a:r>
          </a:p>
          <a:p>
            <a:pPr lvl="1" eaLnBrk="1" hangingPunct="1"/>
            <a:r>
              <a:rPr lang="en-US" dirty="0"/>
              <a:t> </a:t>
            </a:r>
            <a:r>
              <a:rPr lang="en-US" dirty="0" err="1"/>
              <a:t>h</a:t>
            </a:r>
            <a:r>
              <a:rPr lang="en-US" dirty="0" err="1">
                <a:latin typeface="Symbol" pitchFamily="18" charset="2"/>
              </a:rPr>
              <a:t>n</a:t>
            </a:r>
            <a:r>
              <a:rPr lang="en-US" dirty="0"/>
              <a:t> = light.</a:t>
            </a:r>
          </a:p>
          <a:p>
            <a:pPr lvl="1" eaLnBrk="1" hangingPunct="1"/>
            <a:r>
              <a:rPr lang="en-US" dirty="0"/>
              <a:t>shock = mechanical.</a:t>
            </a:r>
          </a:p>
          <a:p>
            <a:pPr lvl="1" eaLnBrk="1" hangingPunct="1"/>
            <a:r>
              <a:rPr lang="en-US" dirty="0" err="1"/>
              <a:t>elec</a:t>
            </a:r>
            <a:r>
              <a:rPr lang="en-US" dirty="0"/>
              <a:t> = electrical.</a:t>
            </a:r>
          </a:p>
        </p:txBody>
      </p:sp>
    </p:spTree>
    <p:custDataLst>
      <p:tags r:id="rId1"/>
    </p:custData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457200"/>
            <a:ext cx="8382000" cy="5334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sz="2800" dirty="0"/>
              <a:t>In a chemical reaction, any of the following process could take place.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endParaRPr lang="en-US" sz="1600" dirty="0"/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2400" dirty="0"/>
              <a:t>Atoms of different elements can combine to make new compounds.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2400" dirty="0"/>
              <a:t>Molecules can combine to make bigger molecules.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2400" dirty="0"/>
              <a:t>Molecules can decompose into smaller molecules or atoms.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2400" dirty="0"/>
              <a:t>Atoms can be exchanged between molecules or transferred to another molecule.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2400" dirty="0"/>
              <a:t>Atoms can gain or lose electrons, turning them into ions.</a:t>
            </a:r>
          </a:p>
          <a:p>
            <a:pPr lvl="2" algn="just" eaLnBrk="1" hangingPunct="1">
              <a:lnSpc>
                <a:spcPct val="80000"/>
              </a:lnSpc>
              <a:defRPr/>
            </a:pPr>
            <a:r>
              <a:rPr lang="en-US" dirty="0"/>
              <a:t>Or changing the charge on ions that are already there.</a:t>
            </a:r>
          </a:p>
          <a:p>
            <a:pPr lvl="2"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dirty="0"/>
          </a:p>
          <a:p>
            <a:pPr marL="0" lvl="2" indent="0"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dirty="0"/>
              <a:t>But, </a:t>
            </a:r>
            <a:r>
              <a:rPr lang="en-US" dirty="0">
                <a:solidFill>
                  <a:srgbClr val="FF0000"/>
                </a:solidFill>
              </a:rPr>
              <a:t>remember this</a:t>
            </a:r>
            <a:r>
              <a:rPr lang="en-US" dirty="0"/>
              <a:t>…. Elements are not </a:t>
            </a:r>
            <a:r>
              <a:rPr lang="en-US" b="1" i="1" dirty="0"/>
              <a:t>transmuted</a:t>
            </a:r>
            <a:r>
              <a:rPr lang="en-US" dirty="0"/>
              <a:t> during a reaction. (</a:t>
            </a:r>
            <a:r>
              <a:rPr lang="en-US" i="1" dirty="0"/>
              <a:t>in other words, nothing happens to the nucleus in a chemical reaction!</a:t>
            </a:r>
            <a:r>
              <a:rPr lang="en-US" dirty="0"/>
              <a:t>). </a:t>
            </a:r>
          </a:p>
          <a:p>
            <a:pPr lvl="2" algn="just" eaLnBrk="1" hangingPunct="1">
              <a:lnSpc>
                <a:spcPct val="80000"/>
              </a:lnSpc>
              <a:defRPr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610600" cy="58674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/>
              <a:t>Count the number of atoms of each element on each side of the equation. Determine which need to be balanced.</a:t>
            </a:r>
          </a:p>
          <a:p>
            <a:pPr marL="990600" lvl="1" indent="-533400" algn="just" eaLnBrk="1" hangingPunct="1">
              <a:lnSpc>
                <a:spcPct val="90000"/>
              </a:lnSpc>
            </a:pPr>
            <a:r>
              <a:rPr lang="en-US" sz="2400" dirty="0"/>
              <a:t>Polyatomic ions may often be counted as if they are one “element”. Example, CO</a:t>
            </a:r>
            <a:r>
              <a:rPr lang="en-US" sz="2400" baseline="-25000" dirty="0"/>
              <a:t>3</a:t>
            </a:r>
            <a:r>
              <a:rPr lang="en-US" sz="2400" baseline="30000" dirty="0"/>
              <a:t>2-</a:t>
            </a:r>
            <a:r>
              <a:rPr lang="en-US" sz="2400" dirty="0"/>
              <a:t>, SO</a:t>
            </a:r>
            <a:r>
              <a:rPr lang="en-US" sz="2400" baseline="-25000" dirty="0"/>
              <a:t>4</a:t>
            </a:r>
            <a:r>
              <a:rPr lang="en-US" sz="2400" baseline="30000" dirty="0"/>
              <a:t>2-</a:t>
            </a:r>
            <a:r>
              <a:rPr lang="en-US" sz="2400" dirty="0"/>
              <a:t>, NO</a:t>
            </a:r>
            <a:r>
              <a:rPr lang="en-US" sz="2400" baseline="-25000" dirty="0"/>
              <a:t>3</a:t>
            </a:r>
            <a:r>
              <a:rPr lang="en-US" sz="2400" baseline="30000" dirty="0"/>
              <a:t>-</a:t>
            </a:r>
            <a:r>
              <a:rPr lang="en-US" sz="2400" dirty="0"/>
              <a:t> etc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/>
              <a:t>Pick an element to balance.  </a:t>
            </a:r>
          </a:p>
          <a:p>
            <a:pPr marL="990600" lvl="1" indent="-533400" algn="just" eaLnBrk="1" hangingPunct="1">
              <a:lnSpc>
                <a:spcPct val="90000"/>
              </a:lnSpc>
            </a:pPr>
            <a:r>
              <a:rPr lang="en-US" sz="2400" dirty="0"/>
              <a:t>Usually start with an atom in the most complicated molecule.</a:t>
            </a:r>
          </a:p>
          <a:p>
            <a:pPr marL="990600" lvl="1" indent="-533400" algn="just" eaLnBrk="1" hangingPunct="1">
              <a:lnSpc>
                <a:spcPct val="90000"/>
              </a:lnSpc>
            </a:pPr>
            <a:r>
              <a:rPr lang="en-US" sz="2400" dirty="0"/>
              <a:t>If an element is found in only one compound on both sides, balance it first.</a:t>
            </a:r>
          </a:p>
          <a:p>
            <a:pPr marL="1371600" lvl="2" indent="-457200" algn="just" eaLnBrk="1" hangingPunct="1">
              <a:lnSpc>
                <a:spcPct val="90000"/>
              </a:lnSpc>
            </a:pPr>
            <a:r>
              <a:rPr lang="en-US" sz="2000" dirty="0"/>
              <a:t>Metals before nonmetals.</a:t>
            </a:r>
          </a:p>
          <a:p>
            <a:pPr marL="990600" lvl="1" indent="-533400" algn="just" eaLnBrk="1" hangingPunct="1">
              <a:lnSpc>
                <a:spcPct val="90000"/>
              </a:lnSpc>
            </a:pPr>
            <a:r>
              <a:rPr lang="en-US" sz="2400" dirty="0"/>
              <a:t>Leave elements (like O</a:t>
            </a:r>
            <a:r>
              <a:rPr lang="en-US" sz="2400" baseline="-25000" dirty="0"/>
              <a:t>2</a:t>
            </a:r>
            <a:r>
              <a:rPr lang="en-US" sz="2400" dirty="0"/>
              <a:t> and H</a:t>
            </a:r>
            <a:r>
              <a:rPr lang="en-US" sz="2400" baseline="-25000" dirty="0"/>
              <a:t>2</a:t>
            </a:r>
            <a:r>
              <a:rPr lang="en-US" sz="2400" dirty="0"/>
              <a:t>) until last. </a:t>
            </a:r>
          </a:p>
          <a:p>
            <a:pPr marL="590550" indent="-533400" algn="just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sz="2800" dirty="0"/>
              <a:t>Put coefficients in front of the formula to bring the elements into balance. </a:t>
            </a:r>
            <a:r>
              <a:rPr lang="en-US" sz="2800" b="1" i="1" dirty="0">
                <a:solidFill>
                  <a:srgbClr val="FF0000"/>
                </a:solidFill>
              </a:rPr>
              <a:t>Never</a:t>
            </a:r>
            <a:r>
              <a:rPr lang="en-US" sz="2800" b="1" i="1" dirty="0"/>
              <a:t> change a subscript in a compound.</a:t>
            </a:r>
          </a:p>
        </p:txBody>
      </p:sp>
      <p:sp>
        <p:nvSpPr>
          <p:cNvPr id="16388" name="Title 1"/>
          <p:cNvSpPr>
            <a:spLocks noGrp="1"/>
          </p:cNvSpPr>
          <p:nvPr>
            <p:ph type="title"/>
          </p:nvPr>
        </p:nvSpPr>
        <p:spPr>
          <a:xfrm>
            <a:off x="636588" y="152400"/>
            <a:ext cx="7772400" cy="533400"/>
          </a:xfrm>
        </p:spPr>
        <p:txBody>
          <a:bodyPr/>
          <a:lstStyle/>
          <a:p>
            <a:pPr eaLnBrk="1" hangingPunct="1"/>
            <a:r>
              <a:rPr lang="en-US" sz="4000" b="1" dirty="0"/>
              <a:t> Balancing Chemical Equations</a:t>
            </a:r>
            <a:endParaRPr lang="en-US" b="1" dirty="0"/>
          </a:p>
        </p:txBody>
      </p:sp>
    </p:spTree>
    <p:custDataLst>
      <p:tags r:id="rId1"/>
    </p:custData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914400"/>
            <a:ext cx="8534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27063" lvl="1" indent="-627063" algn="just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2800" kern="0" dirty="0">
                <a:latin typeface="+mn-lt"/>
              </a:rPr>
              <a:t>4. 	Move on to next element and balance. Repeat as necessary.</a:t>
            </a:r>
          </a:p>
          <a:p>
            <a:pPr marL="627063" lvl="1" indent="-627063" algn="just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 startAt="5"/>
              <a:defRPr/>
            </a:pPr>
            <a:r>
              <a:rPr lang="en-US" sz="2800" dirty="0"/>
              <a:t>Make sure that all coefficients are whole numbers. If not, multiply all coefficients by the same number  on both sides of the equation so that all the coefficients will be a whole number.</a:t>
            </a:r>
            <a:endParaRPr lang="en-US" sz="2800" kern="0" dirty="0">
              <a:latin typeface="+mn-lt"/>
            </a:endParaRPr>
          </a:p>
          <a:p>
            <a:pPr marL="627063" lvl="1" indent="-627063">
              <a:lnSpc>
                <a:spcPct val="90000"/>
              </a:lnSpc>
              <a:spcBef>
                <a:spcPct val="20000"/>
              </a:spcBef>
              <a:defRPr/>
            </a:pPr>
            <a:endParaRPr lang="en-US" sz="2800" dirty="0"/>
          </a:p>
          <a:p>
            <a:pPr marL="627063" lvl="1" indent="-6270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800" dirty="0"/>
              <a:t>	</a:t>
            </a:r>
            <a:r>
              <a:rPr lang="en-US" sz="2800" u="sng" dirty="0"/>
              <a:t>Fractions </a:t>
            </a:r>
            <a:r>
              <a:rPr lang="en-US" sz="2800" dirty="0"/>
              <a:t>are acceptable, but not recommended: you can write ½, but not 0.5 in front of a species.</a:t>
            </a:r>
            <a:endParaRPr lang="en-US" sz="2800" kern="0" dirty="0"/>
          </a:p>
          <a:p>
            <a:pPr marL="990600" lvl="1" indent="-990600" algn="just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 startAt="3"/>
              <a:defRPr/>
            </a:pPr>
            <a:endParaRPr lang="en-US" sz="2800" kern="0" dirty="0">
              <a:latin typeface="+mn-lt"/>
            </a:endParaRPr>
          </a:p>
          <a:p>
            <a:pPr marL="990600" lvl="1" indent="-533400" algn="just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en-US" sz="2800" kern="0" dirty="0">
              <a:latin typeface="+mn-lt"/>
            </a:endParaRPr>
          </a:p>
        </p:txBody>
      </p:sp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490414" y="5587425"/>
            <a:ext cx="827258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You can master this only if you practice.</a:t>
            </a:r>
          </a:p>
        </p:txBody>
      </p:sp>
    </p:spTree>
    <p:custDataLst>
      <p:tags r:id="rId1"/>
    </p:custData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utoUpdateAnimBg="0"/>
      <p:bldP spid="174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81200"/>
            <a:ext cx="7772400" cy="1143000"/>
          </a:xfrm>
        </p:spPr>
        <p:txBody>
          <a:bodyPr/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(g) +   O</a:t>
            </a:r>
            <a:r>
              <a:rPr lang="en-US" baseline="-25000" dirty="0"/>
              <a:t>2</a:t>
            </a:r>
            <a:r>
              <a:rPr lang="en-US" dirty="0"/>
              <a:t>(g) →    H</a:t>
            </a:r>
            <a:r>
              <a:rPr lang="en-US" baseline="-25000" dirty="0"/>
              <a:t>2</a:t>
            </a:r>
            <a:r>
              <a:rPr lang="en-US" dirty="0"/>
              <a:t>O(g)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1" name="Text Box 57"/>
          <p:cNvSpPr txBox="1">
            <a:spLocks noChangeArrowheads="1"/>
          </p:cNvSpPr>
          <p:nvPr/>
        </p:nvSpPr>
        <p:spPr bwMode="auto">
          <a:xfrm>
            <a:off x="457200" y="3330575"/>
            <a:ext cx="8382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dirty="0"/>
              <a:t>This equation reads “1 molecule of CH</a:t>
            </a:r>
            <a:r>
              <a:rPr lang="en-US" baseline="-25000" dirty="0"/>
              <a:t>4</a:t>
            </a:r>
            <a:r>
              <a:rPr lang="en-US" dirty="0"/>
              <a:t> gas combines with 1 molecule of O</a:t>
            </a:r>
            <a:r>
              <a:rPr lang="en-US" baseline="-25000" dirty="0"/>
              <a:t>2</a:t>
            </a:r>
            <a:r>
              <a:rPr lang="en-US" dirty="0"/>
              <a:t> gas to make 1 molecule of CO</a:t>
            </a:r>
            <a:r>
              <a:rPr lang="en-US" baseline="-25000" dirty="0"/>
              <a:t>2</a:t>
            </a:r>
            <a:r>
              <a:rPr lang="en-US" dirty="0"/>
              <a:t> gas and 1 molecule of H</a:t>
            </a:r>
            <a:r>
              <a:rPr lang="en-US" baseline="-25000" dirty="0"/>
              <a:t>2</a:t>
            </a:r>
            <a:r>
              <a:rPr lang="en-US" dirty="0"/>
              <a:t>O gas”. The chemical equation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balanced as you can see.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On the left side (Reactant side): 1 C, 4 H and 2 O</a:t>
            </a:r>
          </a:p>
          <a:p>
            <a:pPr algn="just"/>
            <a:r>
              <a:rPr lang="en-US" dirty="0"/>
              <a:t>On the right side (Product side): 1 C, 2 H and 3 O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3600" b="1"/>
              <a:t>Example: Combustion of Methane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066800"/>
            <a:ext cx="8610600" cy="18288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Methane gas burns to produce carbon dioxide gas and gaseous water.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Whenever something burns it combines with O</a:t>
            </a:r>
            <a:r>
              <a:rPr lang="en-US" sz="2400" baseline="-25000" dirty="0"/>
              <a:t>2</a:t>
            </a:r>
            <a:r>
              <a:rPr lang="en-US" sz="2400" dirty="0"/>
              <a:t>(</a:t>
            </a:r>
            <a:r>
              <a:rPr lang="en-US" sz="2400" i="1" dirty="0"/>
              <a:t>g</a:t>
            </a:r>
            <a:r>
              <a:rPr lang="en-US" sz="2400" dirty="0"/>
              <a:t>).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200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CH</a:t>
            </a:r>
            <a:r>
              <a:rPr lang="en-US" sz="2800" baseline="-25000" dirty="0"/>
              <a:t>4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</a:t>
            </a:r>
            <a:r>
              <a:rPr lang="en-US" sz="2800" dirty="0">
                <a:latin typeface="Symbol" pitchFamily="18" charset="2"/>
              </a:rPr>
              <a:t>®</a:t>
            </a:r>
            <a:r>
              <a:rPr lang="en-US" sz="2800" dirty="0"/>
              <a:t>  CO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H</a:t>
            </a:r>
            <a:r>
              <a:rPr lang="en-US" sz="2800" baseline="-25000" dirty="0"/>
              <a:t>2</a:t>
            </a:r>
            <a:r>
              <a:rPr lang="en-US" sz="2800" dirty="0"/>
              <a:t>O(</a:t>
            </a:r>
            <a:r>
              <a:rPr lang="en-US" sz="2800" i="1" dirty="0"/>
              <a:t>g</a:t>
            </a:r>
            <a:r>
              <a:rPr lang="en-US" sz="2800" dirty="0"/>
              <a:t>)</a:t>
            </a:r>
          </a:p>
        </p:txBody>
      </p:sp>
    </p:spTree>
    <p:custDataLst>
      <p:tags r:id="rId1"/>
    </p:custData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304800"/>
            <a:ext cx="8153400" cy="5867400"/>
          </a:xfrm>
        </p:spPr>
        <p:txBody>
          <a:bodyPr/>
          <a:lstStyle/>
          <a:p>
            <a:pPr algn="ctr">
              <a:buNone/>
            </a:pPr>
            <a:r>
              <a:rPr lang="en-US" sz="2800" dirty="0"/>
              <a:t>CH</a:t>
            </a:r>
            <a:r>
              <a:rPr lang="en-US" sz="2800" baseline="-25000" dirty="0"/>
              <a:t>4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</a:t>
            </a:r>
            <a:r>
              <a:rPr lang="en-US" sz="2800" dirty="0">
                <a:latin typeface="Symbol" pitchFamily="18" charset="2"/>
              </a:rPr>
              <a:t>®</a:t>
            </a:r>
            <a:r>
              <a:rPr lang="en-US" sz="2800" dirty="0"/>
              <a:t>  CO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H</a:t>
            </a:r>
            <a:r>
              <a:rPr lang="en-US" sz="2800" baseline="-25000" dirty="0"/>
              <a:t>2</a:t>
            </a:r>
            <a:r>
              <a:rPr lang="en-US" sz="2800" dirty="0"/>
              <a:t>O(</a:t>
            </a:r>
            <a:r>
              <a:rPr lang="en-US" sz="2800" i="1" dirty="0"/>
              <a:t>g</a:t>
            </a:r>
            <a:r>
              <a:rPr lang="en-US" sz="2800" dirty="0"/>
              <a:t>)</a:t>
            </a:r>
          </a:p>
          <a:p>
            <a:pPr algn="ctr">
              <a:buNone/>
            </a:pPr>
            <a:endParaRPr lang="en-US" sz="2400" dirty="0"/>
          </a:p>
          <a:p>
            <a:pPr algn="just"/>
            <a:r>
              <a:rPr lang="en-US" sz="2400" dirty="0"/>
              <a:t>The carbon atoms are already balanced. Oxygen exists in two compounds, so skip for now. Try to balance H.</a:t>
            </a:r>
          </a:p>
          <a:p>
            <a:pPr algn="just"/>
            <a:r>
              <a:rPr lang="en-US" sz="2400" dirty="0"/>
              <a:t>Put 2 as coefficient for water on the right.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Now, C and H are balanced, so focus on oxygen. To make oxygen even on both sides, put 2 in-front of O</a:t>
            </a:r>
            <a:r>
              <a:rPr lang="en-US" sz="2400" baseline="-25000" dirty="0"/>
              <a:t>2</a:t>
            </a:r>
            <a:r>
              <a:rPr lang="en-US" sz="2400" dirty="0"/>
              <a:t>(g) on the reactant side.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Recheck:</a:t>
            </a:r>
          </a:p>
          <a:p>
            <a:pPr lvl="1" algn="just"/>
            <a:r>
              <a:rPr lang="en-US" sz="2000" dirty="0"/>
              <a:t>On the  left (reactant side): 1 C, 4 H and 4 O</a:t>
            </a:r>
          </a:p>
          <a:p>
            <a:pPr lvl="1" algn="just"/>
            <a:r>
              <a:rPr lang="en-US" sz="2000" dirty="0"/>
              <a:t>On the right (product side): 1 C, 4 H and 4 O</a:t>
            </a:r>
          </a:p>
        </p:txBody>
      </p:sp>
      <p:sp>
        <p:nvSpPr>
          <p:cNvPr id="19460" name="Rectangle 6"/>
          <p:cNvSpPr>
            <a:spLocks noChangeArrowheads="1"/>
          </p:cNvSpPr>
          <p:nvPr/>
        </p:nvSpPr>
        <p:spPr bwMode="auto">
          <a:xfrm>
            <a:off x="1447800" y="2590800"/>
            <a:ext cx="6096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CH</a:t>
            </a:r>
            <a:r>
              <a:rPr lang="en-US" sz="2800" baseline="-25000" dirty="0"/>
              <a:t>4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</a:t>
            </a:r>
            <a:r>
              <a:rPr lang="en-US" sz="2800" dirty="0">
                <a:latin typeface="Symbol" pitchFamily="18" charset="2"/>
              </a:rPr>
              <a:t>®</a:t>
            </a:r>
            <a:r>
              <a:rPr lang="en-US" sz="2800" dirty="0"/>
              <a:t>  CO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O(</a:t>
            </a:r>
            <a:r>
              <a:rPr lang="en-US" sz="2800" i="1" dirty="0"/>
              <a:t>g</a:t>
            </a:r>
            <a:r>
              <a:rPr lang="en-US" sz="2800" dirty="0"/>
              <a:t>)</a:t>
            </a:r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1371600" y="4505325"/>
            <a:ext cx="6172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/>
              <a:t>CH</a:t>
            </a:r>
            <a:r>
              <a:rPr lang="en-US" sz="2800" baseline="-25000" dirty="0"/>
              <a:t>4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dirty="0"/>
              <a:t>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</a:t>
            </a:r>
            <a:r>
              <a:rPr lang="en-US" sz="2800" dirty="0">
                <a:latin typeface="Symbol" pitchFamily="18" charset="2"/>
              </a:rPr>
              <a:t>®</a:t>
            </a:r>
            <a:r>
              <a:rPr lang="en-US" sz="2800" dirty="0"/>
              <a:t>  CO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+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O(</a:t>
            </a:r>
            <a:r>
              <a:rPr lang="en-US" sz="2800" i="1" dirty="0"/>
              <a:t>g</a:t>
            </a:r>
            <a:r>
              <a:rPr lang="en-US" sz="2800" dirty="0"/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4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4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uiExpand="1" build="p"/>
      <p:bldP spid="19460" grpId="0"/>
      <p:bldP spid="194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How do reactions happen?</a:t>
            </a:r>
            <a:br>
              <a:rPr lang="en-US" b="1" dirty="0"/>
            </a:br>
            <a:r>
              <a:rPr lang="en-US" b="1" dirty="0" err="1"/>
              <a:t>Thermochemistry</a:t>
            </a:r>
            <a:endParaRPr lang="en-US" b="1" dirty="0"/>
          </a:p>
        </p:txBody>
      </p:sp>
      <p:pic>
        <p:nvPicPr>
          <p:cNvPr id="6" name="Picture 4" descr="15_14"/>
          <p:cNvPicPr>
            <a:picLocks noChangeAspect="1" noChangeArrowheads="1"/>
          </p:cNvPicPr>
          <p:nvPr/>
        </p:nvPicPr>
        <p:blipFill>
          <a:blip r:embed="rId2" cstate="print"/>
          <a:srcRect b="4128"/>
          <a:stretch>
            <a:fillRect/>
          </a:stretch>
        </p:blipFill>
        <p:spPr bwMode="auto">
          <a:xfrm>
            <a:off x="974725" y="1447800"/>
            <a:ext cx="725487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09600"/>
          </a:xfrm>
        </p:spPr>
        <p:txBody>
          <a:bodyPr/>
          <a:lstStyle/>
          <a:p>
            <a:r>
              <a:rPr lang="en-US" b="1" dirty="0"/>
              <a:t>Remember: c</a:t>
            </a:r>
            <a:r>
              <a:rPr lang="en-US" b="1" dirty="0">
                <a:solidFill>
                  <a:schemeClr val="accent2"/>
                </a:solidFill>
              </a:rPr>
              <a:t>hemical reactions involve:</a:t>
            </a:r>
            <a:endParaRPr lang="en-US" dirty="0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899824" y="1905000"/>
            <a:ext cx="70871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Reactant bonds breaking – requires energy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035771" y="2357735"/>
            <a:ext cx="67649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Product bonds forming – releases energy</a:t>
            </a: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3503612" y="3591580"/>
          <a:ext cx="47259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228600" progId="Equation.3">
                  <p:embed/>
                </p:oleObj>
              </mc:Choice>
              <mc:Fallback>
                <p:oleObj name="Equation" r:id="rId4" imgW="1993680" imgH="228600" progId="Equation.3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2" y="3591580"/>
                        <a:ext cx="4725988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7"/>
          <p:cNvSpPr txBox="1">
            <a:spLocks noChangeArrowheads="1"/>
          </p:cNvSpPr>
          <p:nvPr/>
        </p:nvSpPr>
        <p:spPr bwMode="auto">
          <a:xfrm>
            <a:off x="609600" y="3625127"/>
            <a:ext cx="28130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Electrolysis of water: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447800" y="4353580"/>
          <a:ext cx="5943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34880" imgH="215640" progId="Equation.3">
                  <p:embed/>
                </p:oleObj>
              </mc:Choice>
              <mc:Fallback>
                <p:oleObj name="Equation" r:id="rId6" imgW="2234880" imgH="215640" progId="Equation.3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353580"/>
                        <a:ext cx="59436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70454" y="5115580"/>
            <a:ext cx="6968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kern="0" dirty="0" err="1"/>
              <a:t>NaOH</a:t>
            </a:r>
            <a:r>
              <a:rPr lang="en-US" sz="2800" kern="0" dirty="0"/>
              <a:t> (</a:t>
            </a:r>
            <a:r>
              <a:rPr lang="en-US" sz="2800" kern="0" dirty="0" err="1"/>
              <a:t>aq</a:t>
            </a:r>
            <a:r>
              <a:rPr lang="en-US" sz="2800" kern="0" dirty="0"/>
              <a:t>) + </a:t>
            </a:r>
            <a:r>
              <a:rPr lang="en-US" sz="2800" kern="0" dirty="0" err="1"/>
              <a:t>HCl</a:t>
            </a:r>
            <a:r>
              <a:rPr lang="en-US" sz="2800" kern="0" dirty="0"/>
              <a:t>(</a:t>
            </a:r>
            <a:r>
              <a:rPr lang="en-US" sz="2800" i="1" kern="0" dirty="0" err="1"/>
              <a:t>aq</a:t>
            </a:r>
            <a:r>
              <a:rPr lang="en-US" sz="2800" kern="0" dirty="0"/>
              <a:t>) </a:t>
            </a:r>
            <a:r>
              <a:rPr lang="en-US" sz="2800" kern="0" dirty="0">
                <a:sym typeface="Symbol" pitchFamily="18" charset="2"/>
              </a:rPr>
              <a:t></a:t>
            </a:r>
            <a:r>
              <a:rPr lang="en-US" sz="2800" kern="0" dirty="0"/>
              <a:t> H</a:t>
            </a:r>
            <a:r>
              <a:rPr lang="en-US" sz="2800" kern="0" baseline="-25000" dirty="0"/>
              <a:t>2</a:t>
            </a:r>
            <a:r>
              <a:rPr lang="en-US" sz="2800" kern="0" dirty="0"/>
              <a:t>O(</a:t>
            </a:r>
            <a:r>
              <a:rPr lang="en-US" sz="2800" i="1" kern="0" dirty="0"/>
              <a:t>l</a:t>
            </a:r>
            <a:r>
              <a:rPr lang="en-US" sz="2800" kern="0" dirty="0"/>
              <a:t>) + </a:t>
            </a:r>
            <a:r>
              <a:rPr lang="en-US" sz="2800" kern="0" dirty="0" err="1"/>
              <a:t>NaCl</a:t>
            </a:r>
            <a:r>
              <a:rPr lang="en-US" sz="2800" kern="0" dirty="0"/>
              <a:t>(</a:t>
            </a:r>
            <a:r>
              <a:rPr lang="en-US" sz="2800" i="1" kern="0" dirty="0" err="1"/>
              <a:t>aq</a:t>
            </a:r>
            <a:r>
              <a:rPr lang="en-US" sz="2800" kern="0" dirty="0"/>
              <a:t>)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Energetics of reactions: 1</a:t>
            </a:r>
          </a:p>
        </p:txBody>
      </p:sp>
      <p:pic>
        <p:nvPicPr>
          <p:cNvPr id="4" name="Content Placeholder 3" descr="13_504_a_FI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b="3922"/>
          <a:stretch>
            <a:fillRect/>
          </a:stretch>
        </p:blipFill>
        <p:spPr bwMode="auto">
          <a:xfrm>
            <a:off x="1227438" y="1143000"/>
            <a:ext cx="7002162" cy="3733800"/>
          </a:xfrm>
          <a:prstGeom prst="rect">
            <a:avLst/>
          </a:prstGeom>
          <a:noFill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89951" y="5029200"/>
            <a:ext cx="7139649" cy="954107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Reactions which release energy are called </a:t>
            </a:r>
            <a:r>
              <a:rPr lang="en-US" sz="2800" dirty="0">
                <a:solidFill>
                  <a:schemeClr val="accent2"/>
                </a:solidFill>
              </a:rPr>
              <a:t>exothermic</a:t>
            </a:r>
            <a:r>
              <a:rPr lang="en-US" sz="2800" dirty="0"/>
              <a:t> reactions.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23069" y="6248400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ΔE = </a:t>
            </a:r>
            <a:r>
              <a:rPr lang="en-US" dirty="0" err="1"/>
              <a:t>E</a:t>
            </a:r>
            <a:r>
              <a:rPr lang="en-US" baseline="-25000" dirty="0" err="1"/>
              <a:t>products</a:t>
            </a:r>
            <a:r>
              <a:rPr lang="en-US" dirty="0"/>
              <a:t> – </a:t>
            </a:r>
            <a:r>
              <a:rPr lang="en-US" dirty="0" err="1"/>
              <a:t>E</a:t>
            </a:r>
            <a:r>
              <a:rPr lang="en-US" baseline="-25000" dirty="0" err="1"/>
              <a:t>reactants</a:t>
            </a:r>
            <a:r>
              <a:rPr lang="en-US" dirty="0"/>
              <a:t> &lt;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Will it dissolve?</a:t>
            </a:r>
          </a:p>
        </p:txBody>
      </p:sp>
      <p:pic>
        <p:nvPicPr>
          <p:cNvPr id="3" name="Picture 3" descr="12_441_c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43000"/>
            <a:ext cx="9144000" cy="335013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127294" y="4876800"/>
            <a:ext cx="7254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</a:t>
            </a:r>
            <a:r>
              <a:rPr lang="en-US" dirty="0" err="1"/>
              <a:t>ΔE</a:t>
            </a:r>
            <a:r>
              <a:rPr lang="en-US" baseline="-25000" dirty="0" err="1"/>
              <a:t>total</a:t>
            </a:r>
            <a:r>
              <a:rPr lang="en-US" dirty="0"/>
              <a:t> &lt; 0 (is negative), the substance will dissolve and the solution forms, the reaction is </a:t>
            </a:r>
            <a:r>
              <a:rPr lang="en-US" dirty="0">
                <a:solidFill>
                  <a:schemeClr val="accent2"/>
                </a:solidFill>
              </a:rPr>
              <a:t>exothermic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2619" y="6019800"/>
            <a:ext cx="4089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will also get warmer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Energetics of reactions: 2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89951" y="5029200"/>
            <a:ext cx="7139649" cy="954107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Reactions which absorb energy are called </a:t>
            </a:r>
            <a:r>
              <a:rPr lang="en-US" sz="2800" dirty="0">
                <a:solidFill>
                  <a:schemeClr val="accent2"/>
                </a:solidFill>
              </a:rPr>
              <a:t>endothermic</a:t>
            </a:r>
            <a:r>
              <a:rPr lang="en-US" sz="2800" dirty="0"/>
              <a:t> reactions.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1669" y="6248400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ΔE = </a:t>
            </a:r>
            <a:r>
              <a:rPr lang="en-US" dirty="0" err="1"/>
              <a:t>E</a:t>
            </a:r>
            <a:r>
              <a:rPr lang="en-US" baseline="-25000" dirty="0" err="1"/>
              <a:t>products</a:t>
            </a:r>
            <a:r>
              <a:rPr lang="en-US" dirty="0"/>
              <a:t> – </a:t>
            </a:r>
            <a:r>
              <a:rPr lang="en-US" dirty="0" err="1"/>
              <a:t>E</a:t>
            </a:r>
            <a:r>
              <a:rPr lang="en-US" baseline="-25000" dirty="0" err="1"/>
              <a:t>reactants</a:t>
            </a:r>
            <a:r>
              <a:rPr lang="en-US" dirty="0"/>
              <a:t> &gt; 0</a:t>
            </a:r>
          </a:p>
        </p:txBody>
      </p:sp>
      <p:pic>
        <p:nvPicPr>
          <p:cNvPr id="8" name="Picture 3" descr="13_505_b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141414"/>
            <a:ext cx="4418000" cy="37353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b="1" dirty="0"/>
              <a:t>Will it dissolve?</a:t>
            </a:r>
          </a:p>
        </p:txBody>
      </p:sp>
      <p:pic>
        <p:nvPicPr>
          <p:cNvPr id="4" name="Picture 3" descr="12_442_b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3213" y="1066800"/>
            <a:ext cx="8535987" cy="33782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127294" y="4876800"/>
            <a:ext cx="7026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</a:t>
            </a:r>
            <a:r>
              <a:rPr lang="en-US" dirty="0" err="1"/>
              <a:t>ΔE</a:t>
            </a:r>
            <a:r>
              <a:rPr lang="en-US" baseline="-25000" dirty="0" err="1"/>
              <a:t>total</a:t>
            </a:r>
            <a:r>
              <a:rPr lang="en-US" dirty="0"/>
              <a:t> &gt; 0 (is positive), the substance will </a:t>
            </a:r>
            <a:r>
              <a:rPr lang="en-US" i="1" dirty="0"/>
              <a:t>probably</a:t>
            </a:r>
            <a:r>
              <a:rPr lang="en-US" dirty="0"/>
              <a:t> not dissolve, the reaction is </a:t>
            </a:r>
            <a:r>
              <a:rPr lang="en-US" dirty="0">
                <a:solidFill>
                  <a:schemeClr val="accent2"/>
                </a:solidFill>
              </a:rPr>
              <a:t>endothermic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5943600"/>
            <a:ext cx="7495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will also get colder if the substance dissolves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Energetics of reactions: 3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90600" y="2057400"/>
            <a:ext cx="7139649" cy="1384995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Reactions where the reactants and products are at the same energy are </a:t>
            </a:r>
            <a:r>
              <a:rPr lang="en-US" sz="2800" dirty="0">
                <a:solidFill>
                  <a:schemeClr val="accent2"/>
                </a:solidFill>
              </a:rPr>
              <a:t>energy neutral </a:t>
            </a:r>
            <a:r>
              <a:rPr lang="en-US" sz="2800" dirty="0">
                <a:solidFill>
                  <a:schemeClr val="tx2"/>
                </a:solidFill>
              </a:rPr>
              <a:t>or</a:t>
            </a:r>
            <a:r>
              <a:rPr lang="en-US" sz="2800" dirty="0">
                <a:solidFill>
                  <a:schemeClr val="accent2"/>
                </a:solidFill>
              </a:rPr>
              <a:t> thermal neutral</a:t>
            </a:r>
            <a:r>
              <a:rPr lang="en-US" sz="2800" dirty="0"/>
              <a:t> reactions.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5181600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ΔE = </a:t>
            </a:r>
            <a:r>
              <a:rPr lang="en-US" dirty="0" err="1"/>
              <a:t>E</a:t>
            </a:r>
            <a:r>
              <a:rPr lang="en-US" baseline="-25000" dirty="0" err="1"/>
              <a:t>products</a:t>
            </a:r>
            <a:r>
              <a:rPr lang="en-US" dirty="0"/>
              <a:t> – </a:t>
            </a:r>
            <a:r>
              <a:rPr lang="en-US" dirty="0" err="1"/>
              <a:t>E</a:t>
            </a:r>
            <a:r>
              <a:rPr lang="en-US" baseline="-25000" dirty="0" err="1"/>
              <a:t>reactants</a:t>
            </a:r>
            <a:r>
              <a:rPr lang="en-US" dirty="0"/>
              <a:t>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6476" y="4038600"/>
            <a:ext cx="1688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Very rare!!!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86800" cy="1143000"/>
          </a:xfrm>
        </p:spPr>
        <p:txBody>
          <a:bodyPr/>
          <a:lstStyle/>
          <a:p>
            <a:r>
              <a:rPr lang="en-US" b="1" dirty="0"/>
              <a:t>Another “hypothetical” reaction</a:t>
            </a:r>
          </a:p>
        </p:txBody>
      </p:sp>
      <p:pic>
        <p:nvPicPr>
          <p:cNvPr id="4" name="Picture 3" descr="13_509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76400"/>
            <a:ext cx="8535987" cy="2414587"/>
          </a:xfrm>
          <a:prstGeom prst="rect">
            <a:avLst/>
          </a:prstGeom>
          <a:noFill/>
        </p:spPr>
      </p:pic>
      <p:pic>
        <p:nvPicPr>
          <p:cNvPr id="5" name="Picture 3" descr="13_509_b_FI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4191000"/>
            <a:ext cx="8535987" cy="26939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13_509_c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8535987" cy="6024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 b="1" dirty="0"/>
              <a:t>Another example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rot="5400000">
            <a:off x="304800" y="3429000"/>
            <a:ext cx="32004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905000" y="5029200"/>
            <a:ext cx="47244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2971800" y="5334000"/>
            <a:ext cx="2925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Reaction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76600"/>
            <a:ext cx="1160895" cy="461665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dirty="0"/>
              <a:t>Energy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2057400" y="4343400"/>
            <a:ext cx="10668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334000" y="2514600"/>
            <a:ext cx="10668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81000" y="4114800"/>
            <a:ext cx="1502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kJ/mol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133600"/>
            <a:ext cx="1673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140 kJ/mol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4088" y="6091535"/>
            <a:ext cx="2963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ΔE</a:t>
            </a:r>
            <a:r>
              <a:rPr lang="en-US" baseline="-25000" dirty="0" err="1"/>
              <a:t>forward</a:t>
            </a:r>
            <a:r>
              <a:rPr lang="en-US" dirty="0"/>
              <a:t> = – </a:t>
            </a:r>
            <a:r>
              <a:rPr lang="en-US" dirty="0" err="1"/>
              <a:t>ΔE</a:t>
            </a:r>
            <a:r>
              <a:rPr lang="en-US" baseline="-25000" dirty="0" err="1"/>
              <a:t>reverse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1143000"/>
          </a:xfrm>
        </p:spPr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Is ice melting endothermic or exothermic?</a:t>
            </a:r>
            <a:endParaRPr lang="en-US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52400" y="3581400"/>
            <a:ext cx="8610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accent2"/>
                </a:solidFill>
              </a:rPr>
              <a:t>Is water boiling endothermic or exothermic?</a:t>
            </a:r>
            <a:endParaRPr lang="en-US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/>
          <a:lstStyle/>
          <a:p>
            <a:r>
              <a:rPr lang="en-US" b="1" dirty="0"/>
              <a:t>All of this still doesn’t tell us how fast a reaction happens!!!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5967" y="2438400"/>
            <a:ext cx="665278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Exothermic reactions can be fast!</a:t>
            </a:r>
          </a:p>
          <a:p>
            <a:pPr algn="ctr"/>
            <a:r>
              <a:rPr lang="en-US" sz="3200" dirty="0"/>
              <a:t>Exothermic reactions can be slow!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Endothermic reactions can be fast!</a:t>
            </a:r>
          </a:p>
          <a:p>
            <a:pPr algn="ctr"/>
            <a:r>
              <a:rPr lang="en-US" sz="3200" dirty="0"/>
              <a:t>Endothermic reactions can be slow!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Chemical kinetics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153400" cy="4114800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Why do some reactions happen quickly?</a:t>
            </a:r>
          </a:p>
          <a:p>
            <a:pPr algn="ctr">
              <a:buNone/>
            </a:pPr>
            <a:r>
              <a:rPr lang="en-US" dirty="0"/>
              <a:t>Why do some reactions happen slowly?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14400" y="3969603"/>
            <a:ext cx="6987249" cy="1569660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Chemical kinetics</a:t>
            </a:r>
            <a:r>
              <a:rPr lang="en-US" sz="3200" dirty="0"/>
              <a:t> is the study of chemical reaction rates and how they change.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57200"/>
            <a:ext cx="8991600" cy="1143000"/>
          </a:xfrm>
        </p:spPr>
        <p:txBody>
          <a:bodyPr/>
          <a:lstStyle/>
          <a:p>
            <a:r>
              <a:rPr lang="en-US" b="1" dirty="0"/>
              <a:t>Macroscopic factors that affect the rate of a reaction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Physical state – gases tend to react faster than liquids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Concentration of reactants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Temperature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Catalyst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b="1" dirty="0"/>
              <a:t>Multiple reaction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00200"/>
            <a:ext cx="7290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 reaction rarely involves only one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8735"/>
            <a:ext cx="7016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 in dorm room → student in lecture hall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062" y="3581400"/>
            <a:ext cx="716253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process is not a single step, </a:t>
            </a:r>
          </a:p>
          <a:p>
            <a:pPr algn="ctr"/>
            <a:r>
              <a:rPr lang="en-US" dirty="0"/>
              <a:t>but is the net overall change from a series of steps: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student in dorm room </a:t>
            </a:r>
            <a:r>
              <a:rPr lang="en-US" b="1" dirty="0"/>
              <a:t>→  </a:t>
            </a:r>
            <a:r>
              <a:rPr lang="en-US" dirty="0"/>
              <a:t>student at 1st bus stop</a:t>
            </a:r>
          </a:p>
          <a:p>
            <a:pPr algn="ctr"/>
            <a:r>
              <a:rPr lang="en-US" dirty="0"/>
              <a:t>student at 1st bus stop </a:t>
            </a:r>
            <a:r>
              <a:rPr lang="en-US" b="1" dirty="0"/>
              <a:t>→ </a:t>
            </a:r>
            <a:r>
              <a:rPr lang="en-US" dirty="0"/>
              <a:t>student at 2nd bus stop</a:t>
            </a:r>
          </a:p>
          <a:p>
            <a:pPr algn="ctr"/>
            <a:r>
              <a:rPr lang="en-US" dirty="0"/>
              <a:t>student at 2nd bus stop </a:t>
            </a:r>
            <a:r>
              <a:rPr lang="en-US" b="1" dirty="0"/>
              <a:t>→ </a:t>
            </a:r>
            <a:r>
              <a:rPr lang="en-US" dirty="0"/>
              <a:t>student in lecture hall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Chemical kinetics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13751" y="1219200"/>
            <a:ext cx="7139649" cy="1384995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 </a:t>
            </a:r>
            <a:r>
              <a:rPr lang="en-US" sz="2800" dirty="0">
                <a:solidFill>
                  <a:schemeClr val="accent2"/>
                </a:solidFill>
              </a:rPr>
              <a:t>reaction mechanism </a:t>
            </a:r>
            <a:r>
              <a:rPr lang="en-US" sz="2800" dirty="0"/>
              <a:t>is the detailed series of reactions steps that represents how reactants move from reactants to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903" y="3048000"/>
            <a:ext cx="6500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  <a:r>
              <a:rPr lang="pt-BR" baseline="-25000" dirty="0"/>
              <a:t>6</a:t>
            </a:r>
            <a:r>
              <a:rPr lang="pt-BR" dirty="0"/>
              <a:t>H</a:t>
            </a:r>
            <a:r>
              <a:rPr lang="pt-BR" baseline="-25000" dirty="0"/>
              <a:t>12</a:t>
            </a:r>
            <a:r>
              <a:rPr lang="pt-BR" dirty="0"/>
              <a:t>O</a:t>
            </a:r>
            <a:r>
              <a:rPr lang="pt-BR" baseline="-25000" dirty="0"/>
              <a:t>6</a:t>
            </a:r>
            <a:r>
              <a:rPr lang="pt-BR" i="1" dirty="0"/>
              <a:t>(s)</a:t>
            </a:r>
            <a:r>
              <a:rPr lang="pt-BR" dirty="0"/>
              <a:t>  +  6 O</a:t>
            </a:r>
            <a:r>
              <a:rPr lang="pt-BR" baseline="-25000" dirty="0"/>
              <a:t>2</a:t>
            </a:r>
            <a:r>
              <a:rPr lang="pt-BR" i="1" dirty="0"/>
              <a:t>(g)</a:t>
            </a:r>
            <a:r>
              <a:rPr lang="pt-BR" dirty="0"/>
              <a:t> →</a:t>
            </a:r>
            <a:r>
              <a:rPr lang="en-US" dirty="0"/>
              <a:t> </a:t>
            </a:r>
            <a:r>
              <a:rPr lang="pt-BR" dirty="0"/>
              <a:t>6 CO</a:t>
            </a:r>
            <a:r>
              <a:rPr lang="pt-BR" baseline="-25000" dirty="0"/>
              <a:t>2</a:t>
            </a:r>
            <a:r>
              <a:rPr lang="pt-BR" i="1" dirty="0"/>
              <a:t>(g)</a:t>
            </a:r>
            <a:r>
              <a:rPr lang="pt-BR" dirty="0"/>
              <a:t>  +  6 H</a:t>
            </a:r>
            <a:r>
              <a:rPr lang="pt-BR" baseline="-25000" dirty="0"/>
              <a:t>2</a:t>
            </a:r>
            <a:r>
              <a:rPr lang="pt-BR" dirty="0"/>
              <a:t>O</a:t>
            </a:r>
            <a:r>
              <a:rPr lang="pt-BR" i="1" dirty="0"/>
              <a:t>(l)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7707" y="6015335"/>
            <a:ext cx="6604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 we figure out the reaction mechanism?</a:t>
            </a:r>
          </a:p>
        </p:txBody>
      </p:sp>
      <p:pic>
        <p:nvPicPr>
          <p:cNvPr id="8" name="Picture 3" descr="13_501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3213" y="3697287"/>
            <a:ext cx="8535987" cy="2017713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038600" y="5410200"/>
            <a:ext cx="2975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Substitution reaction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What determines the rate of a reaction (microscopic)?</a:t>
            </a:r>
          </a:p>
        </p:txBody>
      </p:sp>
      <p:pic>
        <p:nvPicPr>
          <p:cNvPr id="6" name="Picture 4" descr="15_14"/>
          <p:cNvPicPr>
            <a:picLocks noChangeAspect="1" noChangeArrowheads="1"/>
          </p:cNvPicPr>
          <p:nvPr/>
        </p:nvPicPr>
        <p:blipFill>
          <a:blip r:embed="rId3" cstate="print"/>
          <a:srcRect b="4128"/>
          <a:stretch>
            <a:fillRect/>
          </a:stretch>
        </p:blipFill>
        <p:spPr bwMode="auto">
          <a:xfrm>
            <a:off x="914400" y="1447800"/>
            <a:ext cx="725487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096000" y="2057400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a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3_511_b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227013"/>
            <a:ext cx="8207375" cy="64023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3_511_b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676400"/>
            <a:ext cx="4484688" cy="3498403"/>
          </a:xfrm>
          <a:prstGeom prst="rect">
            <a:avLst/>
          </a:prstGeom>
          <a:noFill/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029200" y="1828800"/>
            <a:ext cx="3581400" cy="2246769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The </a:t>
            </a:r>
            <a:r>
              <a:rPr lang="en-US" sz="2800" dirty="0">
                <a:solidFill>
                  <a:schemeClr val="accent2"/>
                </a:solidFill>
              </a:rPr>
              <a:t>transition state</a:t>
            </a:r>
            <a:r>
              <a:rPr lang="en-US" sz="2800" dirty="0"/>
              <a:t> is the high energy, unstable state of the molecules at the top of the barrier.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b="1" dirty="0"/>
              <a:t>Transition state</a:t>
            </a:r>
          </a:p>
        </p:txBody>
      </p:sp>
      <p:pic>
        <p:nvPicPr>
          <p:cNvPr id="6" name="Picture 3" descr="13_515_a_FIG"/>
          <p:cNvPicPr>
            <a:picLocks noChangeAspect="1" noChangeArrowheads="1"/>
          </p:cNvPicPr>
          <p:nvPr/>
        </p:nvPicPr>
        <p:blipFill>
          <a:blip r:embed="rId3" cstate="print"/>
          <a:srcRect b="21045"/>
          <a:stretch>
            <a:fillRect/>
          </a:stretch>
        </p:blipFill>
        <p:spPr bwMode="auto">
          <a:xfrm>
            <a:off x="5198731" y="4532457"/>
            <a:ext cx="2802269" cy="22493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Reaction rate depends on E</a:t>
            </a:r>
            <a:r>
              <a:rPr lang="en-US" b="1" baseline="-25000" dirty="0"/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676400"/>
            <a:ext cx="678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The higher the activation barrier, the slower the reaction!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1403" y="2971800"/>
            <a:ext cx="51651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Large E</a:t>
            </a:r>
            <a:r>
              <a:rPr lang="en-US" sz="3200" baseline="-25000" dirty="0"/>
              <a:t>a</a:t>
            </a:r>
            <a:r>
              <a:rPr lang="en-US" sz="3200" dirty="0"/>
              <a:t> → slower reaction</a:t>
            </a:r>
          </a:p>
          <a:p>
            <a:pPr algn="ctr"/>
            <a:r>
              <a:rPr lang="en-US" sz="3200" dirty="0"/>
              <a:t>Small E</a:t>
            </a:r>
            <a:r>
              <a:rPr lang="en-US" sz="3200" baseline="-25000" dirty="0"/>
              <a:t>a</a:t>
            </a:r>
            <a:r>
              <a:rPr lang="en-US" sz="3200" dirty="0"/>
              <a:t> → faster reaction</a:t>
            </a:r>
          </a:p>
        </p:txBody>
      </p:sp>
      <p:pic>
        <p:nvPicPr>
          <p:cNvPr id="5" name="Picture 4" descr="13_511_b_FI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191783"/>
            <a:ext cx="3417888" cy="2666217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13_514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7800"/>
            <a:ext cx="8535987" cy="4956175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Orientation matters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Orientation matters</a:t>
            </a:r>
          </a:p>
        </p:txBody>
      </p:sp>
      <p:pic>
        <p:nvPicPr>
          <p:cNvPr id="5" name="Picture 3" descr="13_515_b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990600"/>
            <a:ext cx="6477000" cy="2747635"/>
          </a:xfrm>
          <a:prstGeom prst="rect">
            <a:avLst/>
          </a:prstGeom>
          <a:noFill/>
        </p:spPr>
      </p:pic>
      <p:pic>
        <p:nvPicPr>
          <p:cNvPr id="6" name="Picture 3" descr="13_515_a_FIG"/>
          <p:cNvPicPr>
            <a:picLocks noChangeAspect="1" noChangeArrowheads="1"/>
          </p:cNvPicPr>
          <p:nvPr/>
        </p:nvPicPr>
        <p:blipFill>
          <a:blip r:embed="rId3" cstate="print"/>
          <a:srcRect b="18243"/>
          <a:stretch>
            <a:fillRect/>
          </a:stretch>
        </p:blipFill>
        <p:spPr bwMode="auto">
          <a:xfrm>
            <a:off x="2819400" y="3962400"/>
            <a:ext cx="3300413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Higher Temperature, </a:t>
            </a:r>
            <a:br>
              <a:rPr lang="en-US" b="1" dirty="0"/>
            </a:br>
            <a:r>
              <a:rPr lang="en-US" b="1" dirty="0"/>
              <a:t>higher reaction rate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9508" y="2202339"/>
            <a:ext cx="6566692" cy="374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34688" y="6248400"/>
            <a:ext cx="8856912" cy="461665"/>
          </a:xfrm>
          <a:prstGeom prst="rect">
            <a:avLst/>
          </a:prstGeom>
          <a:noFill/>
          <a:ln w="41275" cmpd="tri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Rule of thumb: </a:t>
            </a:r>
            <a:r>
              <a:rPr lang="en-US" dirty="0"/>
              <a:t>for every increase of 10 ̊C, double reaction rate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b="1" dirty="0"/>
              <a:t>Higher Temperature, </a:t>
            </a:r>
            <a:br>
              <a:rPr lang="en-US" b="1" dirty="0"/>
            </a:br>
            <a:r>
              <a:rPr lang="en-US" b="1" dirty="0"/>
              <a:t>higher reaction rate</a:t>
            </a:r>
          </a:p>
        </p:txBody>
      </p:sp>
      <p:pic>
        <p:nvPicPr>
          <p:cNvPr id="4" name="Picture 3" descr="13_514_b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3213" y="1852613"/>
            <a:ext cx="8535987" cy="50053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b="1" dirty="0"/>
              <a:t>Reaction rates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89951" y="1752600"/>
            <a:ext cx="7139649" cy="1815882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Any collision that is sufficiently energetic and properly oriented such that it leads to the formation of product is called an </a:t>
            </a:r>
            <a:r>
              <a:rPr lang="en-US" sz="2800" dirty="0">
                <a:solidFill>
                  <a:schemeClr val="accent2"/>
                </a:solidFill>
              </a:rPr>
              <a:t>effective collision</a:t>
            </a:r>
            <a:r>
              <a:rPr lang="en-US" sz="28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" y="4953000"/>
            <a:ext cx="2366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Reaction rate =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373940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collisions per unit time with energy equal to or greater than E</a:t>
            </a:r>
            <a:r>
              <a:rPr lang="en-US" baseline="-25000" dirty="0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0" y="49530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800" y="457200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Fraction of collisions in which molecules have 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905" y="6172200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Energy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172200"/>
            <a:ext cx="276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Orientation factor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b="1" dirty="0"/>
              <a:t>Reaction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" y="2179260"/>
            <a:ext cx="2366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Reaction rate =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00200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collisions per unit time with energy equal to or greater than E</a:t>
            </a:r>
            <a:r>
              <a:rPr lang="en-US" baseline="-25000" dirty="0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0" y="217926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800" y="179826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Fraction of collisions in which molecules have proper orientation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rot="5400000" flipH="1" flipV="1">
            <a:off x="572294" y="3466306"/>
            <a:ext cx="1447800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6200" y="4191000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Molecules formed per second or Moles formed per second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 rot="5400000" flipH="1" flipV="1">
            <a:off x="6514306" y="3771106"/>
            <a:ext cx="1447800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5715000" y="4590871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Orientation factor – between 0 and 1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rot="5400000" flipH="1" flipV="1">
            <a:off x="2900640" y="4260572"/>
            <a:ext cx="2121932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438400" y="5417403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Usually in collisions/s</a:t>
            </a:r>
            <a:endParaRPr lang="en-US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077200" cy="1143000"/>
          </a:xfrm>
        </p:spPr>
        <p:txBody>
          <a:bodyPr/>
          <a:lstStyle/>
          <a:p>
            <a:r>
              <a:rPr lang="en-US" b="1" dirty="0"/>
              <a:t>Is there another way to make the reaction go faster?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89951" y="1891605"/>
            <a:ext cx="7139649" cy="1384995"/>
          </a:xfrm>
          <a:prstGeom prst="rect">
            <a:avLst/>
          </a:prstGeom>
          <a:noFill/>
          <a:ln w="79375" cmpd="tri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 </a:t>
            </a:r>
            <a:r>
              <a:rPr lang="en-US" sz="2800" dirty="0">
                <a:solidFill>
                  <a:schemeClr val="accent2"/>
                </a:solidFill>
              </a:rPr>
              <a:t>catalyst</a:t>
            </a:r>
            <a:r>
              <a:rPr lang="en-US" sz="2800" dirty="0"/>
              <a:t> is a substance that changes (modifies) the rate of a reaction but does not undergo any permanent change.</a:t>
            </a:r>
          </a:p>
        </p:txBody>
      </p:sp>
      <p:pic>
        <p:nvPicPr>
          <p:cNvPr id="37890" name="Picture 2" descr="14_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429000"/>
            <a:ext cx="4956301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410200" y="34290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Usually changes both E</a:t>
            </a:r>
            <a:r>
              <a:rPr lang="en-US" baseline="-25000" dirty="0"/>
              <a:t>a</a:t>
            </a:r>
            <a:r>
              <a:rPr lang="en-US" dirty="0"/>
              <a:t> and the orientation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343400"/>
            <a:ext cx="335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overall </a:t>
            </a:r>
            <a:r>
              <a:rPr lang="en-US" dirty="0" err="1">
                <a:solidFill>
                  <a:srgbClr val="C00000"/>
                </a:solidFill>
              </a:rPr>
              <a:t>exothermicity</a:t>
            </a:r>
            <a:r>
              <a:rPr lang="en-US" dirty="0">
                <a:solidFill>
                  <a:srgbClr val="C00000"/>
                </a:solidFill>
              </a:rPr>
              <a:t> and </a:t>
            </a:r>
            <a:r>
              <a:rPr lang="en-US" dirty="0" err="1">
                <a:solidFill>
                  <a:srgbClr val="C00000"/>
                </a:solidFill>
              </a:rPr>
              <a:t>endothermicity</a:t>
            </a:r>
            <a:r>
              <a:rPr lang="en-US" dirty="0">
                <a:solidFill>
                  <a:srgbClr val="C00000"/>
                </a:solidFill>
              </a:rPr>
              <a:t> of a chemical reaction is unaffected by the presence of a catalyst.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b="1" dirty="0"/>
              <a:t>Catalyst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016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 in dorm room → student in lecture hall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180" y="2057400"/>
            <a:ext cx="70296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student in dorm room </a:t>
            </a:r>
            <a:r>
              <a:rPr lang="en-US" b="1" dirty="0"/>
              <a:t>→  </a:t>
            </a:r>
            <a:r>
              <a:rPr lang="en-US" dirty="0"/>
              <a:t>student at 1st bus stop</a:t>
            </a:r>
          </a:p>
          <a:p>
            <a:pPr algn="ctr"/>
            <a:r>
              <a:rPr lang="en-US" dirty="0"/>
              <a:t>student at 1st bus stop </a:t>
            </a:r>
            <a:r>
              <a:rPr lang="en-US" b="1" dirty="0"/>
              <a:t>→ </a:t>
            </a:r>
            <a:r>
              <a:rPr lang="en-US" dirty="0"/>
              <a:t>student at 2nd bus stop</a:t>
            </a:r>
          </a:p>
          <a:p>
            <a:pPr algn="ctr"/>
            <a:r>
              <a:rPr lang="en-US" dirty="0"/>
              <a:t>student at 2nd bus stop </a:t>
            </a:r>
            <a:r>
              <a:rPr lang="en-US" b="1" dirty="0"/>
              <a:t>→ </a:t>
            </a:r>
            <a:r>
              <a:rPr lang="en-US" dirty="0"/>
              <a:t>student in lecture hall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1" y="4080808"/>
            <a:ext cx="8610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student in dorm room </a:t>
            </a:r>
            <a:r>
              <a:rPr lang="en-US" b="1" dirty="0"/>
              <a:t>→  </a:t>
            </a:r>
            <a:r>
              <a:rPr lang="en-US" dirty="0"/>
              <a:t>student at 1st bus stop</a:t>
            </a:r>
          </a:p>
          <a:p>
            <a:pPr algn="ctr"/>
            <a:r>
              <a:rPr lang="en-US" dirty="0"/>
              <a:t>Bus +student at 1st bus stop </a:t>
            </a:r>
            <a:r>
              <a:rPr lang="en-US" b="1" dirty="0"/>
              <a:t>→ </a:t>
            </a:r>
            <a:r>
              <a:rPr lang="en-US" dirty="0"/>
              <a:t>student at 2nd bus stop + Bus</a:t>
            </a:r>
          </a:p>
          <a:p>
            <a:pPr algn="ctr"/>
            <a:r>
              <a:rPr lang="en-US" dirty="0"/>
              <a:t>student at 2nd bus stop </a:t>
            </a:r>
            <a:r>
              <a:rPr lang="en-US" b="1" dirty="0"/>
              <a:t>→ </a:t>
            </a:r>
            <a:r>
              <a:rPr lang="en-US" dirty="0"/>
              <a:t>student in lecture hall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Catalyst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905000"/>
            <a:ext cx="6865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Tl</a:t>
            </a:r>
            <a:r>
              <a:rPr lang="en-US" baseline="30000" dirty="0"/>
              <a:t>+</a:t>
            </a:r>
            <a:r>
              <a:rPr lang="en-US" i="1" dirty="0"/>
              <a:t>(</a:t>
            </a:r>
            <a:r>
              <a:rPr lang="en-US" i="1" dirty="0" err="1"/>
              <a:t>aq</a:t>
            </a:r>
            <a:r>
              <a:rPr lang="en-US" i="1" dirty="0"/>
              <a:t>)</a:t>
            </a:r>
            <a:r>
              <a:rPr lang="en-US" dirty="0"/>
              <a:t>   +   2 Ce</a:t>
            </a:r>
            <a:r>
              <a:rPr lang="en-US" baseline="30000" dirty="0"/>
              <a:t>4+</a:t>
            </a:r>
            <a:r>
              <a:rPr lang="en-US" i="1" dirty="0"/>
              <a:t>(</a:t>
            </a:r>
            <a:r>
              <a:rPr lang="en-US" i="1" dirty="0" err="1"/>
              <a:t>aq</a:t>
            </a:r>
            <a:r>
              <a:rPr lang="en-US" i="1" dirty="0"/>
              <a:t>)</a:t>
            </a:r>
            <a:r>
              <a:rPr lang="en-US" dirty="0"/>
              <a:t> → Tl</a:t>
            </a:r>
            <a:r>
              <a:rPr lang="en-US" baseline="30000" dirty="0"/>
              <a:t>3+</a:t>
            </a:r>
            <a:r>
              <a:rPr lang="en-US" i="1" dirty="0"/>
              <a:t>(</a:t>
            </a:r>
            <a:r>
              <a:rPr lang="en-US" i="1" dirty="0" err="1"/>
              <a:t>aq</a:t>
            </a:r>
            <a:r>
              <a:rPr lang="en-US" i="1" dirty="0"/>
              <a:t>)</a:t>
            </a:r>
            <a:r>
              <a:rPr lang="en-US" dirty="0"/>
              <a:t>   +   2 Ce</a:t>
            </a:r>
            <a:r>
              <a:rPr lang="en-US" baseline="30000" dirty="0"/>
              <a:t>3+</a:t>
            </a:r>
            <a:r>
              <a:rPr lang="en-US" i="1" dirty="0"/>
              <a:t>(</a:t>
            </a:r>
            <a:r>
              <a:rPr lang="en-US" i="1" dirty="0" err="1"/>
              <a:t>aq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988" y="2819400"/>
            <a:ext cx="2589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Catalyzed by Ag</a:t>
            </a:r>
            <a:r>
              <a:rPr lang="en-US" baseline="30000" dirty="0"/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500735"/>
            <a:ext cx="824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Ag</a:t>
            </a:r>
            <a:r>
              <a:rPr lang="pt-BR" b="1" baseline="30000" dirty="0"/>
              <a:t>+</a:t>
            </a:r>
            <a:r>
              <a:rPr lang="pt-BR" i="1" dirty="0"/>
              <a:t>(aq)</a:t>
            </a:r>
            <a:r>
              <a:rPr lang="pt-BR" dirty="0"/>
              <a:t>   +   Ce</a:t>
            </a:r>
            <a:r>
              <a:rPr lang="pt-BR" baseline="30000" dirty="0"/>
              <a:t>4+</a:t>
            </a:r>
            <a:r>
              <a:rPr lang="pt-BR" i="1" dirty="0"/>
              <a:t>(aq)        </a:t>
            </a:r>
            <a:r>
              <a:rPr lang="pt-BR" dirty="0"/>
              <a:t>   </a:t>
            </a:r>
            <a:r>
              <a:rPr lang="pt-BR" b="1" dirty="0"/>
              <a:t>Ag</a:t>
            </a:r>
            <a:r>
              <a:rPr lang="pt-BR" b="1" baseline="30000" dirty="0"/>
              <a:t>2+</a:t>
            </a:r>
            <a:r>
              <a:rPr lang="pt-BR" i="1" dirty="0"/>
              <a:t>(aq)</a:t>
            </a:r>
            <a:r>
              <a:rPr lang="pt-BR" dirty="0"/>
              <a:t>  +   Ce</a:t>
            </a:r>
            <a:r>
              <a:rPr lang="pt-BR" baseline="30000" dirty="0"/>
              <a:t>3+</a:t>
            </a:r>
            <a:r>
              <a:rPr lang="pt-BR" i="1" dirty="0"/>
              <a:t>(aq)</a:t>
            </a:r>
            <a:r>
              <a:rPr lang="pt-BR" dirty="0"/>
              <a:t>      (fast)</a:t>
            </a:r>
            <a:endParaRPr lang="en-US" dirty="0"/>
          </a:p>
        </p:txBody>
      </p:sp>
      <p:grpSp>
        <p:nvGrpSpPr>
          <p:cNvPr id="38927" name="Group 15"/>
          <p:cNvGrpSpPr>
            <a:grpSpLocks/>
          </p:cNvGrpSpPr>
          <p:nvPr/>
        </p:nvGrpSpPr>
        <p:grpSpPr bwMode="auto">
          <a:xfrm>
            <a:off x="3581400" y="3429000"/>
            <a:ext cx="752475" cy="619125"/>
            <a:chOff x="2535" y="3390"/>
            <a:chExt cx="1185" cy="975"/>
          </a:xfrm>
        </p:grpSpPr>
        <p:grpSp>
          <p:nvGrpSpPr>
            <p:cNvPr id="38928" name="Group 16"/>
            <p:cNvGrpSpPr>
              <a:grpSpLocks/>
            </p:cNvGrpSpPr>
            <p:nvPr/>
          </p:nvGrpSpPr>
          <p:grpSpPr bwMode="auto">
            <a:xfrm>
              <a:off x="2760" y="3390"/>
              <a:ext cx="930" cy="975"/>
              <a:chOff x="2760" y="3390"/>
              <a:chExt cx="930" cy="975"/>
            </a:xfrm>
          </p:grpSpPr>
          <p:sp>
            <p:nvSpPr>
              <p:cNvPr id="38929" name="Text Box 17"/>
              <p:cNvSpPr txBox="1">
                <a:spLocks noChangeArrowheads="1"/>
              </p:cNvSpPr>
              <p:nvPr/>
            </p:nvSpPr>
            <p:spPr bwMode="auto">
              <a:xfrm>
                <a:off x="2760" y="3390"/>
                <a:ext cx="930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k</a:t>
                </a:r>
                <a:r>
                  <a:rPr kumimoji="0" lang="en-US" sz="1100" b="0" i="1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8930" name="Text Box 18"/>
              <p:cNvSpPr txBox="1">
                <a:spLocks noChangeArrowheads="1"/>
              </p:cNvSpPr>
              <p:nvPr/>
            </p:nvSpPr>
            <p:spPr bwMode="auto">
              <a:xfrm>
                <a:off x="2760" y="3885"/>
                <a:ext cx="930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k</a:t>
                </a:r>
                <a:r>
                  <a:rPr kumimoji="0" lang="en-US" sz="1100" b="0" i="1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-1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38931" name="Picture 1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535" y="3706"/>
              <a:ext cx="1185" cy="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4" name="TextBox 23"/>
          <p:cNvSpPr txBox="1"/>
          <p:nvPr/>
        </p:nvSpPr>
        <p:spPr>
          <a:xfrm>
            <a:off x="703550" y="4495800"/>
            <a:ext cx="8059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Tl</a:t>
            </a:r>
            <a:r>
              <a:rPr lang="pt-BR" baseline="30000" dirty="0"/>
              <a:t>+</a:t>
            </a:r>
            <a:r>
              <a:rPr lang="pt-BR" i="1" dirty="0"/>
              <a:t>(aq)</a:t>
            </a:r>
            <a:r>
              <a:rPr lang="pt-BR" dirty="0"/>
              <a:t>  +   </a:t>
            </a:r>
            <a:r>
              <a:rPr lang="pt-BR" b="1" dirty="0"/>
              <a:t>Ag</a:t>
            </a:r>
            <a:r>
              <a:rPr lang="pt-BR" b="1" baseline="30000" dirty="0"/>
              <a:t>2+</a:t>
            </a:r>
            <a:r>
              <a:rPr lang="pt-BR" i="1" dirty="0"/>
              <a:t>(aq)</a:t>
            </a:r>
            <a:r>
              <a:rPr lang="pt-BR" dirty="0"/>
              <a:t>           Tl</a:t>
            </a:r>
            <a:r>
              <a:rPr lang="pt-BR" baseline="30000" dirty="0"/>
              <a:t>2+</a:t>
            </a:r>
            <a:r>
              <a:rPr lang="pt-BR" i="1" dirty="0"/>
              <a:t>(aq)</a:t>
            </a:r>
            <a:r>
              <a:rPr lang="pt-BR" dirty="0"/>
              <a:t>  +   </a:t>
            </a:r>
            <a:r>
              <a:rPr lang="pt-BR" b="1" dirty="0"/>
              <a:t>Ag</a:t>
            </a:r>
            <a:r>
              <a:rPr lang="pt-BR" b="1" baseline="30000" dirty="0"/>
              <a:t>+</a:t>
            </a:r>
            <a:r>
              <a:rPr lang="pt-BR" i="1" dirty="0"/>
              <a:t>(aq)</a:t>
            </a:r>
            <a:r>
              <a:rPr lang="pt-BR" dirty="0"/>
              <a:t>        (slow)</a:t>
            </a:r>
            <a:endParaRPr lang="en-US" dirty="0"/>
          </a:p>
        </p:txBody>
      </p:sp>
      <p:sp>
        <p:nvSpPr>
          <p:cNvPr id="3893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8932" name="Object 20"/>
          <p:cNvGraphicFramePr>
            <a:graphicFrameLocks noChangeAspect="1"/>
          </p:cNvGraphicFramePr>
          <p:nvPr/>
        </p:nvGraphicFramePr>
        <p:xfrm>
          <a:off x="3522950" y="4495800"/>
          <a:ext cx="945444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391" imgH="253890" progId="Equation.3">
                  <p:embed/>
                </p:oleObj>
              </mc:Choice>
              <mc:Fallback>
                <p:oleObj name="Equation" r:id="rId3" imgW="482391" imgH="253890" progId="Equation.3">
                  <p:embed/>
                  <p:pic>
                    <p:nvPicPr>
                      <p:cNvPr id="389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950" y="4495800"/>
                        <a:ext cx="945444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7248" y="5286376"/>
            <a:ext cx="7793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Tl</a:t>
            </a:r>
            <a:r>
              <a:rPr lang="pt-BR" baseline="30000" dirty="0"/>
              <a:t>2+</a:t>
            </a:r>
            <a:r>
              <a:rPr lang="pt-BR" i="1" dirty="0"/>
              <a:t>(aq)</a:t>
            </a:r>
            <a:r>
              <a:rPr lang="pt-BR" dirty="0"/>
              <a:t>  + Ce</a:t>
            </a:r>
            <a:r>
              <a:rPr lang="pt-BR" baseline="30000" dirty="0"/>
              <a:t>4+</a:t>
            </a:r>
            <a:r>
              <a:rPr lang="pt-BR" i="1" dirty="0"/>
              <a:t>(aq)</a:t>
            </a:r>
            <a:r>
              <a:rPr lang="pt-BR" dirty="0"/>
              <a:t>           Tl</a:t>
            </a:r>
            <a:r>
              <a:rPr lang="pt-BR" baseline="30000" dirty="0"/>
              <a:t>3+</a:t>
            </a:r>
            <a:r>
              <a:rPr lang="pt-BR" i="1" dirty="0"/>
              <a:t>(aq)</a:t>
            </a:r>
            <a:r>
              <a:rPr lang="pt-BR" dirty="0"/>
              <a:t> +  Ce</a:t>
            </a:r>
            <a:r>
              <a:rPr lang="pt-BR" baseline="30000" dirty="0"/>
              <a:t>3+</a:t>
            </a:r>
            <a:r>
              <a:rPr lang="pt-BR" i="1" dirty="0"/>
              <a:t>(aq)</a:t>
            </a:r>
            <a:r>
              <a:rPr lang="pt-BR" dirty="0"/>
              <a:t>        (fast)</a:t>
            </a:r>
            <a:endParaRPr lang="en-US" dirty="0"/>
          </a:p>
        </p:txBody>
      </p:sp>
      <p:sp>
        <p:nvSpPr>
          <p:cNvPr id="38935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8934" name="Object 22"/>
          <p:cNvGraphicFramePr>
            <a:graphicFrameLocks noChangeAspect="1"/>
          </p:cNvGraphicFramePr>
          <p:nvPr/>
        </p:nvGraphicFramePr>
        <p:xfrm>
          <a:off x="3502240" y="5257800"/>
          <a:ext cx="82973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696" imgH="253890" progId="Equation.3">
                  <p:embed/>
                </p:oleObj>
              </mc:Choice>
              <mc:Fallback>
                <p:oleObj name="Equation" r:id="rId5" imgW="469696" imgH="253890" progId="Equation.3">
                  <p:embed/>
                  <p:pic>
                    <p:nvPicPr>
                      <p:cNvPr id="3893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240" y="5257800"/>
                        <a:ext cx="82973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682441" y="6248400"/>
            <a:ext cx="5251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Identifying catalyst and intermediates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24" grpId="0"/>
      <p:bldP spid="2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Picture 3" descr="f13-28_comparison_of_a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538537"/>
            <a:ext cx="4324350" cy="324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Another catalysis example - enzymes</a:t>
            </a:r>
          </a:p>
        </p:txBody>
      </p:sp>
      <p:pic>
        <p:nvPicPr>
          <p:cNvPr id="63490" name="Picture 2" descr="f13-26_the_lock-and-ke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75" y="1864387"/>
            <a:ext cx="4810125" cy="362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181600" y="2510135"/>
            <a:ext cx="3659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 and key mechanism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b="1" dirty="0"/>
              <a:t>Reaction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" y="1874460"/>
            <a:ext cx="2366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Reaction rate =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95400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collisions per unit time with energy equal to or greater than E</a:t>
            </a:r>
            <a:r>
              <a:rPr lang="en-US" baseline="-25000" dirty="0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0" y="187446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800" y="149346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Fraction of collisions in which molecules have proper orientation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1" y="4480679"/>
            <a:ext cx="1676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Reaction rate         =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4416147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collisions per unit time</a:t>
            </a:r>
            <a:endParaRPr lang="en-US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3496350" y="477827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7400" y="4397276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Fraction of collisions in which molecules have proper orientation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3800" y="4016276"/>
            <a:ext cx="198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Fraction of collisions with energy equal to or greater than E</a:t>
            </a:r>
            <a:r>
              <a:rPr lang="en-US" baseline="-25000" dirty="0"/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2600" y="477827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24" name="Elbow Connector 23"/>
          <p:cNvCxnSpPr/>
          <p:nvPr/>
        </p:nvCxnSpPr>
        <p:spPr bwMode="auto">
          <a:xfrm rot="5400000">
            <a:off x="2405807" y="3066739"/>
            <a:ext cx="1551087" cy="1181100"/>
          </a:xfrm>
          <a:prstGeom prst="bentConnector3">
            <a:avLst>
              <a:gd name="adj1" fmla="val 36603"/>
            </a:avLst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Elbow Connector 25"/>
          <p:cNvCxnSpPr>
            <a:stCxn id="6" idx="2"/>
            <a:endCxn id="20" idx="0"/>
          </p:cNvCxnSpPr>
          <p:nvPr/>
        </p:nvCxnSpPr>
        <p:spPr bwMode="auto">
          <a:xfrm rot="16200000" flipH="1">
            <a:off x="3672542" y="2964418"/>
            <a:ext cx="1151216" cy="9525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13_521_b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7013"/>
            <a:ext cx="3481387" cy="6402387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114801" y="3124200"/>
            <a:ext cx="4419599" cy="1938992"/>
          </a:xfrm>
          <a:prstGeom prst="rect">
            <a:avLst/>
          </a:prstGeom>
          <a:noFill/>
          <a:ln w="79375" cmpd="tri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greater</a:t>
            </a:r>
            <a:r>
              <a:rPr lang="en-US" dirty="0"/>
              <a:t> the concentration of </a:t>
            </a:r>
            <a:r>
              <a:rPr lang="en-US" dirty="0">
                <a:solidFill>
                  <a:srgbClr val="FF0000"/>
                </a:solidFill>
              </a:rPr>
              <a:t>reactants</a:t>
            </a:r>
            <a:r>
              <a:rPr lang="en-US" dirty="0"/>
              <a:t>, the </a:t>
            </a:r>
            <a:r>
              <a:rPr lang="en-US" dirty="0">
                <a:solidFill>
                  <a:schemeClr val="accent2"/>
                </a:solidFill>
              </a:rPr>
              <a:t>greater</a:t>
            </a:r>
            <a:r>
              <a:rPr lang="en-US" dirty="0"/>
              <a:t> the total number of collisions per second and thus the </a:t>
            </a:r>
            <a:r>
              <a:rPr lang="en-US" dirty="0">
                <a:solidFill>
                  <a:schemeClr val="accent2"/>
                </a:solidFill>
              </a:rPr>
              <a:t>highe</a:t>
            </a:r>
            <a:r>
              <a:rPr lang="en-US" dirty="0"/>
              <a:t>r the reaction rate.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62400" y="762000"/>
            <a:ext cx="4572000" cy="1143000"/>
          </a:xfrm>
        </p:spPr>
        <p:txBody>
          <a:bodyPr/>
          <a:lstStyle/>
          <a:p>
            <a:r>
              <a:rPr lang="en-US" b="1" dirty="0"/>
              <a:t>Dependence on concentration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1143000"/>
          </a:xfrm>
        </p:spPr>
        <p:txBody>
          <a:bodyPr/>
          <a:lstStyle/>
          <a:p>
            <a:r>
              <a:rPr lang="en-US" b="1" dirty="0"/>
              <a:t>Dependence on concentration</a:t>
            </a:r>
          </a:p>
        </p:txBody>
      </p:sp>
      <p:pic>
        <p:nvPicPr>
          <p:cNvPr id="3" name="Picture 3" descr="13_522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9550" y="3048000"/>
            <a:ext cx="4309850" cy="3597191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838200" y="1295400"/>
            <a:ext cx="7696200" cy="1569660"/>
          </a:xfrm>
          <a:prstGeom prst="rect">
            <a:avLst/>
          </a:prstGeom>
          <a:noFill/>
          <a:ln w="79375" cmpd="tri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number of collisions is proportional to the concentration – if the </a:t>
            </a:r>
            <a:r>
              <a:rPr lang="en-US" dirty="0">
                <a:solidFill>
                  <a:schemeClr val="accent2"/>
                </a:solidFill>
              </a:rPr>
              <a:t>concentration increases</a:t>
            </a:r>
            <a:r>
              <a:rPr lang="en-US" dirty="0"/>
              <a:t>, the number of </a:t>
            </a:r>
            <a:r>
              <a:rPr lang="en-US" dirty="0">
                <a:solidFill>
                  <a:schemeClr val="accent2"/>
                </a:solidFill>
              </a:rPr>
              <a:t>collisions increase </a:t>
            </a:r>
            <a:r>
              <a:rPr lang="en-US" dirty="0"/>
              <a:t>or if the </a:t>
            </a:r>
            <a:r>
              <a:rPr lang="en-US" dirty="0">
                <a:solidFill>
                  <a:schemeClr val="accent2"/>
                </a:solidFill>
              </a:rPr>
              <a:t>concentration decreases</a:t>
            </a:r>
            <a:r>
              <a:rPr lang="en-US" dirty="0"/>
              <a:t>, the number of </a:t>
            </a:r>
            <a:r>
              <a:rPr lang="en-US" dirty="0">
                <a:solidFill>
                  <a:schemeClr val="accent2"/>
                </a:solidFill>
              </a:rPr>
              <a:t>collisions decrease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b="1" dirty="0"/>
              <a:t>Reaction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1" y="1889879"/>
            <a:ext cx="1676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Reaction rate         =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825347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collisions per unit time</a:t>
            </a:r>
            <a:endParaRPr lang="en-US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3572550" y="218747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806476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Fraction of collisions in which molecules have proper orientation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0" y="1425476"/>
            <a:ext cx="198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Fraction of collisions with energy equal to or greater than E</a:t>
            </a:r>
            <a:r>
              <a:rPr lang="en-US" baseline="-25000" dirty="0"/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8800" y="218747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31603"/>
            <a:ext cx="1676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Reaction rate         =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667071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collisions per unit time</a:t>
            </a:r>
            <a:endParaRPr lang="en-US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4715550" y="50292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00" y="50292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k</a:t>
            </a:r>
            <a:endParaRPr lang="en-US" i="1" baseline="-25000" dirty="0"/>
          </a:p>
        </p:txBody>
      </p:sp>
      <p:cxnSp>
        <p:nvCxnSpPr>
          <p:cNvPr id="31" name="Elbow Connector 30"/>
          <p:cNvCxnSpPr>
            <a:stCxn id="20" idx="2"/>
            <a:endCxn id="28" idx="0"/>
          </p:cNvCxnSpPr>
          <p:nvPr/>
        </p:nvCxnSpPr>
        <p:spPr bwMode="auto">
          <a:xfrm rot="16200000" flipH="1">
            <a:off x="4724400" y="3810000"/>
            <a:ext cx="1295400" cy="1143000"/>
          </a:xfrm>
          <a:prstGeom prst="bentConnector3">
            <a:avLst>
              <a:gd name="adj1" fmla="val 43583"/>
            </a:avLst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Elbow Connector 34"/>
          <p:cNvCxnSpPr>
            <a:stCxn id="19" idx="2"/>
          </p:cNvCxnSpPr>
          <p:nvPr/>
        </p:nvCxnSpPr>
        <p:spPr bwMode="auto">
          <a:xfrm rot="5400000">
            <a:off x="5751553" y="3198852"/>
            <a:ext cx="2022395" cy="1638300"/>
          </a:xfrm>
          <a:prstGeom prst="bentConnector3">
            <a:avLst>
              <a:gd name="adj1" fmla="val 63701"/>
            </a:avLst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6400800" y="5562600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Rate constant – independent of concentration</a:t>
            </a:r>
          </a:p>
        </p:txBody>
      </p:sp>
      <p:cxnSp>
        <p:nvCxnSpPr>
          <p:cNvPr id="41" name="Straight Arrow Connector 40"/>
          <p:cNvCxnSpPr/>
          <p:nvPr/>
        </p:nvCxnSpPr>
        <p:spPr bwMode="auto">
          <a:xfrm rot="10800000">
            <a:off x="6096000" y="5334000"/>
            <a:ext cx="838200" cy="22860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990600" y="6248400"/>
            <a:ext cx="5062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 is still dependent on temperature!!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  <p:bldP spid="28" grpId="0"/>
      <p:bldP spid="39" grpId="0"/>
      <p:bldP spid="4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Rate law or expression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752600"/>
            <a:ext cx="6477000" cy="1200329"/>
          </a:xfrm>
          <a:prstGeom prst="rect">
            <a:avLst/>
          </a:prstGeom>
          <a:noFill/>
          <a:ln w="79375" cmpd="tri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rate law/expression </a:t>
            </a:r>
            <a:r>
              <a:rPr lang="en-US" dirty="0"/>
              <a:t>gives the relationship between the concentration of the reactants and the rate of the reaction.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3516" y="3276600"/>
            <a:ext cx="5109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aA</a:t>
            </a:r>
            <a:r>
              <a:rPr lang="en-US" sz="3600" dirty="0"/>
              <a:t>  +  </a:t>
            </a:r>
            <a:r>
              <a:rPr lang="en-US" sz="3600" dirty="0" err="1"/>
              <a:t>bB</a:t>
            </a:r>
            <a:r>
              <a:rPr lang="en-US" sz="3600" dirty="0"/>
              <a:t>  →   </a:t>
            </a:r>
            <a:r>
              <a:rPr lang="en-US" sz="3600" dirty="0" err="1"/>
              <a:t>cC</a:t>
            </a:r>
            <a:r>
              <a:rPr lang="en-US" sz="3600" dirty="0"/>
              <a:t>  +  </a:t>
            </a:r>
            <a:r>
              <a:rPr lang="en-US" sz="3600" dirty="0" err="1"/>
              <a:t>dD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2590800" y="4876800"/>
            <a:ext cx="32880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rate = </a:t>
            </a:r>
            <a:r>
              <a:rPr lang="en-US" sz="3200" i="1" dirty="0"/>
              <a:t>k</a:t>
            </a:r>
            <a:r>
              <a:rPr lang="en-US" sz="3200" dirty="0"/>
              <a:t> [A]</a:t>
            </a:r>
            <a:r>
              <a:rPr lang="en-US" sz="3200" baseline="30000" dirty="0"/>
              <a:t>m</a:t>
            </a:r>
            <a:r>
              <a:rPr lang="en-US" sz="3200" dirty="0"/>
              <a:t> [B]</a:t>
            </a:r>
            <a:r>
              <a:rPr lang="en-US" sz="3200" baseline="30000" dirty="0"/>
              <a:t>n</a:t>
            </a:r>
            <a:r>
              <a:rPr lang="en-US" sz="32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775" y="4343400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constant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2590800" y="4648200"/>
            <a:ext cx="1219200" cy="381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791201" y="4186535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Orders – </a:t>
            </a:r>
            <a:r>
              <a:rPr lang="en-US" dirty="0">
                <a:solidFill>
                  <a:srgbClr val="C00000"/>
                </a:solidFill>
              </a:rPr>
              <a:t>ALWAYS</a:t>
            </a:r>
            <a:r>
              <a:rPr lang="en-US" dirty="0"/>
              <a:t> experimentally determined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rot="5400000">
            <a:off x="5562600" y="4648200"/>
            <a:ext cx="38100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rot="10800000" flipV="1">
            <a:off x="4876808" y="4495800"/>
            <a:ext cx="990592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3680469" y="6096000"/>
            <a:ext cx="4583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Molar concentration of </a:t>
            </a:r>
            <a:r>
              <a:rPr lang="en-US" dirty="0">
                <a:solidFill>
                  <a:srgbClr val="FF0000"/>
                </a:solidFill>
              </a:rPr>
              <a:t>reactants</a:t>
            </a:r>
            <a:endParaRPr lang="en-US" dirty="0"/>
          </a:p>
        </p:txBody>
      </p:sp>
      <p:cxnSp>
        <p:nvCxnSpPr>
          <p:cNvPr id="16" name="Straight Arrow Connector 15"/>
          <p:cNvCxnSpPr>
            <a:endCxn id="5" idx="2"/>
          </p:cNvCxnSpPr>
          <p:nvPr/>
        </p:nvCxnSpPr>
        <p:spPr bwMode="auto">
          <a:xfrm rot="16200000" flipV="1">
            <a:off x="4010008" y="5686408"/>
            <a:ext cx="634425" cy="18476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rot="5400000" flipH="1" flipV="1">
            <a:off x="4229100" y="5753100"/>
            <a:ext cx="685800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rot="5400000" flipH="1" flipV="1">
            <a:off x="4610100" y="5676900"/>
            <a:ext cx="685800" cy="1524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rot="5400000" flipH="1" flipV="1">
            <a:off x="4914900" y="5676900"/>
            <a:ext cx="60960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676400" y="304800"/>
            <a:ext cx="5690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MUST be determined experimentally!!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4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b="1" dirty="0"/>
              <a:t>How do we find the orders?</a:t>
            </a:r>
          </a:p>
        </p:txBody>
      </p:sp>
      <p:pic>
        <p:nvPicPr>
          <p:cNvPr id="3" name="Picture 3" descr="13_525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295400"/>
            <a:ext cx="4876800" cy="2263808"/>
          </a:xfrm>
          <a:prstGeom prst="rect">
            <a:avLst/>
          </a:prstGeom>
          <a:noFill/>
        </p:spPr>
      </p:pic>
      <p:pic>
        <p:nvPicPr>
          <p:cNvPr id="4" name="Picture 3" descr="13_526_a_FI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4836340"/>
            <a:ext cx="4191000" cy="1945460"/>
          </a:xfrm>
          <a:prstGeom prst="rect">
            <a:avLst/>
          </a:prstGeom>
          <a:noFill/>
        </p:spPr>
      </p:pic>
      <p:pic>
        <p:nvPicPr>
          <p:cNvPr id="5" name="Picture 3" descr="13_527_a_FI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4800968"/>
            <a:ext cx="4267200" cy="198083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81000" y="1836003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 at </a:t>
            </a:r>
            <a:r>
              <a:rPr lang="en-US" dirty="0">
                <a:solidFill>
                  <a:srgbClr val="FF0000"/>
                </a:solidFill>
              </a:rPr>
              <a:t>initial</a:t>
            </a:r>
            <a:r>
              <a:rPr lang="en-US" dirty="0"/>
              <a:t> reaction rate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19548" y="2743200"/>
          <a:ext cx="196645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393480" progId="Equation.3">
                  <p:embed/>
                </p:oleObj>
              </mc:Choice>
              <mc:Fallback>
                <p:oleObj name="Equation" r:id="rId5" imgW="1015920" imgH="39348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48" y="2743200"/>
                        <a:ext cx="1966452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3320" y="3886200"/>
            <a:ext cx="32880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rate = </a:t>
            </a:r>
            <a:r>
              <a:rPr lang="en-US" sz="3200" i="1" dirty="0"/>
              <a:t>k</a:t>
            </a:r>
            <a:r>
              <a:rPr lang="en-US" sz="3200" dirty="0"/>
              <a:t> [A]</a:t>
            </a:r>
            <a:r>
              <a:rPr lang="en-US" sz="3200" baseline="30000" dirty="0"/>
              <a:t>m</a:t>
            </a:r>
            <a:r>
              <a:rPr lang="en-US" sz="3200" dirty="0"/>
              <a:t> [B]</a:t>
            </a:r>
            <a:r>
              <a:rPr lang="en-US" sz="3200" baseline="30000" dirty="0"/>
              <a:t>n</a:t>
            </a:r>
            <a:r>
              <a:rPr lang="en-US" sz="32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b="1" dirty="0"/>
              <a:t>Reaction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905358"/>
            <a:ext cx="782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First order:  </a:t>
            </a:r>
            <a:r>
              <a:rPr lang="en-US" dirty="0"/>
              <a:t>For example Rate = </a:t>
            </a:r>
            <a:r>
              <a:rPr lang="en-US" i="1" dirty="0"/>
              <a:t>k</a:t>
            </a:r>
            <a:r>
              <a:rPr lang="en-US" dirty="0"/>
              <a:t> [A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1</a:t>
            </a:r>
            <a:r>
              <a:rPr lang="en-US" dirty="0"/>
              <a:t> [B]</a:t>
            </a:r>
            <a:r>
              <a:rPr lang="en-US" baseline="30000" dirty="0"/>
              <a:t>m</a:t>
            </a:r>
            <a:r>
              <a:rPr lang="en-US" dirty="0"/>
              <a:t> = </a:t>
            </a:r>
            <a:r>
              <a:rPr lang="en-US" i="1" dirty="0"/>
              <a:t>k</a:t>
            </a:r>
            <a:r>
              <a:rPr lang="en-US" dirty="0"/>
              <a:t> [A</a:t>
            </a:r>
            <a:r>
              <a:rPr lang="en-US" baseline="-25000" dirty="0"/>
              <a:t>2</a:t>
            </a:r>
            <a:r>
              <a:rPr lang="en-US" dirty="0"/>
              <a:t>] [B]</a:t>
            </a:r>
            <a:r>
              <a:rPr lang="en-US" baseline="30000" dirty="0"/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3307140"/>
            <a:ext cx="708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reactant concentration doubles, rate doubles and product concentration doubles</a:t>
            </a:r>
          </a:p>
          <a:p>
            <a:pPr algn="ctr"/>
            <a:r>
              <a:rPr lang="en-US" dirty="0"/>
              <a:t>If reactant concentration triples, rate triples and product concentration triples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876800"/>
            <a:ext cx="6559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Second order:  </a:t>
            </a:r>
            <a:r>
              <a:rPr lang="en-US" dirty="0"/>
              <a:t>For example Rate = </a:t>
            </a:r>
            <a:r>
              <a:rPr lang="en-US" i="1" dirty="0"/>
              <a:t>k</a:t>
            </a:r>
            <a:r>
              <a:rPr lang="en-US" dirty="0"/>
              <a:t> [A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2</a:t>
            </a:r>
            <a:r>
              <a:rPr lang="en-US" dirty="0"/>
              <a:t> [B]</a:t>
            </a:r>
            <a:r>
              <a:rPr lang="en-US" baseline="30000" dirty="0"/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5257800"/>
            <a:ext cx="708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reactant concentration doubles, rate quadruples and product concentration quadruples</a:t>
            </a:r>
          </a:p>
          <a:p>
            <a:pPr algn="ctr"/>
            <a:r>
              <a:rPr lang="en-US" dirty="0"/>
              <a:t>If reactant concentration triples, rate and product concentration increase by 9-fold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00200"/>
            <a:ext cx="782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Zeroth order:  </a:t>
            </a:r>
            <a:r>
              <a:rPr lang="en-US" dirty="0"/>
              <a:t>For example Rate = </a:t>
            </a:r>
            <a:r>
              <a:rPr lang="en-US" i="1" dirty="0"/>
              <a:t>k</a:t>
            </a:r>
            <a:r>
              <a:rPr lang="en-US" dirty="0"/>
              <a:t> [A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0</a:t>
            </a:r>
            <a:r>
              <a:rPr lang="en-US" dirty="0"/>
              <a:t> [B]</a:t>
            </a:r>
            <a:r>
              <a:rPr lang="en-US" baseline="30000" dirty="0"/>
              <a:t>m</a:t>
            </a:r>
            <a:r>
              <a:rPr lang="en-US" dirty="0"/>
              <a:t>  = </a:t>
            </a:r>
            <a:r>
              <a:rPr lang="en-US" i="1" dirty="0"/>
              <a:t>k</a:t>
            </a:r>
            <a:r>
              <a:rPr lang="en-US" dirty="0"/>
              <a:t> [B]</a:t>
            </a:r>
            <a:r>
              <a:rPr lang="en-US" baseline="30000" dirty="0"/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976735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reactant concentration doubles or triples, rate doesn’t change and product concentration doesn’t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4748" y="1143000"/>
            <a:ext cx="2624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  <a:r>
              <a:rPr lang="en-US" b="1" baseline="-25000" dirty="0"/>
              <a:t>2</a:t>
            </a:r>
            <a:r>
              <a:rPr lang="en-US" b="1" dirty="0"/>
              <a:t> + B → AB +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Overall order of reaction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5400" y="2057400"/>
            <a:ext cx="6074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Third order:  </a:t>
            </a:r>
            <a:r>
              <a:rPr lang="en-US" dirty="0"/>
              <a:t>For example Rate = </a:t>
            </a:r>
            <a:r>
              <a:rPr lang="en-US" i="1" dirty="0"/>
              <a:t>k</a:t>
            </a:r>
            <a:r>
              <a:rPr lang="en-US" dirty="0"/>
              <a:t> [A]</a:t>
            </a:r>
            <a:r>
              <a:rPr lang="en-US" baseline="30000" dirty="0"/>
              <a:t>2</a:t>
            </a:r>
            <a:r>
              <a:rPr lang="en-US" dirty="0"/>
              <a:t>[B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7432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 + 1 =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3581400"/>
            <a:ext cx="5344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generally: Rate = </a:t>
            </a:r>
            <a:r>
              <a:rPr lang="en-US" i="1" dirty="0"/>
              <a:t>k</a:t>
            </a:r>
            <a:r>
              <a:rPr lang="en-US" dirty="0"/>
              <a:t> [A]</a:t>
            </a:r>
            <a:r>
              <a:rPr lang="en-US" baseline="30000" dirty="0"/>
              <a:t>m</a:t>
            </a:r>
            <a:r>
              <a:rPr lang="en-US" dirty="0"/>
              <a:t> [B]</a:t>
            </a:r>
            <a:r>
              <a:rPr lang="en-US" baseline="30000" dirty="0"/>
              <a:t>n</a:t>
            </a:r>
            <a:r>
              <a:rPr lang="en-US" dirty="0"/>
              <a:t> [C]</a:t>
            </a:r>
            <a:r>
              <a:rPr lang="en-US" baseline="30000" dirty="0"/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259997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 + n + p = overall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265003"/>
            <a:ext cx="723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Remember the reaction rate and orders </a:t>
            </a:r>
            <a:r>
              <a:rPr lang="en-US" dirty="0">
                <a:solidFill>
                  <a:srgbClr val="FF0000"/>
                </a:solidFill>
              </a:rPr>
              <a:t>MUST BE determined experimentally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1828800"/>
            <a:ext cx="5670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NO(g) + 2 H</a:t>
            </a:r>
            <a:r>
              <a:rPr lang="pt-BR" baseline="-25000" dirty="0"/>
              <a:t>2</a:t>
            </a:r>
            <a:r>
              <a:rPr lang="pt-BR" dirty="0"/>
              <a:t>(g)  →  N</a:t>
            </a:r>
            <a:r>
              <a:rPr lang="pt-BR" baseline="-25000" dirty="0"/>
              <a:t>2</a:t>
            </a:r>
            <a:r>
              <a:rPr lang="pt-BR" dirty="0"/>
              <a:t>(g)  +   2 H</a:t>
            </a:r>
            <a:r>
              <a:rPr lang="pt-BR" baseline="-25000" dirty="0"/>
              <a:t>2</a:t>
            </a:r>
            <a:r>
              <a:rPr lang="pt-BR" dirty="0"/>
              <a:t>O(l)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2819400"/>
          <a:ext cx="6629400" cy="1584960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Experiment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[NO]</a:t>
                      </a:r>
                      <a:r>
                        <a:rPr lang="en-US" sz="18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init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[H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1800" b="1" baseline="-25000">
                          <a:latin typeface="Times New Roman"/>
                          <a:ea typeface="Times New Roman"/>
                          <a:cs typeface="Times New Roman"/>
                        </a:rPr>
                        <a:t>init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Initial Rate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5.0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–3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2.0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–3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1.25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–5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M/s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1.0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–2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2.0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–3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5.00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–5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M/s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1.0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–2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4.0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–3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1.00 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10</a:t>
                      </a:r>
                      <a:r>
                        <a:rPr lang="en-US" sz="1800" b="1" baseline="30000" dirty="0">
                          <a:latin typeface="Times New Roman"/>
                          <a:ea typeface="Times New Roman"/>
                          <a:cs typeface="Times New Roman"/>
                        </a:rPr>
                        <a:t>–4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M/s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077200" cy="1143000"/>
          </a:xfrm>
        </p:spPr>
        <p:txBody>
          <a:bodyPr/>
          <a:lstStyle/>
          <a:p>
            <a:r>
              <a:rPr lang="en-US" b="1" dirty="0"/>
              <a:t>Summary of important </a:t>
            </a:r>
            <a:br>
              <a:rPr lang="en-US" b="1" dirty="0"/>
            </a:br>
            <a:r>
              <a:rPr lang="en-US" b="1" dirty="0"/>
              <a:t>rate law 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772400" cy="4114800"/>
          </a:xfrm>
        </p:spPr>
        <p:txBody>
          <a:bodyPr/>
          <a:lstStyle/>
          <a:p>
            <a:r>
              <a:rPr lang="en-US" sz="2800" dirty="0"/>
              <a:t>Rate laws or expressions must be experimentally determined.</a:t>
            </a:r>
          </a:p>
          <a:p>
            <a:r>
              <a:rPr lang="en-US" sz="2800" dirty="0"/>
              <a:t>Method of initial rates can be used to determine rate laws.</a:t>
            </a:r>
          </a:p>
          <a:p>
            <a:r>
              <a:rPr lang="en-US" sz="2800" dirty="0"/>
              <a:t>The rate constant is independent of concentration of products.</a:t>
            </a:r>
          </a:p>
          <a:p>
            <a:r>
              <a:rPr lang="en-US" sz="2800" dirty="0"/>
              <a:t>Once the rate law or expression has been determined, it can be used to calculate the rate of the reaction under different concentrations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Reaction Mechanisms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85800" y="3200400"/>
            <a:ext cx="7772400" cy="2895600"/>
          </a:xfrm>
        </p:spPr>
        <p:txBody>
          <a:bodyPr/>
          <a:lstStyle/>
          <a:p>
            <a:r>
              <a:rPr lang="en-US" sz="2400" dirty="0"/>
              <a:t>Mechanisms are theoretical, cannot be directly observed, therefore cannot be proven.  Although computational methods can now give important insight into these mechanisms</a:t>
            </a:r>
          </a:p>
          <a:p>
            <a:r>
              <a:rPr lang="en-US" sz="2400" dirty="0"/>
              <a:t>Mechanisms are inferred from kinetics data</a:t>
            </a:r>
          </a:p>
          <a:p>
            <a:r>
              <a:rPr lang="en-US" sz="2400" dirty="0"/>
              <a:t>Balanced reaction equations give the overall reaction or the net result of the reaction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143000"/>
            <a:ext cx="7290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 reaction rarely involves only one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000071"/>
            <a:ext cx="6477000" cy="830997"/>
          </a:xfrm>
          <a:prstGeom prst="rect">
            <a:avLst/>
          </a:prstGeom>
          <a:noFill/>
          <a:ln w="79375" cmpd="tri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solidFill>
                  <a:schemeClr val="accent2"/>
                </a:solidFill>
              </a:rPr>
              <a:t>reaction mechanism</a:t>
            </a:r>
            <a:r>
              <a:rPr lang="en-US" dirty="0"/>
              <a:t> is the detailed series of steps involved in a chemical reaction.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Elementary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828800"/>
            <a:ext cx="6858000" cy="830997"/>
          </a:xfrm>
          <a:prstGeom prst="rect">
            <a:avLst/>
          </a:prstGeom>
          <a:noFill/>
          <a:ln w="79375" cmpd="tri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</a:t>
            </a:r>
            <a:r>
              <a:rPr lang="en-US" dirty="0">
                <a:solidFill>
                  <a:schemeClr val="accent2"/>
                </a:solidFill>
              </a:rPr>
              <a:t>elementary reaction</a:t>
            </a:r>
            <a:r>
              <a:rPr lang="en-US" dirty="0"/>
              <a:t> or </a:t>
            </a:r>
            <a:r>
              <a:rPr lang="en-US" dirty="0">
                <a:solidFill>
                  <a:schemeClr val="accent2"/>
                </a:solidFill>
              </a:rPr>
              <a:t>elementary process</a:t>
            </a:r>
            <a:r>
              <a:rPr lang="en-US" dirty="0"/>
              <a:t>  refers to a single step in a reaction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365" y="3200400"/>
            <a:ext cx="8388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Represents the </a:t>
            </a:r>
            <a:r>
              <a:rPr lang="en-US" b="1" dirty="0"/>
              <a:t>actual</a:t>
            </a:r>
            <a:r>
              <a:rPr lang="en-US" dirty="0"/>
              <a:t> collision or decomposition happening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425" y="4057471"/>
            <a:ext cx="7579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For an elementary reaction</a:t>
            </a:r>
            <a:r>
              <a:rPr lang="en-US" dirty="0"/>
              <a:t>, the reactant orders in the rate law are determined by the </a:t>
            </a:r>
            <a:r>
              <a:rPr lang="en-US" dirty="0" err="1"/>
              <a:t>stoichiometry</a:t>
            </a:r>
            <a:r>
              <a:rPr lang="en-US" dirty="0"/>
              <a:t> of the balanced elementary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 b="1" dirty="0"/>
              <a:t>Elementary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1600200"/>
            <a:ext cx="886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Unimolecular</a:t>
            </a:r>
            <a:r>
              <a:rPr lang="en-US" dirty="0">
                <a:solidFill>
                  <a:schemeClr val="accent2"/>
                </a:solidFill>
              </a:rPr>
              <a:t> elementary reaction:</a:t>
            </a:r>
            <a:r>
              <a:rPr lang="en-US" dirty="0"/>
              <a:t>  only 1 reactant (no collision)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2800" y="2362200"/>
            <a:ext cx="1878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→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6735" y="3200400"/>
            <a:ext cx="1678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425" y="4057471"/>
            <a:ext cx="7579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Remember: ONLY for an elementary reaction</a:t>
            </a:r>
            <a:r>
              <a:rPr lang="en-US" dirty="0"/>
              <a:t>, the reactant orders in the rate law are determined by the </a:t>
            </a:r>
            <a:r>
              <a:rPr lang="en-US" dirty="0" err="1"/>
              <a:t>stoichiometry</a:t>
            </a:r>
            <a:r>
              <a:rPr lang="en-US" dirty="0"/>
              <a:t> of the balanced elementary reaction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 b="1" dirty="0"/>
              <a:t>Elementary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1600200"/>
            <a:ext cx="7446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Bimolecular elementary reaction:</a:t>
            </a:r>
            <a:r>
              <a:rPr lang="en-US" dirty="0"/>
              <a:t>  2 molecules collide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24200" y="2362200"/>
            <a:ext cx="2432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+ B →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6600" y="2971800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[A][B]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425" y="5429071"/>
            <a:ext cx="7579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Remember: ONLY for an elementary reaction</a:t>
            </a:r>
            <a:r>
              <a:rPr lang="en-US" dirty="0"/>
              <a:t>, the reactant orders in the rate law are determined by the </a:t>
            </a:r>
            <a:r>
              <a:rPr lang="en-US" dirty="0" err="1"/>
              <a:t>stoichiometry</a:t>
            </a:r>
            <a:r>
              <a:rPr lang="en-US" dirty="0"/>
              <a:t> of the balanced elementary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4110335"/>
            <a:ext cx="2398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+ A →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600" y="4567535"/>
            <a:ext cx="3130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[A][A] = </a:t>
            </a:r>
            <a:r>
              <a:rPr lang="en-US" i="1" dirty="0"/>
              <a:t>k </a:t>
            </a:r>
            <a:r>
              <a:rPr lang="en-US" dirty="0"/>
              <a:t>[A]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45033" y="3733800"/>
            <a:ext cx="2117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A → 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 b="1" dirty="0"/>
              <a:t>Elementary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1291" y="1219200"/>
            <a:ext cx="7599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Termolecular</a:t>
            </a:r>
            <a:r>
              <a:rPr lang="en-US" dirty="0">
                <a:solidFill>
                  <a:schemeClr val="accent2"/>
                </a:solidFill>
              </a:rPr>
              <a:t> elementary reaction:</a:t>
            </a:r>
            <a:r>
              <a:rPr lang="en-US" dirty="0"/>
              <a:t>  3 molecules collide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95600" y="2362200"/>
            <a:ext cx="3004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+ B + C →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0" y="2971800"/>
            <a:ext cx="2446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[A][B][C]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425" y="5429071"/>
            <a:ext cx="7579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Remember: ONLY for an elementary reaction</a:t>
            </a:r>
            <a:r>
              <a:rPr lang="en-US" dirty="0"/>
              <a:t>, the reactant orders in the rate law are determined by the </a:t>
            </a:r>
            <a:r>
              <a:rPr lang="en-US" dirty="0" err="1"/>
              <a:t>stoichiometry</a:t>
            </a:r>
            <a:r>
              <a:rPr lang="en-US" dirty="0"/>
              <a:t> of the balanced elementary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3957935"/>
            <a:ext cx="2672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A + B →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4567535"/>
            <a:ext cx="3881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[A][A][B] = </a:t>
            </a:r>
            <a:r>
              <a:rPr lang="en-US" i="1" dirty="0"/>
              <a:t>k </a:t>
            </a:r>
            <a:r>
              <a:rPr lang="en-US" dirty="0"/>
              <a:t>[A]</a:t>
            </a:r>
            <a:r>
              <a:rPr lang="en-US" baseline="30000" dirty="0"/>
              <a:t>2</a:t>
            </a:r>
            <a:r>
              <a:rPr lang="en-US" dirty="0"/>
              <a:t>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4971" y="1676400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RARE!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Multistep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567" y="1295400"/>
            <a:ext cx="87078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Consider the reaction A</a:t>
            </a:r>
            <a:r>
              <a:rPr lang="en-US" baseline="-25000" dirty="0"/>
              <a:t>2</a:t>
            </a:r>
            <a:r>
              <a:rPr lang="en-US" dirty="0"/>
              <a:t> + B</a:t>
            </a:r>
            <a:r>
              <a:rPr lang="en-US" baseline="-25000" dirty="0"/>
              <a:t>2</a:t>
            </a:r>
            <a:r>
              <a:rPr lang="en-US" dirty="0"/>
              <a:t> → 2 AB</a:t>
            </a:r>
          </a:p>
          <a:p>
            <a:pPr algn="ctr"/>
            <a:r>
              <a:rPr lang="en-US" dirty="0"/>
              <a:t>And suppose that kinetics experiments show the rate law to be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Is the following elementary mechanism correct?</a:t>
            </a:r>
          </a:p>
        </p:txBody>
      </p:sp>
      <p:pic>
        <p:nvPicPr>
          <p:cNvPr id="6" name="Picture 3" descr="13_530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3213" y="3886200"/>
            <a:ext cx="8535987" cy="2451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Multistep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530" y="1295400"/>
            <a:ext cx="63979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Consider the reaction A</a:t>
            </a:r>
            <a:r>
              <a:rPr lang="en-US" baseline="-25000" dirty="0"/>
              <a:t>2</a:t>
            </a:r>
            <a:r>
              <a:rPr lang="en-US" dirty="0"/>
              <a:t> + B</a:t>
            </a:r>
            <a:r>
              <a:rPr lang="en-US" baseline="-25000" dirty="0"/>
              <a:t>2</a:t>
            </a:r>
            <a:r>
              <a:rPr lang="en-US" dirty="0"/>
              <a:t> → 2 AB</a:t>
            </a:r>
          </a:p>
          <a:p>
            <a:pPr algn="ctr"/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Is the following multistep mechanism correct?</a:t>
            </a:r>
          </a:p>
        </p:txBody>
      </p:sp>
      <p:pic>
        <p:nvPicPr>
          <p:cNvPr id="5" name="Picture 3" descr="13_531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971800"/>
            <a:ext cx="8535987" cy="233521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09800" y="6019800"/>
            <a:ext cx="5299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Maybe, if Step 1 is a </a:t>
            </a:r>
            <a:r>
              <a:rPr lang="en-US" dirty="0">
                <a:solidFill>
                  <a:schemeClr val="accent2"/>
                </a:solidFill>
              </a:rPr>
              <a:t>rate limiting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8529" y="5481935"/>
            <a:ext cx="5269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and AB</a:t>
            </a:r>
            <a:r>
              <a:rPr lang="en-US" baseline="-25000" dirty="0"/>
              <a:t>2</a:t>
            </a:r>
            <a:r>
              <a:rPr lang="en-US" dirty="0"/>
              <a:t> are </a:t>
            </a:r>
            <a:r>
              <a:rPr lang="en-US" dirty="0">
                <a:solidFill>
                  <a:schemeClr val="accent2"/>
                </a:solidFill>
              </a:rPr>
              <a:t>reaction intermediates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76200"/>
            <a:ext cx="7772400" cy="1143000"/>
          </a:xfrm>
        </p:spPr>
        <p:txBody>
          <a:bodyPr/>
          <a:lstStyle/>
          <a:p>
            <a:r>
              <a:rPr lang="en-US" b="1" dirty="0"/>
              <a:t>Rate limiting or rate determining step</a:t>
            </a:r>
          </a:p>
        </p:txBody>
      </p:sp>
      <p:pic>
        <p:nvPicPr>
          <p:cNvPr id="4" name="Picture 3" descr="13_532_a_FIG"/>
          <p:cNvPicPr>
            <a:picLocks noChangeAspect="1" noChangeArrowheads="1"/>
          </p:cNvPicPr>
          <p:nvPr/>
        </p:nvPicPr>
        <p:blipFill>
          <a:blip r:embed="rId2" cstate="print"/>
          <a:srcRect r="10204"/>
          <a:stretch>
            <a:fillRect/>
          </a:stretch>
        </p:blipFill>
        <p:spPr bwMode="auto">
          <a:xfrm>
            <a:off x="304800" y="67617"/>
            <a:ext cx="3352800" cy="6866583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343401" y="2819400"/>
            <a:ext cx="4419599" cy="1569660"/>
          </a:xfrm>
          <a:prstGeom prst="rect">
            <a:avLst/>
          </a:prstGeom>
          <a:noFill/>
          <a:ln w="79375" cmpd="tri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rate limiting step</a:t>
            </a:r>
            <a:r>
              <a:rPr lang="en-US" dirty="0"/>
              <a:t> is one step in a multistep reaction mechanism that is much slower than the others.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b="1" dirty="0"/>
              <a:t>Multistep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530" y="1295400"/>
            <a:ext cx="63979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Consider the reaction A</a:t>
            </a:r>
            <a:r>
              <a:rPr lang="en-US" baseline="-25000" dirty="0"/>
              <a:t>2</a:t>
            </a:r>
            <a:r>
              <a:rPr lang="en-US" dirty="0"/>
              <a:t> + B</a:t>
            </a:r>
            <a:r>
              <a:rPr lang="en-US" baseline="-25000" dirty="0"/>
              <a:t>2</a:t>
            </a:r>
            <a:r>
              <a:rPr lang="en-US" dirty="0"/>
              <a:t> → 2 AB</a:t>
            </a:r>
          </a:p>
          <a:p>
            <a:pPr algn="ctr"/>
            <a:r>
              <a:rPr lang="en-US" dirty="0"/>
              <a:t>Rate = </a:t>
            </a:r>
            <a:r>
              <a:rPr lang="en-US" i="1" dirty="0"/>
              <a:t>k</a:t>
            </a:r>
            <a:r>
              <a:rPr lang="en-US" dirty="0"/>
              <a:t> [A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Is the following multistep mechanism correct?</a:t>
            </a:r>
          </a:p>
        </p:txBody>
      </p:sp>
      <p:pic>
        <p:nvPicPr>
          <p:cNvPr id="5" name="Picture 3" descr="13_531_a_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413" y="3200400"/>
            <a:ext cx="8535987" cy="233521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09800" y="6019800"/>
            <a:ext cx="5299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Maybe, if Step 1 is a </a:t>
            </a:r>
            <a:r>
              <a:rPr lang="en-US" dirty="0">
                <a:solidFill>
                  <a:schemeClr val="accent2"/>
                </a:solidFill>
              </a:rPr>
              <a:t>rate limiting 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58200" cy="1143000"/>
          </a:xfrm>
        </p:spPr>
        <p:txBody>
          <a:bodyPr/>
          <a:lstStyle/>
          <a:p>
            <a:r>
              <a:rPr lang="en-US" b="1" dirty="0"/>
              <a:t>Another multistep 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4782" y="1447800"/>
            <a:ext cx="4963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the proposed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2339876"/>
            <a:ext cx="56012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</a:t>
            </a:r>
            <a:r>
              <a:rPr lang="en-US" b="1" dirty="0" err="1">
                <a:solidFill>
                  <a:schemeClr val="accent2"/>
                </a:solidFill>
              </a:rPr>
              <a:t>i</a:t>
            </a:r>
            <a:r>
              <a:rPr lang="en-US" b="1" dirty="0">
                <a:solidFill>
                  <a:schemeClr val="accent2"/>
                </a:solidFill>
              </a:rPr>
              <a:t>)	Cl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         2 </a:t>
            </a:r>
            <a:r>
              <a:rPr lang="en-US" b="1" dirty="0" err="1">
                <a:solidFill>
                  <a:schemeClr val="accent2"/>
                </a:solidFill>
              </a:rPr>
              <a:t>Cl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b="1" dirty="0"/>
              <a:t> 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(ii)	</a:t>
            </a:r>
            <a:r>
              <a:rPr lang="en-US" b="1" dirty="0" err="1">
                <a:solidFill>
                  <a:srgbClr val="C00000"/>
                </a:solidFill>
              </a:rPr>
              <a:t>Cl</a:t>
            </a:r>
            <a:r>
              <a:rPr lang="en-US" b="1" dirty="0">
                <a:solidFill>
                  <a:srgbClr val="C00000"/>
                </a:solidFill>
              </a:rPr>
              <a:t>  +  CHCl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b="1" dirty="0">
                <a:solidFill>
                  <a:srgbClr val="C00000"/>
                </a:solidFill>
              </a:rPr>
              <a:t>           </a:t>
            </a:r>
            <a:r>
              <a:rPr lang="en-US" b="1" dirty="0" err="1">
                <a:solidFill>
                  <a:srgbClr val="C00000"/>
                </a:solidFill>
              </a:rPr>
              <a:t>HCl</a:t>
            </a:r>
            <a:r>
              <a:rPr lang="en-US" b="1" dirty="0">
                <a:solidFill>
                  <a:srgbClr val="C00000"/>
                </a:solidFill>
              </a:rPr>
              <a:t>   +   CCl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/>
              <a:t> </a:t>
            </a:r>
            <a:endParaRPr lang="en-US" dirty="0"/>
          </a:p>
          <a:p>
            <a:r>
              <a:rPr lang="en-US" b="1" dirty="0"/>
              <a:t>(iii)	CCl</a:t>
            </a:r>
            <a:r>
              <a:rPr lang="en-US" b="1" baseline="-25000" dirty="0"/>
              <a:t>3</a:t>
            </a:r>
            <a:r>
              <a:rPr lang="en-US" b="1" dirty="0"/>
              <a:t>   +   </a:t>
            </a:r>
            <a:r>
              <a:rPr lang="en-US" b="1" dirty="0" err="1"/>
              <a:t>Cl</a:t>
            </a:r>
            <a:r>
              <a:rPr lang="en-US" b="1" dirty="0"/>
              <a:t>          CCl</a:t>
            </a:r>
            <a:r>
              <a:rPr lang="en-US" b="1" baseline="-25000" dirty="0"/>
              <a:t>4</a:t>
            </a:r>
            <a:endParaRPr lang="en-US" dirty="0"/>
          </a:p>
          <a:p>
            <a:endParaRPr lang="en-US" dirty="0"/>
          </a:p>
        </p:txBody>
      </p:sp>
      <p:sp>
        <p:nvSpPr>
          <p:cNvPr id="107529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7528" name="Object 8"/>
          <p:cNvGraphicFramePr>
            <a:graphicFrameLocks noChangeAspect="1"/>
          </p:cNvGraphicFramePr>
          <p:nvPr/>
        </p:nvGraphicFramePr>
        <p:xfrm>
          <a:off x="3581400" y="2286000"/>
          <a:ext cx="77364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253890" progId="Equation.3">
                  <p:embed/>
                </p:oleObj>
              </mc:Choice>
              <mc:Fallback>
                <p:oleObj name="Equation" r:id="rId2" imgW="482391" imgH="253890" progId="Equation.3">
                  <p:embed/>
                  <p:pic>
                    <p:nvPicPr>
                      <p:cNvPr id="1075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286000"/>
                        <a:ext cx="773642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7530" name="Object 10"/>
          <p:cNvGraphicFramePr>
            <a:graphicFrameLocks noChangeAspect="1"/>
          </p:cNvGraphicFramePr>
          <p:nvPr/>
        </p:nvGraphicFramePr>
        <p:xfrm>
          <a:off x="4876800" y="3048000"/>
          <a:ext cx="73377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4870" imgH="253780" progId="Equation.3">
                  <p:embed/>
                </p:oleObj>
              </mc:Choice>
              <mc:Fallback>
                <p:oleObj name="Equation" r:id="rId4" imgW="494870" imgH="253780" progId="Equation.3">
                  <p:embed/>
                  <p:pic>
                    <p:nvPicPr>
                      <p:cNvPr id="1075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048000"/>
                        <a:ext cx="73377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7532" name="Object 12"/>
          <p:cNvGraphicFramePr>
            <a:graphicFrameLocks noChangeAspect="1"/>
          </p:cNvGraphicFramePr>
          <p:nvPr/>
        </p:nvGraphicFramePr>
        <p:xfrm>
          <a:off x="4800600" y="3733800"/>
          <a:ext cx="773641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253890" progId="Equation.3">
                  <p:embed/>
                </p:oleObj>
              </mc:Choice>
              <mc:Fallback>
                <p:oleObj name="Equation" r:id="rId6" imgW="482391" imgH="253890" progId="Equation.3">
                  <p:embed/>
                  <p:pic>
                    <p:nvPicPr>
                      <p:cNvPr id="1075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733800"/>
                        <a:ext cx="773641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752600" y="4567535"/>
            <a:ext cx="5338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overall reaction equation?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221" y="5257800"/>
            <a:ext cx="84657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Cl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/>
              <a:t> + </a:t>
            </a:r>
            <a:r>
              <a:rPr lang="en-US" b="1" dirty="0" err="1">
                <a:solidFill>
                  <a:srgbClr val="C00000"/>
                </a:solidFill>
              </a:rPr>
              <a:t>Cl</a:t>
            </a:r>
            <a:r>
              <a:rPr lang="en-US" b="1" dirty="0">
                <a:solidFill>
                  <a:srgbClr val="C00000"/>
                </a:solidFill>
              </a:rPr>
              <a:t> + CHCl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b="1" dirty="0"/>
              <a:t> + CCl</a:t>
            </a:r>
            <a:r>
              <a:rPr lang="en-US" b="1" baseline="-25000" dirty="0"/>
              <a:t>3</a:t>
            </a:r>
            <a:r>
              <a:rPr lang="en-US" b="1" dirty="0"/>
              <a:t> +  </a:t>
            </a:r>
            <a:r>
              <a:rPr lang="en-US" b="1" dirty="0" err="1"/>
              <a:t>Cl</a:t>
            </a:r>
            <a:r>
              <a:rPr lang="en-US" b="1" dirty="0"/>
              <a:t>  → </a:t>
            </a:r>
            <a:r>
              <a:rPr lang="en-US" b="1" dirty="0">
                <a:solidFill>
                  <a:schemeClr val="accent2"/>
                </a:solidFill>
              </a:rPr>
              <a:t>2 </a:t>
            </a:r>
            <a:r>
              <a:rPr lang="en-US" b="1" dirty="0" err="1">
                <a:solidFill>
                  <a:schemeClr val="accent2"/>
                </a:solidFill>
              </a:rPr>
              <a:t>Cl</a:t>
            </a:r>
            <a:r>
              <a:rPr lang="en-US" b="1" dirty="0"/>
              <a:t> + </a:t>
            </a:r>
            <a:r>
              <a:rPr lang="en-US" b="1" dirty="0" err="1">
                <a:solidFill>
                  <a:srgbClr val="C00000"/>
                </a:solidFill>
              </a:rPr>
              <a:t>HCl</a:t>
            </a:r>
            <a:r>
              <a:rPr lang="en-US" b="1" dirty="0">
                <a:solidFill>
                  <a:srgbClr val="C00000"/>
                </a:solidFill>
              </a:rPr>
              <a:t> + CCl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b="1" dirty="0"/>
              <a:t> + CCl</a:t>
            </a:r>
            <a:r>
              <a:rPr lang="en-US" b="1" baseline="-25000" dirty="0"/>
              <a:t>4</a:t>
            </a:r>
            <a:endParaRPr lang="en-US" dirty="0"/>
          </a:p>
          <a:p>
            <a:r>
              <a:rPr lang="en-US" b="1" dirty="0"/>
              <a:t> </a:t>
            </a:r>
            <a:endParaRPr lang="en-US" dirty="0"/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Cl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/>
              <a:t> + </a:t>
            </a:r>
            <a:r>
              <a:rPr lang="en-US" b="1" dirty="0">
                <a:solidFill>
                  <a:srgbClr val="C00000"/>
                </a:solidFill>
              </a:rPr>
              <a:t>CHCl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b="1" dirty="0"/>
              <a:t> → </a:t>
            </a:r>
            <a:r>
              <a:rPr lang="en-US" b="1" dirty="0" err="1">
                <a:solidFill>
                  <a:srgbClr val="C00000"/>
                </a:solidFill>
              </a:rPr>
              <a:t>HCl</a:t>
            </a:r>
            <a:r>
              <a:rPr lang="en-US" b="1" dirty="0"/>
              <a:t> + CCl</a:t>
            </a:r>
            <a:r>
              <a:rPr lang="en-US" b="1" baseline="-25000" dirty="0"/>
              <a:t>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58200" cy="1143000"/>
          </a:xfrm>
        </p:spPr>
        <p:txBody>
          <a:bodyPr/>
          <a:lstStyle/>
          <a:p>
            <a:r>
              <a:rPr lang="en-US" b="1" dirty="0"/>
              <a:t>Another multistep 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2382" y="1371600"/>
            <a:ext cx="4963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the proposed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1587" y="2263676"/>
            <a:ext cx="56012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</a:t>
            </a:r>
            <a:r>
              <a:rPr lang="en-US" b="1" dirty="0" err="1">
                <a:solidFill>
                  <a:schemeClr val="accent2"/>
                </a:solidFill>
              </a:rPr>
              <a:t>i</a:t>
            </a:r>
            <a:r>
              <a:rPr lang="en-US" b="1" dirty="0">
                <a:solidFill>
                  <a:schemeClr val="accent2"/>
                </a:solidFill>
              </a:rPr>
              <a:t>)	Cl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         2 </a:t>
            </a:r>
            <a:r>
              <a:rPr lang="en-US" b="1" dirty="0" err="1">
                <a:solidFill>
                  <a:schemeClr val="accent2"/>
                </a:solidFill>
              </a:rPr>
              <a:t>Cl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b="1" dirty="0"/>
              <a:t> 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(ii)	</a:t>
            </a:r>
            <a:r>
              <a:rPr lang="en-US" b="1" dirty="0" err="1">
                <a:solidFill>
                  <a:srgbClr val="C00000"/>
                </a:solidFill>
              </a:rPr>
              <a:t>Cl</a:t>
            </a:r>
            <a:r>
              <a:rPr lang="en-US" b="1" dirty="0">
                <a:solidFill>
                  <a:srgbClr val="C00000"/>
                </a:solidFill>
              </a:rPr>
              <a:t>  +  CHCl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b="1" dirty="0">
                <a:solidFill>
                  <a:srgbClr val="C00000"/>
                </a:solidFill>
              </a:rPr>
              <a:t>           </a:t>
            </a:r>
            <a:r>
              <a:rPr lang="en-US" b="1" dirty="0" err="1">
                <a:solidFill>
                  <a:srgbClr val="C00000"/>
                </a:solidFill>
              </a:rPr>
              <a:t>HCl</a:t>
            </a:r>
            <a:r>
              <a:rPr lang="en-US" b="1" dirty="0">
                <a:solidFill>
                  <a:srgbClr val="C00000"/>
                </a:solidFill>
              </a:rPr>
              <a:t>   +   CCl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/>
              <a:t> </a:t>
            </a:r>
            <a:endParaRPr lang="en-US" dirty="0"/>
          </a:p>
          <a:p>
            <a:r>
              <a:rPr lang="en-US" b="1" dirty="0"/>
              <a:t>(iii)	CCl</a:t>
            </a:r>
            <a:r>
              <a:rPr lang="en-US" b="1" baseline="-25000" dirty="0"/>
              <a:t>3</a:t>
            </a:r>
            <a:r>
              <a:rPr lang="en-US" b="1" dirty="0"/>
              <a:t>   +   </a:t>
            </a:r>
            <a:r>
              <a:rPr lang="en-US" b="1" dirty="0" err="1"/>
              <a:t>Cl</a:t>
            </a:r>
            <a:r>
              <a:rPr lang="en-US" b="1" dirty="0"/>
              <a:t>          CCl</a:t>
            </a:r>
            <a:r>
              <a:rPr lang="en-US" b="1" baseline="-25000" dirty="0"/>
              <a:t>4</a:t>
            </a:r>
            <a:endParaRPr lang="en-US" dirty="0"/>
          </a:p>
          <a:p>
            <a:endParaRPr lang="en-US" dirty="0"/>
          </a:p>
        </p:txBody>
      </p:sp>
      <p:sp>
        <p:nvSpPr>
          <p:cNvPr id="107529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7528" name="Object 8"/>
          <p:cNvGraphicFramePr>
            <a:graphicFrameLocks noChangeAspect="1"/>
          </p:cNvGraphicFramePr>
          <p:nvPr/>
        </p:nvGraphicFramePr>
        <p:xfrm>
          <a:off x="3009387" y="2209800"/>
          <a:ext cx="77364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253890" progId="Equation.3">
                  <p:embed/>
                </p:oleObj>
              </mc:Choice>
              <mc:Fallback>
                <p:oleObj name="Equation" r:id="rId2" imgW="482391" imgH="253890" progId="Equation.3">
                  <p:embed/>
                  <p:pic>
                    <p:nvPicPr>
                      <p:cNvPr id="1075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387" y="2209800"/>
                        <a:ext cx="773642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7530" name="Object 10"/>
          <p:cNvGraphicFramePr>
            <a:graphicFrameLocks noChangeAspect="1"/>
          </p:cNvGraphicFramePr>
          <p:nvPr/>
        </p:nvGraphicFramePr>
        <p:xfrm>
          <a:off x="4304787" y="2971800"/>
          <a:ext cx="73377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4870" imgH="253780" progId="Equation.3">
                  <p:embed/>
                </p:oleObj>
              </mc:Choice>
              <mc:Fallback>
                <p:oleObj name="Equation" r:id="rId4" imgW="494870" imgH="253780" progId="Equation.3">
                  <p:embed/>
                  <p:pic>
                    <p:nvPicPr>
                      <p:cNvPr id="1075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4787" y="2971800"/>
                        <a:ext cx="73377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7532" name="Object 12"/>
          <p:cNvGraphicFramePr>
            <a:graphicFrameLocks noChangeAspect="1"/>
          </p:cNvGraphicFramePr>
          <p:nvPr/>
        </p:nvGraphicFramePr>
        <p:xfrm>
          <a:off x="4228587" y="3657600"/>
          <a:ext cx="773641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253890" progId="Equation.3">
                  <p:embed/>
                </p:oleObj>
              </mc:Choice>
              <mc:Fallback>
                <p:oleObj name="Equation" r:id="rId6" imgW="482391" imgH="253890" progId="Equation.3">
                  <p:embed/>
                  <p:pic>
                    <p:nvPicPr>
                      <p:cNvPr id="1075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587" y="3657600"/>
                        <a:ext cx="773641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2000" y="4876800"/>
            <a:ext cx="7543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experimentally determined rate law is 1st order in Cl</a:t>
            </a:r>
            <a:r>
              <a:rPr lang="en-US" baseline="-25000" dirty="0"/>
              <a:t>2</a:t>
            </a:r>
            <a:r>
              <a:rPr lang="en-US" dirty="0"/>
              <a:t> and the concentration of CHCl</a:t>
            </a:r>
            <a:r>
              <a:rPr lang="en-US" baseline="-25000" dirty="0"/>
              <a:t>3</a:t>
            </a:r>
            <a:r>
              <a:rPr lang="en-US" dirty="0"/>
              <a:t> has no effect on the rate of the reaction, which step is the rate limiting step?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077200" cy="1143000"/>
          </a:xfrm>
        </p:spPr>
        <p:txBody>
          <a:bodyPr/>
          <a:lstStyle/>
          <a:p>
            <a:r>
              <a:rPr lang="en-US" b="1" dirty="0"/>
              <a:t>Summary of important </a:t>
            </a:r>
            <a:br>
              <a:rPr lang="en-US" b="1" dirty="0"/>
            </a:br>
            <a:r>
              <a:rPr lang="en-US" b="1" dirty="0"/>
              <a:t>rate law 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676400"/>
            <a:ext cx="7772400" cy="4114800"/>
          </a:xfrm>
        </p:spPr>
        <p:txBody>
          <a:bodyPr/>
          <a:lstStyle/>
          <a:p>
            <a:r>
              <a:rPr lang="en-US" sz="2400" dirty="0"/>
              <a:t>Elementary steps should never have more than 2 species colliding simultaneously.  </a:t>
            </a:r>
            <a:r>
              <a:rPr lang="en-US" sz="2400" dirty="0" err="1"/>
              <a:t>Termolecular</a:t>
            </a:r>
            <a:r>
              <a:rPr lang="en-US" sz="2400" dirty="0"/>
              <a:t> or 3-body collisions are extremely rare.</a:t>
            </a:r>
          </a:p>
          <a:p>
            <a:r>
              <a:rPr lang="en-US" sz="2400" dirty="0"/>
              <a:t>The sum of the elementary steps must yield the overall balanced reaction equation for the mechanism to be valid.</a:t>
            </a:r>
          </a:p>
          <a:p>
            <a:r>
              <a:rPr lang="en-US" sz="2400" dirty="0"/>
              <a:t>The mechanism must predict the experimentally observed rate law for it to be valid.</a:t>
            </a:r>
          </a:p>
          <a:p>
            <a:r>
              <a:rPr lang="en-US" sz="2400" dirty="0"/>
              <a:t>If a mechanism is consistent with the experimental rate law, the mechanism is possibly correct.  The mechanism is theoretical: it can’t be proven but it can be disproven.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6FFF-111A-0EB6-5C35-06C4DD06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materials</a:t>
            </a:r>
          </a:p>
        </p:txBody>
      </p:sp>
    </p:spTree>
    <p:extLst>
      <p:ext uri="{BB962C8B-B14F-4D97-AF65-F5344CB8AC3E}">
        <p14:creationId xmlns:p14="http://schemas.microsoft.com/office/powerpoint/2010/main" val="4693627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924800" cy="685800"/>
          </a:xfrm>
        </p:spPr>
        <p:txBody>
          <a:bodyPr/>
          <a:lstStyle/>
          <a:p>
            <a:r>
              <a:rPr lang="en-US" sz="4000" b="1" dirty="0"/>
              <a:t>Balance the following reactions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8229600" cy="4724400"/>
          </a:xfrm>
        </p:spPr>
        <p:txBody>
          <a:bodyPr/>
          <a:lstStyle/>
          <a:p>
            <a:pPr marL="514350" indent="-514350" algn="just">
              <a:buFontTx/>
              <a:buAutoNum type="arabicPeriod"/>
              <a:defRPr/>
            </a:pPr>
            <a:r>
              <a:rPr lang="en-US" sz="2400" dirty="0"/>
              <a:t>When magnesium metal burns in air, it produces a white, powdery compound magnesium oxide.</a:t>
            </a:r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r>
              <a:rPr lang="en-US" sz="2400" dirty="0"/>
              <a:t>When aluminum metal burns in air, it produces a white, powdery compound aluminum oxide.</a:t>
            </a:r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None/>
              <a:defRPr/>
            </a:pPr>
            <a:endParaRPr lang="en-US" sz="2400" dirty="0"/>
          </a:p>
          <a:p>
            <a:pPr algn="just">
              <a:buFontTx/>
              <a:buNone/>
              <a:defRPr/>
            </a:pPr>
            <a:r>
              <a:rPr lang="en-US" sz="2400" dirty="0"/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sz="4000" b="1"/>
              <a:t>Practice more examples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295400"/>
            <a:ext cx="8229600" cy="4724400"/>
          </a:xfrm>
        </p:spPr>
        <p:txBody>
          <a:bodyPr/>
          <a:lstStyle/>
          <a:p>
            <a:pPr marL="514350" indent="-514350" algn="just">
              <a:buFontTx/>
              <a:buAutoNum type="arabicPeriod"/>
              <a:defRPr/>
            </a:pPr>
            <a:r>
              <a:rPr lang="en-US" sz="2400" dirty="0"/>
              <a:t>When ethyl alcohol (C</a:t>
            </a:r>
            <a:r>
              <a:rPr lang="en-US" sz="2400" baseline="-25000" dirty="0"/>
              <a:t>2</a:t>
            </a:r>
            <a:r>
              <a:rPr lang="en-US" sz="2400" dirty="0"/>
              <a:t>H</a:t>
            </a:r>
            <a:r>
              <a:rPr lang="en-US" sz="2400" baseline="-25000" dirty="0"/>
              <a:t>5</a:t>
            </a:r>
            <a:r>
              <a:rPr lang="en-US" sz="2400" dirty="0"/>
              <a:t>OH – the liquor) is burnt in air, it produces carbon dioxide and water.</a:t>
            </a:r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r>
              <a:rPr lang="en-US" sz="2400" dirty="0"/>
              <a:t>Combustion of liquid butane (C</a:t>
            </a:r>
            <a:r>
              <a:rPr lang="en-US" sz="2400" baseline="-25000" dirty="0"/>
              <a:t>4</a:t>
            </a:r>
            <a:r>
              <a:rPr lang="en-US" sz="2400" dirty="0"/>
              <a:t>H</a:t>
            </a:r>
            <a:r>
              <a:rPr lang="en-US" sz="2400" baseline="-25000" dirty="0"/>
              <a:t>10</a:t>
            </a:r>
            <a:r>
              <a:rPr lang="en-US" sz="2400" dirty="0"/>
              <a:t>) produces carbon dioxide and steam in a lighter.</a:t>
            </a:r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None/>
              <a:defRPr/>
            </a:pPr>
            <a:endParaRPr lang="en-US" sz="2400" dirty="0"/>
          </a:p>
          <a:p>
            <a:pPr algn="just">
              <a:buFontTx/>
              <a:buNone/>
              <a:defRPr/>
            </a:pPr>
            <a:r>
              <a:rPr lang="en-US" sz="2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550" y="6320135"/>
            <a:ext cx="7729850" cy="461665"/>
          </a:xfrm>
          <a:prstGeom prst="rect">
            <a:avLst/>
          </a:prstGeom>
          <a:noFill/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rtlCol="0">
            <a:spAutoFit/>
          </a:bodyPr>
          <a:lstStyle/>
          <a:p>
            <a:r>
              <a:rPr lang="en-US" dirty="0"/>
              <a:t>Practice on end-of chapter problems: 8.26 through 8.42</a:t>
            </a:r>
          </a:p>
        </p:txBody>
      </p:sp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sz="4000" b="1"/>
              <a:t>Practice more examples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295400"/>
            <a:ext cx="8229600" cy="4724400"/>
          </a:xfrm>
        </p:spPr>
        <p:txBody>
          <a:bodyPr/>
          <a:lstStyle/>
          <a:p>
            <a:pPr marL="514350" indent="-514350" algn="just">
              <a:buNone/>
              <a:defRPr/>
            </a:pPr>
            <a:r>
              <a:rPr lang="en-US" sz="2400" dirty="0"/>
              <a:t>When methanol (CH</a:t>
            </a:r>
            <a:r>
              <a:rPr lang="en-US" sz="2400" baseline="-25000" dirty="0"/>
              <a:t>3</a:t>
            </a:r>
            <a:r>
              <a:rPr lang="en-US" sz="2400" dirty="0"/>
              <a:t>OH) is burnt in air, it produces carbon dioxide and water.</a:t>
            </a:r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AutoNum type="arabicPeriod"/>
              <a:defRPr/>
            </a:pPr>
            <a:endParaRPr lang="en-US" sz="2400" dirty="0"/>
          </a:p>
          <a:p>
            <a:pPr marL="514350" indent="-514350" algn="just">
              <a:buFontTx/>
              <a:buNone/>
              <a:defRPr/>
            </a:pPr>
            <a:endParaRPr lang="en-US" sz="2400" dirty="0"/>
          </a:p>
          <a:p>
            <a:pPr algn="just">
              <a:buFontTx/>
              <a:buNone/>
              <a:defRPr/>
            </a:pPr>
            <a:r>
              <a:rPr lang="en-US" sz="2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550" y="6320135"/>
            <a:ext cx="7729850" cy="461665"/>
          </a:xfrm>
          <a:prstGeom prst="rect">
            <a:avLst/>
          </a:prstGeom>
          <a:noFill/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rtlCol="0">
            <a:spAutoFit/>
          </a:bodyPr>
          <a:lstStyle/>
          <a:p>
            <a:r>
              <a:rPr lang="en-US" dirty="0"/>
              <a:t>Practice on end-of chapter problems: 8.26 through 8.42</a:t>
            </a:r>
          </a:p>
        </p:txBody>
      </p: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AEEC33D-09CB-47D4-9DA9-50A89CE12BF9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2550" y="685800"/>
            <a:ext cx="8839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</a:rPr>
              <a:t>One way of classifying the chemical reactions is by looking at what the atoms do.</a:t>
            </a:r>
          </a:p>
        </p:txBody>
      </p:sp>
      <p:graphicFrame>
        <p:nvGraphicFramePr>
          <p:cNvPr id="9" name="Group 37"/>
          <p:cNvGraphicFramePr>
            <a:graphicFrameLocks noGrp="1"/>
          </p:cNvGraphicFramePr>
          <p:nvPr/>
        </p:nvGraphicFramePr>
        <p:xfrm>
          <a:off x="228600" y="1814513"/>
          <a:ext cx="8686800" cy="2757805"/>
        </p:xfrm>
        <a:graphic>
          <a:graphicData uri="http://schemas.openxmlformats.org/drawingml/2006/table">
            <a:tbl>
              <a:tblPr/>
              <a:tblGrid>
                <a:gridCol w="3040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2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Type of reaction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General equation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What atoms do?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Composition (synthesis)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+ B </a:t>
                      </a: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 AB</a:t>
                      </a:r>
                      <a:endParaRPr kumimoji="0" lang="en-US" sz="2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Atoms combine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Decomposition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AB </a:t>
                      </a: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 A +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Atoms separate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Single Displacement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A + BC</a:t>
                      </a: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 AC +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Single atoms exchange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Double displacement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AB + CD</a:t>
                      </a: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 AD + CB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Two atoms exchange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558" name="Picture 40" descr="07_08-24UN"/>
          <p:cNvPicPr>
            <a:picLocks noChangeAspect="1" noChangeArrowheads="1"/>
          </p:cNvPicPr>
          <p:nvPr/>
        </p:nvPicPr>
        <p:blipFill>
          <a:blip r:embed="rId3" cstate="print"/>
          <a:srcRect b="6897"/>
          <a:stretch>
            <a:fillRect/>
          </a:stretch>
        </p:blipFill>
        <p:spPr bwMode="auto">
          <a:xfrm>
            <a:off x="1236663" y="4598988"/>
            <a:ext cx="638333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5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4925"/>
            <a:ext cx="6005513" cy="685800"/>
          </a:xfrm>
        </p:spPr>
        <p:txBody>
          <a:bodyPr/>
          <a:lstStyle/>
          <a:p>
            <a:pPr eaLnBrk="1" hangingPunct="1"/>
            <a:r>
              <a:rPr lang="en-US" sz="4000" b="1" dirty="0"/>
              <a:t>Types of Reactions</a:t>
            </a:r>
            <a:endParaRPr lang="en-US" b="1" dirty="0"/>
          </a:p>
        </p:txBody>
      </p: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57200"/>
            <a:ext cx="6324600" cy="6096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4000" b="1"/>
              <a:t>Combination Reactions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610600" cy="4191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/>
              <a:t>Also known as </a:t>
            </a:r>
            <a:r>
              <a:rPr lang="en-US" b="1" dirty="0"/>
              <a:t>composition </a:t>
            </a:r>
            <a:r>
              <a:rPr lang="en-US" dirty="0"/>
              <a:t>or</a:t>
            </a:r>
            <a:r>
              <a:rPr lang="en-US" b="1" dirty="0"/>
              <a:t> synthesis </a:t>
            </a:r>
            <a:r>
              <a:rPr lang="en-US" dirty="0"/>
              <a:t>reactions.</a:t>
            </a:r>
          </a:p>
          <a:p>
            <a:pPr eaLnBrk="1" hangingPunct="1"/>
            <a:r>
              <a:rPr lang="en-US" dirty="0"/>
              <a:t>Two (or more) reactants combine together to make </a:t>
            </a:r>
            <a:r>
              <a:rPr lang="en-US" b="1" dirty="0"/>
              <a:t>one product</a:t>
            </a:r>
            <a:r>
              <a:rPr lang="en-US" dirty="0"/>
              <a:t>.</a:t>
            </a:r>
          </a:p>
          <a:p>
            <a:pPr lvl="1" eaLnBrk="1" hangingPunct="1"/>
            <a:r>
              <a:rPr lang="en-US" dirty="0"/>
              <a:t>Simpler substances combining together. </a:t>
            </a:r>
          </a:p>
          <a:p>
            <a:pPr algn="ctr" eaLnBrk="1" hangingPunct="1">
              <a:buFontTx/>
              <a:buNone/>
            </a:pPr>
            <a:r>
              <a:rPr lang="en-US" sz="2800" b="1" dirty="0"/>
              <a:t>2 CO + O</a:t>
            </a:r>
            <a:r>
              <a:rPr lang="en-US" sz="2800" b="1" baseline="-25000" dirty="0"/>
              <a:t>2</a:t>
            </a:r>
            <a:r>
              <a:rPr lang="en-US" sz="2800" b="1" dirty="0"/>
              <a:t> </a:t>
            </a:r>
            <a:r>
              <a:rPr lang="en-US" sz="2800" b="1" dirty="0">
                <a:latin typeface="Symbol" pitchFamily="18" charset="2"/>
              </a:rPr>
              <a:t>®</a:t>
            </a:r>
            <a:r>
              <a:rPr lang="en-US" sz="2800" b="1" dirty="0"/>
              <a:t>  2 CO</a:t>
            </a:r>
            <a:r>
              <a:rPr lang="en-US" sz="2800" b="1" baseline="-25000" dirty="0"/>
              <a:t>2</a:t>
            </a:r>
          </a:p>
          <a:p>
            <a:pPr algn="ctr" eaLnBrk="1" hangingPunct="1">
              <a:buFontTx/>
              <a:buNone/>
            </a:pPr>
            <a:r>
              <a:rPr lang="en-US" sz="2800" b="1" dirty="0"/>
              <a:t>2 Mg + O</a:t>
            </a:r>
            <a:r>
              <a:rPr lang="en-US" sz="2800" b="1" baseline="-25000" dirty="0"/>
              <a:t>2</a:t>
            </a:r>
            <a:r>
              <a:rPr lang="en-US" sz="2800" b="1" dirty="0"/>
              <a:t> </a:t>
            </a:r>
            <a:r>
              <a:rPr lang="en-US" sz="2800" b="1" dirty="0">
                <a:latin typeface="Symbol" pitchFamily="18" charset="2"/>
              </a:rPr>
              <a:t>® </a:t>
            </a:r>
            <a:r>
              <a:rPr lang="en-US" sz="2800" b="1" dirty="0"/>
              <a:t> 2 </a:t>
            </a:r>
            <a:r>
              <a:rPr lang="en-US" sz="2800" b="1" dirty="0" err="1"/>
              <a:t>MgO</a:t>
            </a:r>
            <a:endParaRPr lang="en-US" sz="2800" b="1" dirty="0"/>
          </a:p>
          <a:p>
            <a:pPr algn="ctr" eaLnBrk="1" hangingPunct="1">
              <a:buFontTx/>
              <a:buNone/>
            </a:pPr>
            <a:r>
              <a:rPr lang="en-US" sz="2800" b="1" dirty="0"/>
              <a:t>4 Al + 3 O</a:t>
            </a:r>
            <a:r>
              <a:rPr lang="en-US" sz="2800" b="1" baseline="-25000" dirty="0"/>
              <a:t>2</a:t>
            </a:r>
            <a:r>
              <a:rPr lang="en-US" sz="2800" b="1" dirty="0"/>
              <a:t> </a:t>
            </a:r>
            <a:r>
              <a:rPr lang="en-US" sz="2800" b="1" dirty="0">
                <a:latin typeface="Symbol" pitchFamily="18" charset="2"/>
              </a:rPr>
              <a:t>®</a:t>
            </a:r>
            <a:r>
              <a:rPr lang="en-US" sz="2800" b="1" dirty="0"/>
              <a:t> 2Al</a:t>
            </a:r>
            <a:r>
              <a:rPr lang="en-US" sz="2800" b="1" baseline="-25000" dirty="0"/>
              <a:t>2</a:t>
            </a:r>
            <a:r>
              <a:rPr lang="en-US" sz="2800" b="1" dirty="0"/>
              <a:t>O</a:t>
            </a:r>
            <a:r>
              <a:rPr lang="en-US" sz="2800" b="1" baseline="-25000" dirty="0"/>
              <a:t>3</a:t>
            </a:r>
          </a:p>
        </p:txBody>
      </p:sp>
    </p:spTree>
    <p:custDataLst>
      <p:tags r:id="rId1"/>
    </p:custDataLst>
  </p:cSld>
  <p:clrMapOvr>
    <a:masterClrMapping/>
  </p:clrMapOvr>
  <p:transition>
    <p:fade thruBlk="1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4000" b="1"/>
              <a:t>Decomposition Reactions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077200" cy="1905000"/>
          </a:xfrm>
          <a:noFill/>
        </p:spPr>
        <p:txBody>
          <a:bodyPr lIns="90488" tIns="44450" rIns="90488" bIns="44450"/>
          <a:lstStyle/>
          <a:p>
            <a:pPr algn="just" eaLnBrk="1" hangingPunct="1">
              <a:lnSpc>
                <a:spcPct val="90000"/>
              </a:lnSpc>
            </a:pPr>
            <a:r>
              <a:rPr lang="en-US"/>
              <a:t>A large molecule is broken apart into smaller molecules or its elements.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/>
              <a:t>Caused by addition of energy into the molecule.</a:t>
            </a:r>
          </a:p>
        </p:txBody>
      </p:sp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4332288" y="5334000"/>
          <a:ext cx="23812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241200" progId="Equation.3">
                  <p:embed/>
                </p:oleObj>
              </mc:Choice>
              <mc:Fallback>
                <p:oleObj name="Equation" r:id="rId3" imgW="105408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5334000"/>
                        <a:ext cx="2381250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"/>
          <p:cNvGraphicFramePr>
            <a:graphicFrameLocks noChangeAspect="1"/>
          </p:cNvGraphicFramePr>
          <p:nvPr/>
        </p:nvGraphicFramePr>
        <p:xfrm>
          <a:off x="3663950" y="3124200"/>
          <a:ext cx="47259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93680" imgH="228600" progId="Equation.3">
                  <p:embed/>
                </p:oleObj>
              </mc:Choice>
              <mc:Fallback>
                <p:oleObj name="Equation" r:id="rId5" imgW="19936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3124200"/>
                        <a:ext cx="4725988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Box 7"/>
          <p:cNvSpPr txBox="1">
            <a:spLocks noChangeArrowheads="1"/>
          </p:cNvSpPr>
          <p:nvPr/>
        </p:nvSpPr>
        <p:spPr bwMode="auto">
          <a:xfrm>
            <a:off x="769938" y="3124200"/>
            <a:ext cx="28130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Electrolysis of water:</a:t>
            </a:r>
          </a:p>
        </p:txBody>
      </p:sp>
      <p:sp>
        <p:nvSpPr>
          <p:cNvPr id="1033" name="TextBox 8"/>
          <p:cNvSpPr txBox="1">
            <a:spLocks noChangeArrowheads="1"/>
          </p:cNvSpPr>
          <p:nvPr/>
        </p:nvSpPr>
        <p:spPr bwMode="auto">
          <a:xfrm>
            <a:off x="693738" y="3962400"/>
            <a:ext cx="77644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Function of Air-bags (decomposition of sodium azide, NaN</a:t>
            </a:r>
            <a:r>
              <a:rPr lang="en-US" baseline="-25000"/>
              <a:t>3</a:t>
            </a:r>
            <a:r>
              <a:rPr lang="en-US"/>
              <a:t>):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2949575" y="4557713"/>
          <a:ext cx="49069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241200" progId="Equation.3">
                  <p:embed/>
                </p:oleObj>
              </mc:Choice>
              <mc:Fallback>
                <p:oleObj name="Equation" r:id="rId7" imgW="207000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4557713"/>
                        <a:ext cx="490696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Box 10"/>
          <p:cNvSpPr txBox="1">
            <a:spLocks noChangeArrowheads="1"/>
          </p:cNvSpPr>
          <p:nvPr/>
        </p:nvSpPr>
        <p:spPr bwMode="auto">
          <a:xfrm>
            <a:off x="693738" y="5334000"/>
            <a:ext cx="34385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Decomposition of Ozone: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81000" y="5951537"/>
            <a:ext cx="8229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Note: the reverse of a combination reaction is a decomposition reaction and vice versa.</a:t>
            </a:r>
            <a:endParaRPr 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fade thruBlk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762000"/>
          </a:xfrm>
        </p:spPr>
        <p:txBody>
          <a:bodyPr/>
          <a:lstStyle/>
          <a:p>
            <a:pPr eaLnBrk="1" hangingPunct="1"/>
            <a:r>
              <a:rPr lang="en-US" sz="3200" b="1" dirty="0"/>
              <a:t>Single</a:t>
            </a:r>
            <a:r>
              <a:rPr lang="en-US" sz="3200" b="1" dirty="0">
                <a:cs typeface="Times New Roman" pitchFamily="18" charset="0"/>
              </a:rPr>
              <a:t> </a:t>
            </a:r>
            <a:r>
              <a:rPr lang="en-US" sz="3200" b="1" dirty="0"/>
              <a:t>Displacement (or Replacement) Reactions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295400"/>
            <a:ext cx="8686800" cy="4800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800" dirty="0"/>
              <a:t>Reactions that involve one atom displacing another and replacing it in a compound.</a:t>
            </a:r>
            <a:endParaRPr lang="en-US" sz="2800" b="1" dirty="0"/>
          </a:p>
          <a:p>
            <a:pPr algn="just" eaLnBrk="1" hangingPunct="1">
              <a:lnSpc>
                <a:spcPct val="90000"/>
              </a:lnSpc>
            </a:pPr>
            <a:r>
              <a:rPr lang="en-US" sz="2800" dirty="0"/>
              <a:t>In the reaction,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		Zn(</a:t>
            </a:r>
            <a:r>
              <a:rPr lang="en-US" sz="2800" i="1" dirty="0"/>
              <a:t>s</a:t>
            </a:r>
            <a:r>
              <a:rPr lang="en-US" sz="2800" dirty="0"/>
              <a:t>) + 2 </a:t>
            </a:r>
            <a:r>
              <a:rPr lang="en-US" sz="2800" dirty="0" err="1"/>
              <a:t>HCl</a:t>
            </a:r>
            <a:r>
              <a:rPr lang="en-US" sz="2800" dirty="0"/>
              <a:t>(</a:t>
            </a:r>
            <a:r>
              <a:rPr lang="en-US" sz="2800" i="1" dirty="0" err="1"/>
              <a:t>aq</a:t>
            </a:r>
            <a:r>
              <a:rPr lang="en-US" sz="2800" dirty="0"/>
              <a:t>) </a:t>
            </a:r>
            <a:r>
              <a:rPr lang="en-US" sz="2800" dirty="0">
                <a:sym typeface="Symbol" pitchFamily="18" charset="2"/>
              </a:rPr>
              <a:t> ZnCl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 err="1">
                <a:sym typeface="Symbol" pitchFamily="18" charset="2"/>
              </a:rPr>
              <a:t>aq</a:t>
            </a:r>
            <a:r>
              <a:rPr lang="en-US" sz="2800" dirty="0">
                <a:sym typeface="Symbol" pitchFamily="18" charset="2"/>
              </a:rPr>
              <a:t>) + H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g</a:t>
            </a:r>
            <a:r>
              <a:rPr lang="en-US" sz="2800" dirty="0">
                <a:sym typeface="Symbol" pitchFamily="18" charset="2"/>
              </a:rPr>
              <a:t>),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sym typeface="Symbol" pitchFamily="18" charset="2"/>
              </a:rPr>
              <a:t>	the atom Zn displaces H from the compound.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800" dirty="0">
                <a:sym typeface="Symbol" pitchFamily="18" charset="2"/>
              </a:rPr>
              <a:t>Other examples of single displacement reactions are: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sym typeface="Symbol" pitchFamily="18" charset="2"/>
              </a:rPr>
              <a:t>		Fe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O</a:t>
            </a:r>
            <a:r>
              <a:rPr lang="en-US" sz="2800" baseline="-25000" dirty="0">
                <a:sym typeface="Symbol" pitchFamily="18" charset="2"/>
              </a:rPr>
              <a:t>3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s</a:t>
            </a:r>
            <a:r>
              <a:rPr lang="en-US" sz="2800" dirty="0">
                <a:sym typeface="Symbol" pitchFamily="18" charset="2"/>
              </a:rPr>
              <a:t>) + Al(</a:t>
            </a:r>
            <a:r>
              <a:rPr lang="en-US" sz="2800" i="1" dirty="0">
                <a:sym typeface="Symbol" pitchFamily="18" charset="2"/>
              </a:rPr>
              <a:t>s</a:t>
            </a:r>
            <a:r>
              <a:rPr lang="en-US" sz="2800" dirty="0">
                <a:sym typeface="Symbol" pitchFamily="18" charset="2"/>
              </a:rPr>
              <a:t>)  Fe(</a:t>
            </a:r>
            <a:r>
              <a:rPr lang="en-US" sz="2800" i="1" dirty="0">
                <a:sym typeface="Symbol" pitchFamily="18" charset="2"/>
              </a:rPr>
              <a:t>s</a:t>
            </a:r>
            <a:r>
              <a:rPr lang="en-US" sz="2800" dirty="0">
                <a:sym typeface="Symbol" pitchFamily="18" charset="2"/>
              </a:rPr>
              <a:t>) + Al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O</a:t>
            </a:r>
            <a:r>
              <a:rPr lang="en-US" sz="2800" baseline="-25000" dirty="0">
                <a:sym typeface="Symbol" pitchFamily="18" charset="2"/>
              </a:rPr>
              <a:t>3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s</a:t>
            </a:r>
            <a:r>
              <a:rPr lang="en-US" sz="2800" dirty="0">
                <a:sym typeface="Symbol" pitchFamily="18" charset="2"/>
              </a:rPr>
              <a:t>)</a:t>
            </a:r>
            <a:endParaRPr lang="en-US" sz="1600" dirty="0">
              <a:sym typeface="Symbol" pitchFamily="18" charset="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		Mg(</a:t>
            </a:r>
            <a:r>
              <a:rPr lang="en-US" sz="2800" i="1" dirty="0"/>
              <a:t>s</a:t>
            </a:r>
            <a:r>
              <a:rPr lang="en-US" sz="2800" dirty="0"/>
              <a:t>) + H</a:t>
            </a:r>
            <a:r>
              <a:rPr lang="en-US" sz="2800" baseline="-25000" dirty="0"/>
              <a:t>2</a:t>
            </a:r>
            <a:r>
              <a:rPr lang="en-US" sz="2800" dirty="0"/>
              <a:t>SO</a:t>
            </a:r>
            <a:r>
              <a:rPr lang="en-US" sz="2800" baseline="-25000" dirty="0"/>
              <a:t>4</a:t>
            </a:r>
            <a:r>
              <a:rPr lang="en-US" sz="2800" dirty="0"/>
              <a:t>(</a:t>
            </a:r>
            <a:r>
              <a:rPr lang="en-US" sz="2800" i="1" dirty="0" err="1"/>
              <a:t>aq</a:t>
            </a:r>
            <a:r>
              <a:rPr lang="en-US" sz="2800" dirty="0"/>
              <a:t>) </a:t>
            </a:r>
            <a:r>
              <a:rPr lang="en-US" sz="2800" dirty="0">
                <a:sym typeface="Symbol" pitchFamily="18" charset="2"/>
              </a:rPr>
              <a:t> 2 MgSO</a:t>
            </a:r>
            <a:r>
              <a:rPr lang="en-US" sz="2800" baseline="-25000" dirty="0">
                <a:sym typeface="Symbol" pitchFamily="18" charset="2"/>
              </a:rPr>
              <a:t>4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s</a:t>
            </a:r>
            <a:r>
              <a:rPr lang="en-US" sz="2800" dirty="0">
                <a:sym typeface="Symbol" pitchFamily="18" charset="2"/>
              </a:rPr>
              <a:t>) + H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g</a:t>
            </a:r>
            <a:r>
              <a:rPr lang="en-US" sz="2800" dirty="0">
                <a:sym typeface="Symbol" pitchFamily="18" charset="2"/>
              </a:rPr>
              <a:t>)</a:t>
            </a:r>
            <a:endParaRPr lang="en-US" sz="1600" dirty="0">
              <a:sym typeface="Symbol" pitchFamily="18" charset="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sym typeface="Symbol" pitchFamily="18" charset="2"/>
              </a:rPr>
              <a:t>		2 AgNO</a:t>
            </a:r>
            <a:r>
              <a:rPr lang="en-US" sz="2800" baseline="-25000" dirty="0">
                <a:sym typeface="Symbol" pitchFamily="18" charset="2"/>
              </a:rPr>
              <a:t>3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dirty="0" err="1">
                <a:sym typeface="Symbol" pitchFamily="18" charset="2"/>
              </a:rPr>
              <a:t>aq</a:t>
            </a:r>
            <a:r>
              <a:rPr lang="en-US" sz="2800" dirty="0">
                <a:sym typeface="Symbol" pitchFamily="18" charset="2"/>
              </a:rPr>
              <a:t>) + Zn(s) </a:t>
            </a:r>
            <a:r>
              <a:rPr lang="en-US" sz="2800" dirty="0">
                <a:sym typeface="Wingdings" pitchFamily="2" charset="2"/>
              </a:rPr>
              <a:t> 2 Ag(s) + Zn(NO</a:t>
            </a:r>
            <a:r>
              <a:rPr lang="en-US" sz="2800" baseline="-25000" dirty="0">
                <a:sym typeface="Wingdings" pitchFamily="2" charset="2"/>
              </a:rPr>
              <a:t>3</a:t>
            </a:r>
            <a:r>
              <a:rPr lang="en-US" sz="2800" dirty="0">
                <a:sym typeface="Wingdings" pitchFamily="2" charset="2"/>
              </a:rPr>
              <a:t>)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(</a:t>
            </a:r>
            <a:r>
              <a:rPr lang="en-US" sz="2800" dirty="0" err="1">
                <a:sym typeface="Wingdings" pitchFamily="2" charset="2"/>
              </a:rPr>
              <a:t>aq</a:t>
            </a:r>
            <a:r>
              <a:rPr lang="en-US" sz="2800" dirty="0">
                <a:sym typeface="Wingdings" pitchFamily="2" charset="2"/>
              </a:rPr>
              <a:t>)</a:t>
            </a:r>
            <a:endParaRPr lang="en-US" sz="2800" dirty="0">
              <a:sym typeface="Symbol" pitchFamily="18" charset="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800" dirty="0">
              <a:solidFill>
                <a:schemeClr val="tx2"/>
              </a:solidFill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800" dirty="0"/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990600" y="5791200"/>
          <a:ext cx="5943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215640" progId="Equation.3">
                  <p:embed/>
                </p:oleObj>
              </mc:Choice>
              <mc:Fallback>
                <p:oleObj name="Equation" r:id="rId3" imgW="223488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791200"/>
                        <a:ext cx="59436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>
    <p:fade thruBlk="1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686800" cy="76200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</a:rPr>
              <a:t>Thermite</a:t>
            </a:r>
            <a:r>
              <a:rPr lang="en-US" b="1" dirty="0">
                <a:solidFill>
                  <a:schemeClr val="accent2"/>
                </a:solidFill>
              </a:rPr>
              <a:t> reaction</a:t>
            </a:r>
            <a:endParaRPr lang="en-US" dirty="0"/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2528888" y="1447800"/>
            <a:ext cx="3948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2 Al + Fe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  <a:r>
              <a:rPr lang="en-US" dirty="0"/>
              <a:t> </a:t>
            </a:r>
            <a:r>
              <a:rPr lang="en-US" dirty="0">
                <a:cs typeface="Arial" charset="0"/>
              </a:rPr>
              <a:t>→ 2 Fe + Al</a:t>
            </a:r>
            <a:r>
              <a:rPr lang="en-US" baseline="-25000" dirty="0">
                <a:cs typeface="Arial" charset="0"/>
              </a:rPr>
              <a:t>2</a:t>
            </a:r>
            <a:r>
              <a:rPr lang="en-US" dirty="0">
                <a:cs typeface="Arial" charset="0"/>
              </a:rPr>
              <a:t>O</a:t>
            </a:r>
            <a:r>
              <a:rPr lang="en-US" baseline="-25000" dirty="0">
                <a:cs typeface="Arial" charset="0"/>
              </a:rPr>
              <a:t>3</a:t>
            </a:r>
          </a:p>
        </p:txBody>
      </p:sp>
      <p:sp>
        <p:nvSpPr>
          <p:cNvPr id="101393" name="Text Box 17">
            <a:hlinkClick r:id="rId4" action="ppaction://hlinkfile"/>
          </p:cNvPr>
          <p:cNvSpPr txBox="1">
            <a:spLocks noChangeArrowheads="1"/>
          </p:cNvSpPr>
          <p:nvPr/>
        </p:nvSpPr>
        <p:spPr bwMode="auto">
          <a:xfrm>
            <a:off x="2286000" y="6015335"/>
            <a:ext cx="472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Hindenburg disaster May 6, 1937</a:t>
            </a:r>
          </a:p>
        </p:txBody>
      </p:sp>
      <p:pic>
        <p:nvPicPr>
          <p:cNvPr id="5" name="Picture 4" descr="hindenburg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09800" y="2057400"/>
            <a:ext cx="4933950" cy="38283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001000" cy="2286000"/>
          </a:xfrm>
          <a:noFill/>
        </p:spPr>
        <p:txBody>
          <a:bodyPr lIns="90488" tIns="44450" rIns="90488" bIns="44450"/>
          <a:lstStyle/>
          <a:p>
            <a:pPr algn="just" eaLnBrk="1" hangingPunct="1"/>
            <a:r>
              <a:rPr lang="en-US" sz="2800" dirty="0"/>
              <a:t>Elements in two compounds exchange their places.</a:t>
            </a:r>
          </a:p>
          <a:p>
            <a:pPr algn="just" eaLnBrk="1" hangingPunct="1">
              <a:buFontTx/>
              <a:buNone/>
            </a:pPr>
            <a:r>
              <a:rPr lang="en-US" sz="2800" dirty="0"/>
              <a:t>		XY(</a:t>
            </a:r>
            <a:r>
              <a:rPr lang="en-US" sz="2800" i="1" dirty="0" err="1"/>
              <a:t>aq</a:t>
            </a:r>
            <a:r>
              <a:rPr lang="en-US" sz="2800" dirty="0"/>
              <a:t>) +  AB (</a:t>
            </a:r>
            <a:r>
              <a:rPr lang="en-US" sz="2800" i="1" dirty="0" err="1"/>
              <a:t>aq</a:t>
            </a:r>
            <a:r>
              <a:rPr lang="en-US" sz="2800" dirty="0"/>
              <a:t>) </a:t>
            </a:r>
            <a:r>
              <a:rPr lang="en-US" sz="2400" b="1" dirty="0">
                <a:latin typeface="Symbol" pitchFamily="18" charset="2"/>
              </a:rPr>
              <a:t>®</a:t>
            </a:r>
            <a:r>
              <a:rPr lang="en-US" sz="2400" b="1" dirty="0"/>
              <a:t>  </a:t>
            </a:r>
            <a:r>
              <a:rPr lang="en-US" sz="2800" dirty="0"/>
              <a:t>XB + AY</a:t>
            </a:r>
          </a:p>
          <a:p>
            <a:pPr algn="just" eaLnBrk="1" hangingPunct="1"/>
            <a:r>
              <a:rPr lang="en-US" sz="2800" dirty="0"/>
              <a:t>Precipitation, acid</a:t>
            </a:r>
            <a:r>
              <a:rPr lang="en-US" sz="2800" dirty="0">
                <a:cs typeface="Times New Roman" pitchFamily="18" charset="0"/>
              </a:rPr>
              <a:t>–</a:t>
            </a:r>
            <a:r>
              <a:rPr lang="en-US" sz="2800" dirty="0"/>
              <a:t>base, and gas evolving reactions are some examples of double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/>
              <a:t>displacement reactions.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200" y="4038600"/>
            <a:ext cx="8839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latin typeface="+mn-lt"/>
              </a:rPr>
              <a:t>CaCl</a:t>
            </a:r>
            <a:r>
              <a:rPr lang="en-US" kern="0" baseline="-25000" dirty="0">
                <a:latin typeface="+mn-lt"/>
              </a:rPr>
              <a:t>2</a:t>
            </a:r>
            <a:r>
              <a:rPr lang="en-US" kern="0" dirty="0">
                <a:latin typeface="+mn-lt"/>
              </a:rPr>
              <a:t>(</a:t>
            </a:r>
            <a:r>
              <a:rPr lang="en-US" i="1" kern="0" dirty="0" err="1">
                <a:latin typeface="+mn-lt"/>
              </a:rPr>
              <a:t>aq</a:t>
            </a:r>
            <a:r>
              <a:rPr lang="en-US" kern="0" dirty="0">
                <a:latin typeface="+mn-lt"/>
              </a:rPr>
              <a:t>) + Na</a:t>
            </a:r>
            <a:r>
              <a:rPr lang="en-US" kern="0" baseline="-25000" dirty="0">
                <a:latin typeface="+mn-lt"/>
              </a:rPr>
              <a:t>2</a:t>
            </a:r>
            <a:r>
              <a:rPr lang="en-US" kern="0" dirty="0">
                <a:latin typeface="+mn-lt"/>
              </a:rPr>
              <a:t>CO</a:t>
            </a:r>
            <a:r>
              <a:rPr lang="en-US" kern="0" baseline="-25000" dirty="0">
                <a:latin typeface="+mn-lt"/>
              </a:rPr>
              <a:t>3</a:t>
            </a:r>
            <a:r>
              <a:rPr lang="en-US" kern="0" dirty="0">
                <a:latin typeface="+mn-lt"/>
              </a:rPr>
              <a:t>(</a:t>
            </a:r>
            <a:r>
              <a:rPr lang="en-US" i="1" kern="0" dirty="0" err="1">
                <a:latin typeface="+mn-lt"/>
              </a:rPr>
              <a:t>aq</a:t>
            </a:r>
            <a:r>
              <a:rPr lang="en-US" kern="0" dirty="0">
                <a:latin typeface="+mn-lt"/>
              </a:rPr>
              <a:t>) </a:t>
            </a:r>
            <a:r>
              <a:rPr lang="en-US" kern="0" dirty="0">
                <a:latin typeface="+mn-lt"/>
                <a:sym typeface="Symbol" pitchFamily="18" charset="2"/>
              </a:rPr>
              <a:t></a:t>
            </a:r>
            <a:r>
              <a:rPr lang="en-US" kern="0" dirty="0">
                <a:latin typeface="+mn-lt"/>
              </a:rPr>
              <a:t> CaCO</a:t>
            </a:r>
            <a:r>
              <a:rPr lang="en-US" kern="0" baseline="-25000" dirty="0">
                <a:latin typeface="+mn-lt"/>
              </a:rPr>
              <a:t>3</a:t>
            </a:r>
            <a:r>
              <a:rPr lang="en-US" kern="0" dirty="0">
                <a:latin typeface="+mn-lt"/>
              </a:rPr>
              <a:t>(</a:t>
            </a:r>
            <a:r>
              <a:rPr lang="en-US" i="1" kern="0" dirty="0">
                <a:latin typeface="+mn-lt"/>
              </a:rPr>
              <a:t>s</a:t>
            </a:r>
            <a:r>
              <a:rPr lang="en-US" kern="0" dirty="0">
                <a:latin typeface="+mn-lt"/>
              </a:rPr>
              <a:t>) + 2 </a:t>
            </a:r>
            <a:r>
              <a:rPr lang="en-US" kern="0" dirty="0" err="1">
                <a:latin typeface="+mn-lt"/>
              </a:rPr>
              <a:t>NaCl</a:t>
            </a:r>
            <a:r>
              <a:rPr lang="en-US" kern="0" dirty="0">
                <a:latin typeface="+mn-lt"/>
              </a:rPr>
              <a:t>(</a:t>
            </a:r>
            <a:r>
              <a:rPr lang="en-US" i="1" kern="0" dirty="0" err="1">
                <a:latin typeface="+mn-lt"/>
              </a:rPr>
              <a:t>aq</a:t>
            </a:r>
            <a:r>
              <a:rPr lang="en-US" kern="0" dirty="0">
                <a:latin typeface="+mn-lt"/>
              </a:rPr>
              <a:t>)</a:t>
            </a:r>
          </a:p>
          <a:p>
            <a:pPr marL="342900" indent="-342900" algn="ctr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latin typeface="+mn-lt"/>
            </a:endParaRPr>
          </a:p>
          <a:p>
            <a:pPr marL="342900" indent="-342900"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 err="1"/>
              <a:t>NaOH</a:t>
            </a:r>
            <a:r>
              <a:rPr lang="en-US" kern="0" dirty="0"/>
              <a:t> (</a:t>
            </a:r>
            <a:r>
              <a:rPr lang="en-US" kern="0" dirty="0" err="1"/>
              <a:t>aq</a:t>
            </a:r>
            <a:r>
              <a:rPr lang="en-US" kern="0" dirty="0"/>
              <a:t>) + </a:t>
            </a:r>
            <a:r>
              <a:rPr lang="en-US" kern="0" dirty="0" err="1"/>
              <a:t>HCl</a:t>
            </a:r>
            <a:r>
              <a:rPr lang="en-US" kern="0" dirty="0"/>
              <a:t>(</a:t>
            </a:r>
            <a:r>
              <a:rPr lang="en-US" i="1" kern="0" dirty="0" err="1"/>
              <a:t>aq</a:t>
            </a:r>
            <a:r>
              <a:rPr lang="en-US" kern="0" dirty="0"/>
              <a:t>) </a:t>
            </a:r>
            <a:r>
              <a:rPr lang="en-US" kern="0" dirty="0">
                <a:sym typeface="Symbol" pitchFamily="18" charset="2"/>
              </a:rPr>
              <a:t></a:t>
            </a:r>
            <a:r>
              <a:rPr lang="en-US" kern="0" dirty="0"/>
              <a:t> H</a:t>
            </a:r>
            <a:r>
              <a:rPr lang="en-US" kern="0" baseline="-25000" dirty="0"/>
              <a:t>2</a:t>
            </a:r>
            <a:r>
              <a:rPr lang="en-US" kern="0" dirty="0"/>
              <a:t>O(</a:t>
            </a:r>
            <a:r>
              <a:rPr lang="en-US" i="1" kern="0" dirty="0"/>
              <a:t>l</a:t>
            </a:r>
            <a:r>
              <a:rPr lang="en-US" kern="0" dirty="0"/>
              <a:t>) + </a:t>
            </a:r>
            <a:r>
              <a:rPr lang="en-US" kern="0" dirty="0" err="1"/>
              <a:t>NaCl</a:t>
            </a:r>
            <a:r>
              <a:rPr lang="en-US" kern="0" dirty="0"/>
              <a:t>(</a:t>
            </a:r>
            <a:r>
              <a:rPr lang="en-US" i="1" kern="0" dirty="0" err="1"/>
              <a:t>aq</a:t>
            </a:r>
            <a:r>
              <a:rPr lang="en-US" kern="0" dirty="0"/>
              <a:t>)</a:t>
            </a:r>
          </a:p>
          <a:p>
            <a:pPr marL="342900" indent="-342900" algn="ctr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/>
          </a:p>
          <a:p>
            <a:pPr marL="342900" indent="-342900"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 err="1">
                <a:latin typeface="+mn-lt"/>
              </a:rPr>
              <a:t>Ba</a:t>
            </a:r>
            <a:r>
              <a:rPr lang="en-US" kern="0" dirty="0">
                <a:latin typeface="+mn-lt"/>
              </a:rPr>
              <a:t>(OH)</a:t>
            </a:r>
            <a:r>
              <a:rPr lang="en-US" kern="0" baseline="-25000" dirty="0">
                <a:latin typeface="+mn-lt"/>
              </a:rPr>
              <a:t>2</a:t>
            </a:r>
            <a:r>
              <a:rPr lang="en-US" kern="0" dirty="0">
                <a:latin typeface="+mn-lt"/>
              </a:rPr>
              <a:t>(</a:t>
            </a:r>
            <a:r>
              <a:rPr lang="en-US" i="1" kern="0" dirty="0">
                <a:latin typeface="+mn-lt"/>
              </a:rPr>
              <a:t>s</a:t>
            </a:r>
            <a:r>
              <a:rPr lang="en-US" kern="0" dirty="0">
                <a:latin typeface="+mn-lt"/>
              </a:rPr>
              <a:t>) + 2 HNO</a:t>
            </a:r>
            <a:r>
              <a:rPr lang="en-US" kern="0" baseline="-25000" dirty="0">
                <a:latin typeface="+mn-lt"/>
              </a:rPr>
              <a:t>3</a:t>
            </a:r>
            <a:r>
              <a:rPr lang="en-US" kern="0" dirty="0">
                <a:latin typeface="+mn-lt"/>
              </a:rPr>
              <a:t>(</a:t>
            </a:r>
            <a:r>
              <a:rPr lang="en-US" i="1" kern="0" dirty="0" err="1">
                <a:latin typeface="+mn-lt"/>
              </a:rPr>
              <a:t>aq</a:t>
            </a:r>
            <a:r>
              <a:rPr lang="en-US" kern="0" dirty="0">
                <a:latin typeface="+mn-lt"/>
              </a:rPr>
              <a:t>) </a:t>
            </a:r>
            <a:r>
              <a:rPr lang="en-US" kern="0" dirty="0">
                <a:latin typeface="+mn-lt"/>
                <a:sym typeface="Symbol" pitchFamily="18" charset="2"/>
              </a:rPr>
              <a:t> </a:t>
            </a:r>
            <a:r>
              <a:rPr lang="en-US" kern="0" dirty="0" err="1">
                <a:latin typeface="+mn-lt"/>
                <a:sym typeface="Symbol" pitchFamily="18" charset="2"/>
              </a:rPr>
              <a:t>Ba</a:t>
            </a:r>
            <a:r>
              <a:rPr lang="en-US" kern="0" dirty="0">
                <a:latin typeface="+mn-lt"/>
                <a:sym typeface="Symbol" pitchFamily="18" charset="2"/>
              </a:rPr>
              <a:t>(NO</a:t>
            </a:r>
            <a:r>
              <a:rPr lang="en-US" kern="0" baseline="-25000" dirty="0">
                <a:latin typeface="+mn-lt"/>
                <a:sym typeface="Symbol" pitchFamily="18" charset="2"/>
              </a:rPr>
              <a:t>3</a:t>
            </a:r>
            <a:r>
              <a:rPr lang="en-US" kern="0" dirty="0">
                <a:latin typeface="+mn-lt"/>
                <a:sym typeface="Symbol" pitchFamily="18" charset="2"/>
              </a:rPr>
              <a:t>)</a:t>
            </a:r>
            <a:r>
              <a:rPr lang="en-US" kern="0" baseline="-25000" dirty="0">
                <a:latin typeface="+mn-lt"/>
                <a:sym typeface="Symbol" pitchFamily="18" charset="2"/>
              </a:rPr>
              <a:t>2</a:t>
            </a:r>
            <a:r>
              <a:rPr lang="en-US" kern="0" dirty="0">
                <a:latin typeface="+mn-lt"/>
                <a:sym typeface="Symbol" pitchFamily="18" charset="2"/>
              </a:rPr>
              <a:t>(</a:t>
            </a:r>
            <a:r>
              <a:rPr lang="en-US" i="1" kern="0" dirty="0" err="1">
                <a:latin typeface="+mn-lt"/>
                <a:sym typeface="Symbol" pitchFamily="18" charset="2"/>
              </a:rPr>
              <a:t>aq</a:t>
            </a:r>
            <a:r>
              <a:rPr lang="en-US" kern="0" dirty="0">
                <a:latin typeface="+mn-lt"/>
                <a:sym typeface="Symbol" pitchFamily="18" charset="2"/>
              </a:rPr>
              <a:t>) + 2 H</a:t>
            </a:r>
            <a:r>
              <a:rPr lang="en-US" kern="0" baseline="-25000" dirty="0">
                <a:latin typeface="+mn-lt"/>
                <a:sym typeface="Symbol" pitchFamily="18" charset="2"/>
              </a:rPr>
              <a:t>2</a:t>
            </a:r>
            <a:r>
              <a:rPr lang="en-US" kern="0" dirty="0">
                <a:latin typeface="+mn-lt"/>
                <a:sym typeface="Symbol" pitchFamily="18" charset="2"/>
              </a:rPr>
              <a:t>O(</a:t>
            </a:r>
            <a:r>
              <a:rPr lang="en-US" i="1" kern="0" dirty="0">
                <a:latin typeface="+mn-lt"/>
                <a:sym typeface="Symbol" pitchFamily="18" charset="2"/>
              </a:rPr>
              <a:t>l</a:t>
            </a:r>
            <a:r>
              <a:rPr lang="en-US" kern="0" dirty="0">
                <a:latin typeface="+mn-lt"/>
                <a:sym typeface="Symbol" pitchFamily="18" charset="2"/>
              </a:rPr>
              <a:t>)</a:t>
            </a:r>
          </a:p>
          <a:p>
            <a:pPr marL="342900" indent="-342900" algn="ctr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latin typeface="+mn-lt"/>
              <a:sym typeface="Symbol" pitchFamily="18" charset="2"/>
            </a:endParaRPr>
          </a:p>
          <a:p>
            <a:pPr marL="342900" indent="-342900"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latin typeface="+mn-lt"/>
                <a:sym typeface="Symbol" pitchFamily="18" charset="2"/>
              </a:rPr>
              <a:t>Li</a:t>
            </a:r>
            <a:r>
              <a:rPr lang="en-US" kern="0" baseline="-25000" dirty="0">
                <a:latin typeface="+mn-lt"/>
                <a:sym typeface="Symbol" pitchFamily="18" charset="2"/>
              </a:rPr>
              <a:t>2</a:t>
            </a:r>
            <a:r>
              <a:rPr lang="en-US" kern="0" dirty="0">
                <a:latin typeface="+mn-lt"/>
                <a:sym typeface="Symbol" pitchFamily="18" charset="2"/>
              </a:rPr>
              <a:t>CO</a:t>
            </a:r>
            <a:r>
              <a:rPr lang="en-US" kern="0" baseline="-25000" dirty="0">
                <a:latin typeface="+mn-lt"/>
                <a:sym typeface="Symbol" pitchFamily="18" charset="2"/>
              </a:rPr>
              <a:t>3</a:t>
            </a:r>
            <a:r>
              <a:rPr lang="en-US" kern="0" dirty="0">
                <a:latin typeface="+mn-lt"/>
                <a:sym typeface="Symbol" pitchFamily="18" charset="2"/>
              </a:rPr>
              <a:t>(</a:t>
            </a:r>
            <a:r>
              <a:rPr lang="en-US" i="1" kern="0" dirty="0" err="1">
                <a:latin typeface="+mn-lt"/>
                <a:sym typeface="Symbol" pitchFamily="18" charset="2"/>
              </a:rPr>
              <a:t>aq</a:t>
            </a:r>
            <a:r>
              <a:rPr lang="en-US" kern="0" dirty="0">
                <a:latin typeface="+mn-lt"/>
                <a:sym typeface="Symbol" pitchFamily="18" charset="2"/>
              </a:rPr>
              <a:t>) + 2 </a:t>
            </a:r>
            <a:r>
              <a:rPr lang="en-US" kern="0" dirty="0" err="1">
                <a:latin typeface="+mn-lt"/>
                <a:sym typeface="Symbol" pitchFamily="18" charset="2"/>
              </a:rPr>
              <a:t>HCl</a:t>
            </a:r>
            <a:r>
              <a:rPr lang="en-US" kern="0" dirty="0">
                <a:latin typeface="+mn-lt"/>
                <a:sym typeface="Symbol" pitchFamily="18" charset="2"/>
              </a:rPr>
              <a:t>(</a:t>
            </a:r>
            <a:r>
              <a:rPr lang="en-US" i="1" kern="0" dirty="0" err="1">
                <a:latin typeface="+mn-lt"/>
                <a:sym typeface="Symbol" pitchFamily="18" charset="2"/>
              </a:rPr>
              <a:t>aq</a:t>
            </a:r>
            <a:r>
              <a:rPr lang="en-US" kern="0" dirty="0">
                <a:latin typeface="+mn-lt"/>
                <a:sym typeface="Symbol" pitchFamily="18" charset="2"/>
              </a:rPr>
              <a:t>)  2 </a:t>
            </a:r>
            <a:r>
              <a:rPr lang="en-US" kern="0" dirty="0" err="1">
                <a:latin typeface="+mn-lt"/>
                <a:sym typeface="Symbol" pitchFamily="18" charset="2"/>
              </a:rPr>
              <a:t>LiCl</a:t>
            </a:r>
            <a:r>
              <a:rPr lang="en-US" kern="0" dirty="0">
                <a:latin typeface="+mn-lt"/>
                <a:sym typeface="Symbol" pitchFamily="18" charset="2"/>
              </a:rPr>
              <a:t>(</a:t>
            </a:r>
            <a:r>
              <a:rPr lang="en-US" i="1" kern="0" dirty="0" err="1">
                <a:latin typeface="+mn-lt"/>
                <a:sym typeface="Symbol" pitchFamily="18" charset="2"/>
              </a:rPr>
              <a:t>aq</a:t>
            </a:r>
            <a:r>
              <a:rPr lang="en-US" kern="0" dirty="0">
                <a:latin typeface="+mn-lt"/>
                <a:sym typeface="Symbol" pitchFamily="18" charset="2"/>
              </a:rPr>
              <a:t>) + CO</a:t>
            </a:r>
            <a:r>
              <a:rPr lang="en-US" kern="0" baseline="-25000" dirty="0">
                <a:latin typeface="+mn-lt"/>
                <a:sym typeface="Symbol" pitchFamily="18" charset="2"/>
              </a:rPr>
              <a:t>2</a:t>
            </a:r>
            <a:r>
              <a:rPr lang="en-US" kern="0" dirty="0">
                <a:latin typeface="+mn-lt"/>
                <a:sym typeface="Symbol" pitchFamily="18" charset="2"/>
              </a:rPr>
              <a:t>(</a:t>
            </a:r>
            <a:r>
              <a:rPr lang="en-US" i="1" kern="0" dirty="0">
                <a:latin typeface="+mn-lt"/>
                <a:sym typeface="Symbol" pitchFamily="18" charset="2"/>
              </a:rPr>
              <a:t>g</a:t>
            </a:r>
            <a:r>
              <a:rPr lang="en-US" kern="0" dirty="0">
                <a:latin typeface="+mn-lt"/>
                <a:sym typeface="Symbol" pitchFamily="18" charset="2"/>
              </a:rPr>
              <a:t>) + H</a:t>
            </a:r>
            <a:r>
              <a:rPr lang="en-US" kern="0" baseline="-25000" dirty="0">
                <a:latin typeface="+mn-lt"/>
                <a:sym typeface="Symbol" pitchFamily="18" charset="2"/>
              </a:rPr>
              <a:t>2</a:t>
            </a:r>
            <a:r>
              <a:rPr lang="en-US" kern="0" dirty="0">
                <a:latin typeface="+mn-lt"/>
                <a:sym typeface="Symbol" pitchFamily="18" charset="2"/>
              </a:rPr>
              <a:t>O(</a:t>
            </a:r>
            <a:r>
              <a:rPr lang="en-US" i="1" kern="0" dirty="0">
                <a:latin typeface="+mn-lt"/>
                <a:sym typeface="Symbol" pitchFamily="18" charset="2"/>
              </a:rPr>
              <a:t>l</a:t>
            </a:r>
            <a:r>
              <a:rPr lang="en-US" kern="0" dirty="0">
                <a:latin typeface="+mn-lt"/>
                <a:sym typeface="Symbol" pitchFamily="18" charset="2"/>
              </a:rPr>
              <a:t>)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152400"/>
            <a:ext cx="899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Double Displacement (or Replacement) Reactions</a:t>
            </a:r>
          </a:p>
        </p:txBody>
      </p:sp>
    </p:spTree>
    <p:custDataLst>
      <p:tags r:id="rId1"/>
    </p:custDataLst>
  </p:cSld>
  <p:clrMapOvr>
    <a:masterClrMapping/>
  </p:clrMapOvr>
  <p:transition>
    <p:fade thruBlk="1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382000" cy="1447800"/>
          </a:xfrm>
        </p:spPr>
        <p:txBody>
          <a:bodyPr/>
          <a:lstStyle/>
          <a:p>
            <a:pPr algn="just" eaLnBrk="1" hangingPunct="1"/>
            <a:r>
              <a:rPr lang="en-US" sz="2400" b="1" dirty="0"/>
              <a:t>Practice—Classify the Following Reactions as Combination, Decomposition, Single Displacement, or Double Displacement.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828800"/>
            <a:ext cx="9144000" cy="4114800"/>
          </a:xfrm>
        </p:spPr>
        <p:txBody>
          <a:bodyPr/>
          <a:lstStyle/>
          <a:p>
            <a:pPr algn="ctr" eaLnBrk="1" hangingPunct="1">
              <a:spcAft>
                <a:spcPct val="100000"/>
              </a:spcAft>
              <a:buFontTx/>
              <a:buNone/>
            </a:pPr>
            <a:r>
              <a:rPr lang="en-US" sz="2800" dirty="0"/>
              <a:t>3 Mg(</a:t>
            </a:r>
            <a:r>
              <a:rPr lang="en-US" sz="2800" i="1" dirty="0"/>
              <a:t>s</a:t>
            </a:r>
            <a:r>
              <a:rPr lang="en-US" sz="2800" dirty="0"/>
              <a:t>) + 2 FeCl</a:t>
            </a:r>
            <a:r>
              <a:rPr lang="en-US" sz="2800" baseline="-25000" dirty="0"/>
              <a:t>3</a:t>
            </a:r>
            <a:r>
              <a:rPr lang="en-US" sz="2800" dirty="0"/>
              <a:t>(</a:t>
            </a:r>
            <a:r>
              <a:rPr lang="en-US" sz="2800" i="1" dirty="0" err="1"/>
              <a:t>aq</a:t>
            </a:r>
            <a:r>
              <a:rPr lang="en-US" sz="2800" dirty="0"/>
              <a:t>) </a:t>
            </a:r>
            <a:r>
              <a:rPr lang="en-US" sz="2800" dirty="0">
                <a:sym typeface="Symbol" pitchFamily="18" charset="2"/>
              </a:rPr>
              <a:t> 3 MgCl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 err="1">
                <a:sym typeface="Symbol" pitchFamily="18" charset="2"/>
              </a:rPr>
              <a:t>aq</a:t>
            </a:r>
            <a:r>
              <a:rPr lang="en-US" sz="2800" dirty="0">
                <a:sym typeface="Symbol" pitchFamily="18" charset="2"/>
              </a:rPr>
              <a:t>) + 2 Fe(</a:t>
            </a:r>
            <a:r>
              <a:rPr lang="en-US" sz="2800" i="1" dirty="0">
                <a:sym typeface="Symbol" pitchFamily="18" charset="2"/>
              </a:rPr>
              <a:t>s</a:t>
            </a:r>
            <a:r>
              <a:rPr lang="en-US" sz="2800" dirty="0">
                <a:sym typeface="Symbol" pitchFamily="18" charset="2"/>
              </a:rPr>
              <a:t>)</a:t>
            </a:r>
          </a:p>
          <a:p>
            <a:pPr algn="ctr" eaLnBrk="1" hangingPunct="1">
              <a:spcAft>
                <a:spcPct val="100000"/>
              </a:spcAft>
              <a:buFontTx/>
              <a:buNone/>
            </a:pPr>
            <a:r>
              <a:rPr lang="en-US" sz="2800" dirty="0">
                <a:sym typeface="Symbol" pitchFamily="18" charset="2"/>
              </a:rPr>
              <a:t> CO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g</a:t>
            </a:r>
            <a:r>
              <a:rPr lang="en-US" sz="2800" dirty="0">
                <a:sym typeface="Symbol" pitchFamily="18" charset="2"/>
              </a:rPr>
              <a:t>) + H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O(</a:t>
            </a:r>
            <a:r>
              <a:rPr lang="en-US" sz="2800" i="1" dirty="0">
                <a:sym typeface="Symbol" pitchFamily="18" charset="2"/>
              </a:rPr>
              <a:t>l</a:t>
            </a:r>
            <a:r>
              <a:rPr lang="en-US" sz="2800" dirty="0">
                <a:sym typeface="Symbol" pitchFamily="18" charset="2"/>
              </a:rPr>
              <a:t>)  H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CO</a:t>
            </a:r>
            <a:r>
              <a:rPr lang="en-US" sz="2800" baseline="-25000" dirty="0">
                <a:sym typeface="Symbol" pitchFamily="18" charset="2"/>
              </a:rPr>
              <a:t>3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 err="1">
                <a:sym typeface="Symbol" pitchFamily="18" charset="2"/>
              </a:rPr>
              <a:t>aq</a:t>
            </a:r>
            <a:r>
              <a:rPr lang="en-US" sz="2800" dirty="0">
                <a:sym typeface="Symbol" pitchFamily="18" charset="2"/>
              </a:rPr>
              <a:t>)</a:t>
            </a:r>
          </a:p>
          <a:p>
            <a:pPr algn="ctr" eaLnBrk="1" hangingPunct="1">
              <a:spcAft>
                <a:spcPct val="100000"/>
              </a:spcAft>
              <a:buFontTx/>
              <a:buNone/>
            </a:pPr>
            <a:r>
              <a:rPr lang="en-US" sz="2800" dirty="0">
                <a:sym typeface="Symbol" pitchFamily="18" charset="2"/>
              </a:rPr>
              <a:t>3 KOH(</a:t>
            </a:r>
            <a:r>
              <a:rPr lang="en-US" sz="2800" i="1" dirty="0" err="1">
                <a:sym typeface="Symbol" pitchFamily="18" charset="2"/>
              </a:rPr>
              <a:t>aq</a:t>
            </a:r>
            <a:r>
              <a:rPr lang="en-US" sz="2800" dirty="0">
                <a:sym typeface="Symbol" pitchFamily="18" charset="2"/>
              </a:rPr>
              <a:t>) + H</a:t>
            </a:r>
            <a:r>
              <a:rPr lang="en-US" sz="2800" baseline="-25000" dirty="0">
                <a:sym typeface="Symbol" pitchFamily="18" charset="2"/>
              </a:rPr>
              <a:t>3</a:t>
            </a:r>
            <a:r>
              <a:rPr lang="en-US" sz="2800" dirty="0">
                <a:sym typeface="Symbol" pitchFamily="18" charset="2"/>
              </a:rPr>
              <a:t>PO</a:t>
            </a:r>
            <a:r>
              <a:rPr lang="en-US" sz="2800" baseline="-25000" dirty="0">
                <a:sym typeface="Symbol" pitchFamily="18" charset="2"/>
              </a:rPr>
              <a:t>4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 err="1">
                <a:sym typeface="Symbol" pitchFamily="18" charset="2"/>
              </a:rPr>
              <a:t>aq</a:t>
            </a:r>
            <a:r>
              <a:rPr lang="en-US" sz="2800" dirty="0">
                <a:sym typeface="Symbol" pitchFamily="18" charset="2"/>
              </a:rPr>
              <a:t>)  K</a:t>
            </a:r>
            <a:r>
              <a:rPr lang="en-US" sz="2800" baseline="-25000" dirty="0">
                <a:sym typeface="Symbol" pitchFamily="18" charset="2"/>
              </a:rPr>
              <a:t>3</a:t>
            </a:r>
            <a:r>
              <a:rPr lang="en-US" sz="2800" dirty="0">
                <a:sym typeface="Symbol" pitchFamily="18" charset="2"/>
              </a:rPr>
              <a:t>PO</a:t>
            </a:r>
            <a:r>
              <a:rPr lang="en-US" sz="2800" baseline="-25000" dirty="0">
                <a:sym typeface="Symbol" pitchFamily="18" charset="2"/>
              </a:rPr>
              <a:t>4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 err="1">
                <a:sym typeface="Symbol" pitchFamily="18" charset="2"/>
              </a:rPr>
              <a:t>aq</a:t>
            </a:r>
            <a:r>
              <a:rPr lang="en-US" sz="2800" dirty="0">
                <a:sym typeface="Symbol" pitchFamily="18" charset="2"/>
              </a:rPr>
              <a:t>) + 3 H</a:t>
            </a:r>
            <a:r>
              <a:rPr lang="en-US" sz="2800" baseline="-25000" dirty="0">
                <a:sym typeface="Symbol" pitchFamily="18" charset="2"/>
              </a:rPr>
              <a:t>2</a:t>
            </a:r>
            <a:r>
              <a:rPr lang="en-US" sz="2800" dirty="0">
                <a:sym typeface="Symbol" pitchFamily="18" charset="2"/>
              </a:rPr>
              <a:t>O(</a:t>
            </a:r>
            <a:r>
              <a:rPr lang="en-US" sz="2800" i="1" dirty="0">
                <a:sym typeface="Symbol" pitchFamily="18" charset="2"/>
              </a:rPr>
              <a:t>l</a:t>
            </a:r>
            <a:r>
              <a:rPr lang="en-US" sz="2800" dirty="0">
                <a:sym typeface="Symbol" pitchFamily="18" charset="2"/>
              </a:rPr>
              <a:t>) </a:t>
            </a:r>
          </a:p>
          <a:p>
            <a:pPr algn="ctr" eaLnBrk="1" hangingPunct="1">
              <a:buFontTx/>
              <a:buNone/>
            </a:pPr>
            <a:endParaRPr lang="en-US" dirty="0">
              <a:sym typeface="Symbol" pitchFamily="18" charset="2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600200" y="4800600"/>
          <a:ext cx="6324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480" imgH="291960" progId="Equation.3">
                  <p:embed/>
                </p:oleObj>
              </mc:Choice>
              <mc:Fallback>
                <p:oleObj name="Equation" r:id="rId3" imgW="2679480" imgH="291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800600"/>
                        <a:ext cx="6324600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8" descr="07_08-20UN"/>
          <p:cNvPicPr>
            <a:picLocks noChangeAspect="1" noChangeArrowheads="1"/>
          </p:cNvPicPr>
          <p:nvPr/>
        </p:nvPicPr>
        <p:blipFill>
          <a:blip r:embed="rId3" cstate="print"/>
          <a:srcRect b="6158"/>
          <a:stretch>
            <a:fillRect/>
          </a:stretch>
        </p:blipFill>
        <p:spPr bwMode="auto">
          <a:xfrm>
            <a:off x="311150" y="2819400"/>
            <a:ext cx="84518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062913" cy="685800"/>
          </a:xfrm>
        </p:spPr>
        <p:txBody>
          <a:bodyPr/>
          <a:lstStyle/>
          <a:p>
            <a:pPr eaLnBrk="1" hangingPunct="1"/>
            <a:r>
              <a:rPr lang="en-US" sz="3600" b="1" dirty="0"/>
              <a:t>Type of Reactions – Cont…</a:t>
            </a:r>
            <a:endParaRPr lang="en-US" sz="4000" b="1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382000" cy="1905000"/>
          </a:xfrm>
        </p:spPr>
        <p:txBody>
          <a:bodyPr/>
          <a:lstStyle/>
          <a:p>
            <a:pPr algn="just" eaLnBrk="1" hangingPunct="1"/>
            <a:r>
              <a:rPr lang="en-US" sz="2800"/>
              <a:t>Another way of classifying chemical reactions is based on the process that happens in a chemical reaction.</a:t>
            </a:r>
          </a:p>
          <a:p>
            <a:pPr lvl="1" algn="just" eaLnBrk="1" hangingPunct="1"/>
            <a:r>
              <a:rPr lang="en-US" sz="2400"/>
              <a:t>Precipitation, neutralization, formation of a gas, or transfer of electrons.</a:t>
            </a:r>
          </a:p>
        </p:txBody>
      </p:sp>
    </p:spTree>
    <p:custDataLst>
      <p:tags r:id="rId1"/>
    </p:custDataLst>
  </p:cSld>
  <p:clrMapOvr>
    <a:masterClrMapping/>
  </p:clrMapOvr>
  <p:transition>
    <p:fade thruBlk="1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pPr eaLnBrk="1" hangingPunct="1"/>
            <a:r>
              <a:rPr lang="en-US" sz="4000" b="1"/>
              <a:t>Combustion Reactions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458200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Reactions in which O</a:t>
            </a:r>
            <a:r>
              <a:rPr lang="en-US" sz="2800" baseline="-25000" dirty="0"/>
              <a:t>2</a:t>
            </a:r>
            <a:r>
              <a:rPr lang="en-US" sz="2800" dirty="0"/>
              <a:t> is consumed by combining with another substance are called </a:t>
            </a:r>
            <a:r>
              <a:rPr lang="en-US" sz="2800" b="1" dirty="0"/>
              <a:t>combustion reactions</a:t>
            </a:r>
            <a:r>
              <a:rPr lang="en-US" sz="28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Always release heat and/or other forms of energy.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Produce one or more oxygen-containing compounds.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In general, compounds containing only C, H and O in their composition produces CO</a:t>
            </a:r>
            <a:r>
              <a:rPr lang="en-US" sz="2800" baseline="-25000" dirty="0"/>
              <a:t>2 </a:t>
            </a:r>
            <a:r>
              <a:rPr lang="en-US" sz="2800" dirty="0"/>
              <a:t>and H</a:t>
            </a:r>
            <a:r>
              <a:rPr lang="en-US" sz="2800" baseline="-25000" dirty="0"/>
              <a:t>2</a:t>
            </a:r>
            <a:r>
              <a:rPr lang="en-US" sz="2800" dirty="0"/>
              <a:t>O as the only products in a combustion reaction.</a:t>
            </a:r>
          </a:p>
        </p:txBody>
      </p:sp>
      <p:sp>
        <p:nvSpPr>
          <p:cNvPr id="2054" name="TextBox 6"/>
          <p:cNvSpPr txBox="1">
            <a:spLocks noChangeArrowheads="1"/>
          </p:cNvSpPr>
          <p:nvPr/>
        </p:nvSpPr>
        <p:spPr bwMode="auto">
          <a:xfrm>
            <a:off x="838200" y="3195638"/>
            <a:ext cx="7002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Examples: see previous balancing equation slides</a:t>
            </a:r>
          </a:p>
        </p:txBody>
      </p:sp>
      <p:sp>
        <p:nvSpPr>
          <p:cNvPr id="2055" name="TextBox 7"/>
          <p:cNvSpPr txBox="1">
            <a:spLocks noChangeArrowheads="1"/>
          </p:cNvSpPr>
          <p:nvPr/>
        </p:nvSpPr>
        <p:spPr bwMode="auto">
          <a:xfrm>
            <a:off x="1511300" y="5176837"/>
            <a:ext cx="5803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Respiration (reaction of glucose in our body):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219200" y="5600700"/>
          <a:ext cx="6502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241200" progId="Equation.3">
                  <p:embed/>
                </p:oleObj>
              </mc:Choice>
              <mc:Fallback>
                <p:oleObj name="Equation" r:id="rId3" imgW="274320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600700"/>
                        <a:ext cx="65024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TextBox 12"/>
          <p:cNvSpPr txBox="1">
            <a:spLocks noChangeArrowheads="1"/>
          </p:cNvSpPr>
          <p:nvPr/>
        </p:nvSpPr>
        <p:spPr bwMode="auto">
          <a:xfrm>
            <a:off x="2787650" y="6172200"/>
            <a:ext cx="36893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Try to balance this equation!</a:t>
            </a:r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915400" cy="685800"/>
          </a:xfrm>
        </p:spPr>
        <p:txBody>
          <a:bodyPr/>
          <a:lstStyle/>
          <a:p>
            <a:pPr eaLnBrk="1" hangingPunct="1"/>
            <a:r>
              <a:rPr lang="en-US" sz="3600" b="1" dirty="0"/>
              <a:t>Solubility and Precipitation Reactions</a:t>
            </a:r>
            <a:endParaRPr lang="en-US" b="1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0" y="838200"/>
            <a:ext cx="5867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b="1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Reactions in Aqueous Solutions</a:t>
            </a:r>
            <a:endParaRPr lang="en-US" sz="4400" b="1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81000" y="1905000"/>
            <a:ext cx="8229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</a:rPr>
              <a:t>Many times, the chemicals we are reacting together are dissolved in water.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kern="0" dirty="0">
                <a:latin typeface="+mn-lt"/>
              </a:rPr>
              <a:t>Mixtures of a chemical dissolved in water are called </a:t>
            </a:r>
            <a:r>
              <a:rPr lang="en-US" b="1" kern="0" dirty="0">
                <a:latin typeface="+mn-lt"/>
              </a:rPr>
              <a:t>aqueous solutions</a:t>
            </a:r>
            <a:r>
              <a:rPr lang="en-US" kern="0" dirty="0">
                <a:latin typeface="+mn-lt"/>
              </a:rPr>
              <a:t>.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</a:rPr>
              <a:t>Dissolving the chemicals in water helps them to react faster.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kern="0" dirty="0">
                <a:latin typeface="+mn-lt"/>
              </a:rPr>
              <a:t>The water (</a:t>
            </a:r>
            <a:r>
              <a:rPr lang="en-US" b="1" kern="0" dirty="0">
                <a:latin typeface="+mn-lt"/>
              </a:rPr>
              <a:t>aqueous medium</a:t>
            </a:r>
            <a:r>
              <a:rPr lang="en-US" kern="0" dirty="0">
                <a:latin typeface="+mn-lt"/>
              </a:rPr>
              <a:t>) separates the chemicals into individual molecules or ions.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kern="0" dirty="0">
                <a:latin typeface="+mn-lt"/>
              </a:rPr>
              <a:t>The separate, free-floating particles come in contact more frequently so the reaction speeds up.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81000" y="762000"/>
            <a:ext cx="5715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 algn="just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</a:rPr>
              <a:t>When ionic compounds dissolve in water, the anions and </a:t>
            </a:r>
            <a:r>
              <a:rPr lang="en-US" sz="2800" kern="0" dirty="0" err="1">
                <a:latin typeface="+mn-lt"/>
              </a:rPr>
              <a:t>cations</a:t>
            </a:r>
            <a:r>
              <a:rPr lang="en-US" sz="2800" kern="0" dirty="0">
                <a:latin typeface="+mn-lt"/>
              </a:rPr>
              <a:t> are separated from each other. This is called </a:t>
            </a:r>
            <a:r>
              <a:rPr lang="en-US" sz="2800" b="1" kern="0" dirty="0">
                <a:latin typeface="+mn-lt"/>
              </a:rPr>
              <a:t>dissociation</a:t>
            </a:r>
            <a:r>
              <a:rPr lang="en-US" sz="2800" kern="0" dirty="0">
                <a:latin typeface="+mn-lt"/>
              </a:rPr>
              <a:t>.</a:t>
            </a:r>
          </a:p>
          <a:p>
            <a:pPr marL="742950" lvl="1" indent="-285750" algn="just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kern="0" dirty="0">
                <a:latin typeface="+mn-lt"/>
              </a:rPr>
              <a:t>However, not all ionic compounds are soluble in water! (see following slides)</a:t>
            </a:r>
          </a:p>
          <a:p>
            <a:pPr marL="742950" lvl="1" indent="-285750" algn="just">
              <a:spcBef>
                <a:spcPct val="20000"/>
              </a:spcBef>
              <a:defRPr/>
            </a:pPr>
            <a:endParaRPr lang="en-US" kern="0" dirty="0">
              <a:latin typeface="+mn-lt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</a:rPr>
              <a:t>When compounds containing </a:t>
            </a:r>
            <a:r>
              <a:rPr lang="en-US" sz="2800" b="1" kern="0" dirty="0">
                <a:latin typeface="+mn-lt"/>
              </a:rPr>
              <a:t>polyatomic ions dissociate</a:t>
            </a:r>
            <a:r>
              <a:rPr lang="en-US" sz="2800" kern="0" dirty="0">
                <a:latin typeface="+mn-lt"/>
              </a:rPr>
              <a:t>, the polyatomic group stays together as one ion.</a:t>
            </a:r>
          </a:p>
        </p:txBody>
      </p:sp>
      <p:pic>
        <p:nvPicPr>
          <p:cNvPr id="28676" name="Picture 6" descr="NaCl dissoci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62000"/>
            <a:ext cx="2457450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7" descr="AgNO3 dissociatio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00800" y="3440113"/>
            <a:ext cx="2590800" cy="223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dirty="0"/>
              <a:t>Why do ionic compounds dissociate in water?</a:t>
            </a:r>
          </a:p>
        </p:txBody>
      </p:sp>
      <p:pic>
        <p:nvPicPr>
          <p:cNvPr id="4956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9444" y="1828800"/>
            <a:ext cx="2871756" cy="242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56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4343401"/>
            <a:ext cx="668864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Bent-Up Arrow 6"/>
          <p:cNvSpPr/>
          <p:nvPr/>
        </p:nvSpPr>
        <p:spPr bwMode="auto">
          <a:xfrm>
            <a:off x="1981200" y="2133600"/>
            <a:ext cx="1295400" cy="2057400"/>
          </a:xfrm>
          <a:prstGeom prst="bentUpArrow">
            <a:avLst>
              <a:gd name="adj1" fmla="val 25000"/>
              <a:gd name="adj2" fmla="val 25000"/>
              <a:gd name="adj3" fmla="val 12166"/>
            </a:avLst>
          </a:prstGeom>
          <a:solidFill>
            <a:schemeClr val="accent2"/>
          </a:solidFill>
          <a:ln w="6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8" name="Bent-Up Arrow 7"/>
          <p:cNvSpPr/>
          <p:nvPr/>
        </p:nvSpPr>
        <p:spPr bwMode="auto">
          <a:xfrm>
            <a:off x="5410200" y="2133600"/>
            <a:ext cx="1295400" cy="2057400"/>
          </a:xfrm>
          <a:prstGeom prst="bentUpArrow">
            <a:avLst>
              <a:gd name="adj1" fmla="val 25000"/>
              <a:gd name="adj2" fmla="val 25000"/>
              <a:gd name="adj3" fmla="val 12166"/>
            </a:avLst>
          </a:prstGeom>
          <a:solidFill>
            <a:schemeClr val="accent2"/>
          </a:solidFill>
          <a:ln w="6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800000" rev="1080000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09600"/>
          </a:xfrm>
        </p:spPr>
        <p:txBody>
          <a:bodyPr/>
          <a:lstStyle/>
          <a:p>
            <a:pPr eaLnBrk="1" hangingPunct="1"/>
            <a:r>
              <a:rPr lang="en-US" sz="4000" b="1"/>
              <a:t>Precipitation Reactions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5105400" cy="4724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Many precipitation reactions are done by mixing aqueous solutions of ionic compounds together.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1200" dirty="0"/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When this is done, often a reaction will take place from the </a:t>
            </a:r>
            <a:r>
              <a:rPr lang="en-US" sz="2400" dirty="0" err="1"/>
              <a:t>cations</a:t>
            </a:r>
            <a:r>
              <a:rPr lang="en-US" sz="2400" dirty="0"/>
              <a:t> and anions in the two solutions that are exchanging.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1050" dirty="0"/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If the ion exchange results in forming a compound that is insoluble in water, it will come out of solution as a </a:t>
            </a:r>
            <a:r>
              <a:rPr lang="en-US" sz="2400" b="1" dirty="0"/>
              <a:t>precipitate</a:t>
            </a:r>
            <a:r>
              <a:rPr lang="en-US" sz="2400" dirty="0"/>
              <a:t>.</a:t>
            </a:r>
          </a:p>
        </p:txBody>
      </p:sp>
      <p:pic>
        <p:nvPicPr>
          <p:cNvPr id="34821" name="Picture 9" descr="07_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1066800"/>
            <a:ext cx="2976563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57200" y="5648325"/>
            <a:ext cx="682430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2 KI(</a:t>
            </a:r>
            <a:r>
              <a:rPr lang="en-US" i="1" dirty="0" err="1"/>
              <a:t>aq</a:t>
            </a:r>
            <a:r>
              <a:rPr lang="en-US" dirty="0"/>
              <a:t>) + </a:t>
            </a:r>
            <a:r>
              <a:rPr lang="en-US" dirty="0" err="1"/>
              <a:t>Pb</a:t>
            </a:r>
            <a:r>
              <a:rPr lang="en-US" dirty="0"/>
              <a:t>(NO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 2 KNO</a:t>
            </a:r>
            <a:r>
              <a:rPr lang="en-US" baseline="-25000" dirty="0">
                <a:sym typeface="Symbol" pitchFamily="18" charset="2"/>
              </a:rPr>
              <a:t>3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 err="1">
                <a:sym typeface="Symbol" pitchFamily="18" charset="2"/>
              </a:rPr>
              <a:t>aq</a:t>
            </a:r>
            <a:r>
              <a:rPr lang="en-US" dirty="0">
                <a:sym typeface="Symbol" pitchFamily="18" charset="2"/>
              </a:rPr>
              <a:t>) + </a:t>
            </a:r>
            <a:r>
              <a:rPr lang="en-US" b="1" dirty="0">
                <a:sym typeface="Symbol" pitchFamily="18" charset="2"/>
              </a:rPr>
              <a:t>PbI</a:t>
            </a:r>
            <a:r>
              <a:rPr lang="en-US" b="1" baseline="-25000" dirty="0">
                <a:sym typeface="Symbol" pitchFamily="18" charset="2"/>
              </a:rPr>
              <a:t>2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i="1" dirty="0">
                <a:sym typeface="Symbol" pitchFamily="18" charset="2"/>
              </a:rPr>
              <a:t>s</a:t>
            </a:r>
            <a:r>
              <a:rPr lang="en-US" b="1" dirty="0">
                <a:sym typeface="Symbol" pitchFamily="18" charset="2"/>
              </a:rPr>
              <a:t>)</a:t>
            </a:r>
          </a:p>
        </p:txBody>
      </p:sp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6019800" y="6167437"/>
            <a:ext cx="18018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(precipitate)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>
    <p:fade thruBlk="1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Acids and Bases</a:t>
            </a:r>
            <a:endParaRPr 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611188" y="914400"/>
            <a:ext cx="3148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Acids in water give H</a:t>
            </a:r>
            <a:r>
              <a:rPr lang="en-US" baseline="30000"/>
              <a:t>+</a:t>
            </a:r>
            <a:endParaRPr lang="en-US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673100" y="1441450"/>
            <a:ext cx="968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HA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  <a:endParaRPr lang="en-US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2057400" y="167005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3927475" y="1439863"/>
            <a:ext cx="2078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30000"/>
              <a:t>+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  <a:r>
              <a:rPr lang="en-US"/>
              <a:t> +   A</a:t>
            </a:r>
            <a:r>
              <a:rPr lang="en-US" baseline="30000"/>
              <a:t>–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609600" y="3581400"/>
            <a:ext cx="3481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Bases in water give OH</a:t>
            </a:r>
            <a:r>
              <a:rPr lang="en-US" baseline="30000" dirty="0"/>
              <a:t>–</a:t>
            </a:r>
            <a:endParaRPr lang="en-US" dirty="0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695325" y="4438650"/>
            <a:ext cx="1257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MOH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  <a:endParaRPr 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2055813" y="466725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3925888" y="4438650"/>
            <a:ext cx="2197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</a:t>
            </a:r>
            <a:r>
              <a:rPr lang="en-US" baseline="30000"/>
              <a:t>+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  <a:r>
              <a:rPr lang="en-US"/>
              <a:t> + OH</a:t>
            </a:r>
            <a:r>
              <a:rPr lang="en-US" baseline="30000"/>
              <a:t>–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</a:p>
        </p:txBody>
      </p:sp>
      <p:sp>
        <p:nvSpPr>
          <p:cNvPr id="6155" name="AutoShape 11"/>
          <p:cNvSpPr>
            <a:spLocks noChangeArrowheads="1"/>
          </p:cNvSpPr>
          <p:nvPr/>
        </p:nvSpPr>
        <p:spPr bwMode="auto">
          <a:xfrm flipH="1">
            <a:off x="762000" y="2033588"/>
            <a:ext cx="1447800" cy="1143000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2582863" y="2714625"/>
            <a:ext cx="3602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"general formula for acid"</a:t>
            </a:r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6553200" y="2197100"/>
            <a:ext cx="2328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HCl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  <a:r>
              <a:rPr lang="en-US"/>
              <a:t>: A</a:t>
            </a:r>
            <a:r>
              <a:rPr lang="en-US" baseline="30000"/>
              <a:t>–</a:t>
            </a:r>
            <a:r>
              <a:rPr lang="en-US"/>
              <a:t> is Cl</a:t>
            </a:r>
            <a:r>
              <a:rPr lang="en-US" baseline="30000"/>
              <a:t>–</a:t>
            </a:r>
            <a:endParaRPr lang="en-US" baseline="-25000"/>
          </a:p>
        </p:txBody>
      </p:sp>
      <p:sp>
        <p:nvSpPr>
          <p:cNvPr id="6158" name="AutoShape 14"/>
          <p:cNvSpPr>
            <a:spLocks noChangeArrowheads="1"/>
          </p:cNvSpPr>
          <p:nvPr/>
        </p:nvSpPr>
        <p:spPr bwMode="auto">
          <a:xfrm flipH="1">
            <a:off x="762000" y="5094288"/>
            <a:ext cx="1447800" cy="1143000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2582863" y="5775325"/>
            <a:ext cx="3703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"general formula for base"</a:t>
            </a: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6019800" y="5257800"/>
            <a:ext cx="2832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NaOH</a:t>
            </a:r>
            <a:r>
              <a:rPr lang="en-US" baseline="-25000"/>
              <a:t>(</a:t>
            </a:r>
            <a:r>
              <a:rPr lang="en-US" i="1" baseline="-25000"/>
              <a:t>aq</a:t>
            </a:r>
            <a:r>
              <a:rPr lang="en-US" baseline="-25000"/>
              <a:t>)</a:t>
            </a:r>
            <a:r>
              <a:rPr lang="en-US"/>
              <a:t>: M</a:t>
            </a:r>
            <a:r>
              <a:rPr lang="en-US" baseline="30000"/>
              <a:t>+</a:t>
            </a:r>
            <a:r>
              <a:rPr lang="en-US"/>
              <a:t> is Na</a:t>
            </a:r>
            <a:r>
              <a:rPr lang="en-US" baseline="30000"/>
              <a:t>+</a:t>
            </a:r>
            <a:endParaRPr lang="en-US" baseline="-25000"/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5891213" y="3429000"/>
            <a:ext cx="3100387" cy="841375"/>
          </a:xfrm>
          <a:prstGeom prst="rect">
            <a:avLst/>
          </a:prstGeom>
          <a:noFill/>
          <a:ln w="19050">
            <a:solidFill>
              <a:srgbClr val="80008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aqueous = dissolved </a:t>
            </a:r>
          </a:p>
          <a:p>
            <a:r>
              <a:rPr lang="en-US" dirty="0"/>
              <a:t>                  in water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76200"/>
            <a:ext cx="8534400" cy="838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3600" b="1" dirty="0"/>
              <a:t>Introduction to Acid-Base Reactions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6096000" cy="5715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400" dirty="0"/>
              <a:t>Any substance that produce H</a:t>
            </a:r>
            <a:r>
              <a:rPr lang="en-US" sz="2400" baseline="30000" dirty="0"/>
              <a:t>+</a:t>
            </a:r>
            <a:r>
              <a:rPr lang="en-US" sz="2400" dirty="0"/>
              <a:t> ions</a:t>
            </a:r>
          </a:p>
          <a:p>
            <a:pPr eaLnBrk="1" hangingPunct="1"/>
            <a:r>
              <a:rPr lang="en-US" sz="2400" dirty="0"/>
              <a:t>Sour taste and changes the color of vegetable dyes.</a:t>
            </a:r>
          </a:p>
          <a:p>
            <a:pPr eaLnBrk="1" hangingPunct="1"/>
            <a:r>
              <a:rPr lang="en-US" sz="2400" dirty="0"/>
              <a:t>React with “active” metals.</a:t>
            </a:r>
          </a:p>
          <a:p>
            <a:pPr lvl="1" eaLnBrk="1" hangingPunct="1"/>
            <a:r>
              <a:rPr lang="en-US" sz="2000" dirty="0"/>
              <a:t>i.e., Al, Zn, Fe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en-US" sz="2000" dirty="0"/>
              <a:t>Zn + 2 </a:t>
            </a:r>
            <a:r>
              <a:rPr lang="en-US" sz="2000" dirty="0" err="1"/>
              <a:t>HCl</a:t>
            </a:r>
            <a:r>
              <a:rPr lang="en-US" sz="2000" dirty="0"/>
              <a:t> </a:t>
            </a:r>
            <a:r>
              <a:rPr lang="en-US" sz="2000" dirty="0">
                <a:latin typeface="Symbol" pitchFamily="18" charset="2"/>
              </a:rPr>
              <a:t>® </a:t>
            </a:r>
            <a:r>
              <a:rPr lang="en-US" sz="2000" dirty="0"/>
              <a:t>ZnCl</a:t>
            </a:r>
            <a:r>
              <a:rPr lang="en-US" sz="2000" baseline="-25000" dirty="0"/>
              <a:t>2</a:t>
            </a:r>
            <a:r>
              <a:rPr lang="en-US" sz="2000" dirty="0"/>
              <a:t> + H</a:t>
            </a:r>
            <a:r>
              <a:rPr lang="en-US" sz="2000" baseline="-25000" dirty="0"/>
              <a:t>2</a:t>
            </a:r>
            <a:endParaRPr lang="en-US" sz="2000" dirty="0"/>
          </a:p>
          <a:p>
            <a:pPr lvl="1" eaLnBrk="1" hangingPunct="1"/>
            <a:r>
              <a:rPr lang="en-US" sz="2000" dirty="0"/>
              <a:t>Very corrosive.</a:t>
            </a:r>
          </a:p>
          <a:p>
            <a:pPr eaLnBrk="1" hangingPunct="1"/>
            <a:r>
              <a:rPr lang="en-US" sz="2400" dirty="0"/>
              <a:t>React with carbonates, producing CO</a:t>
            </a:r>
            <a:r>
              <a:rPr lang="en-US" sz="2400" baseline="-25000" dirty="0"/>
              <a:t>2</a:t>
            </a:r>
            <a:r>
              <a:rPr lang="en-US" sz="2400" dirty="0"/>
              <a:t>.</a:t>
            </a:r>
            <a:endParaRPr lang="en-US" sz="2400" baseline="-25000" dirty="0"/>
          </a:p>
          <a:p>
            <a:pPr lvl="1" eaLnBrk="1" hangingPunct="1"/>
            <a:r>
              <a:rPr lang="en-US" sz="2000" dirty="0"/>
              <a:t>Marble, baking soda, chalk, limestone.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en-US" sz="2000" dirty="0"/>
              <a:t>CaCO</a:t>
            </a:r>
            <a:r>
              <a:rPr lang="en-US" sz="2000" baseline="-25000" dirty="0"/>
              <a:t>3</a:t>
            </a:r>
            <a:r>
              <a:rPr lang="en-US" sz="2000" dirty="0"/>
              <a:t> + 2 </a:t>
            </a:r>
            <a:r>
              <a:rPr lang="en-US" sz="2000" dirty="0" err="1"/>
              <a:t>HCl</a:t>
            </a:r>
            <a:r>
              <a:rPr lang="en-US" sz="2000" dirty="0"/>
              <a:t> </a:t>
            </a:r>
            <a:r>
              <a:rPr lang="en-US" sz="2000" dirty="0">
                <a:latin typeface="Symbol" pitchFamily="18" charset="2"/>
              </a:rPr>
              <a:t>® </a:t>
            </a:r>
            <a:r>
              <a:rPr lang="en-US" sz="2000" dirty="0"/>
              <a:t>CaCl</a:t>
            </a:r>
            <a:r>
              <a:rPr lang="en-US" sz="2000" baseline="-25000" dirty="0"/>
              <a:t>2</a:t>
            </a:r>
            <a:r>
              <a:rPr lang="en-US" sz="2000" dirty="0"/>
              <a:t> + CO</a:t>
            </a:r>
            <a:r>
              <a:rPr lang="en-US" sz="2000" baseline="-25000" dirty="0"/>
              <a:t>2</a:t>
            </a:r>
            <a:r>
              <a:rPr lang="en-US" sz="2000" dirty="0"/>
              <a:t> + H</a:t>
            </a:r>
            <a:r>
              <a:rPr lang="en-US" sz="2000" baseline="-25000" dirty="0"/>
              <a:t>2</a:t>
            </a:r>
            <a:r>
              <a:rPr lang="en-US" sz="2000" dirty="0"/>
              <a:t>O</a:t>
            </a:r>
          </a:p>
          <a:p>
            <a:pPr eaLnBrk="1" hangingPunct="1"/>
            <a:r>
              <a:rPr lang="en-US" sz="2400" dirty="0"/>
              <a:t>React with bases to form ionic salts. </a:t>
            </a:r>
          </a:p>
          <a:p>
            <a:pPr lvl="1" eaLnBrk="1" hangingPunct="1"/>
            <a:r>
              <a:rPr lang="en-US" sz="2000" dirty="0"/>
              <a:t>And often water (neutralization)</a:t>
            </a:r>
          </a:p>
        </p:txBody>
      </p:sp>
      <p:pic>
        <p:nvPicPr>
          <p:cNvPr id="41989" name="Picture 4" descr="FG14_01"/>
          <p:cNvPicPr>
            <a:picLocks noChangeAspect="1" noChangeArrowheads="1"/>
          </p:cNvPicPr>
          <p:nvPr/>
        </p:nvPicPr>
        <p:blipFill>
          <a:blip r:embed="rId3" cstate="print"/>
          <a:srcRect l="21875" r="21875"/>
          <a:stretch>
            <a:fillRect/>
          </a:stretch>
        </p:blipFill>
        <p:spPr bwMode="auto">
          <a:xfrm>
            <a:off x="6781800" y="838200"/>
            <a:ext cx="19431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0" name="Picture 7" descr="14_0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3733800"/>
            <a:ext cx="2205038" cy="217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152400" y="619125"/>
            <a:ext cx="30194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</a:rPr>
              <a:t>Facts about Acids:</a:t>
            </a:r>
          </a:p>
        </p:txBody>
      </p:sp>
    </p:spTree>
    <p:custDataLst>
      <p:tags r:id="rId1"/>
    </p:custDataLst>
  </p:cSld>
  <p:clrMapOvr>
    <a:masterClrMapping/>
  </p:clrMapOvr>
  <p:transition>
    <p:zoom dir="in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838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3600" b="1"/>
              <a:t>Some Common Acids</a:t>
            </a:r>
            <a:endParaRPr lang="en-US" b="1"/>
          </a:p>
        </p:txBody>
      </p:sp>
      <p:graphicFrame>
        <p:nvGraphicFramePr>
          <p:cNvPr id="5122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334963" y="990600"/>
          <a:ext cx="8550275" cy="559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9215971" imgH="6030202" progId="Word.Document.8">
                  <p:embed/>
                </p:oleObj>
              </mc:Choice>
              <mc:Fallback>
                <p:oleObj name="Document" r:id="rId4" imgW="9215971" imgH="6030202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990600"/>
                        <a:ext cx="8550275" cy="559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>
    <p:zoom dir="in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304800"/>
            <a:ext cx="4038600" cy="457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3200" b="1" u="sng">
                <a:solidFill>
                  <a:srgbClr val="FF0000"/>
                </a:solidFill>
              </a:rPr>
              <a:t>Facts about Bases:</a:t>
            </a:r>
            <a:endParaRPr lang="en-US" b="1" u="sng">
              <a:solidFill>
                <a:srgbClr val="FF0000"/>
              </a:solidFill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1816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/>
              <a:t>Any substance that produce OH</a:t>
            </a:r>
            <a:r>
              <a:rPr lang="en-US" baseline="30000"/>
              <a:t>-</a:t>
            </a:r>
            <a:r>
              <a:rPr lang="en-US"/>
              <a:t> ions.</a:t>
            </a:r>
          </a:p>
          <a:p>
            <a:pPr eaLnBrk="1" hangingPunct="1"/>
            <a:r>
              <a:rPr lang="en-US"/>
              <a:t>A.k.a. alkalis.</a:t>
            </a:r>
          </a:p>
          <a:p>
            <a:pPr eaLnBrk="1" hangingPunct="1"/>
            <a:r>
              <a:rPr lang="en-US"/>
              <a:t>Taste bitter and feel slippery.</a:t>
            </a:r>
          </a:p>
          <a:p>
            <a:pPr eaLnBrk="1" hangingPunct="1"/>
            <a:r>
              <a:rPr lang="en-US"/>
              <a:t>Change color of vegetable dyes.</a:t>
            </a:r>
          </a:p>
          <a:p>
            <a:pPr lvl="1" eaLnBrk="1" hangingPunct="1"/>
            <a:r>
              <a:rPr lang="en-US"/>
              <a:t>Different color than acid.</a:t>
            </a:r>
          </a:p>
          <a:p>
            <a:pPr lvl="1" eaLnBrk="1" hangingPunct="1"/>
            <a:r>
              <a:rPr lang="en-US"/>
              <a:t>Litmus = blue.</a:t>
            </a:r>
          </a:p>
          <a:p>
            <a:pPr eaLnBrk="1" hangingPunct="1"/>
            <a:r>
              <a:rPr lang="en-US"/>
              <a:t>React with acids to form ionic salts.</a:t>
            </a:r>
          </a:p>
          <a:p>
            <a:pPr lvl="1" eaLnBrk="1" hangingPunct="1"/>
            <a:r>
              <a:rPr lang="en-US"/>
              <a:t>And often water and the reaction is referred to as </a:t>
            </a:r>
            <a:r>
              <a:rPr lang="en-US" b="1"/>
              <a:t>Neutralization Reaction.</a:t>
            </a:r>
          </a:p>
        </p:txBody>
      </p:sp>
      <p:pic>
        <p:nvPicPr>
          <p:cNvPr id="43013" name="Picture 4" descr="FG14_04"/>
          <p:cNvPicPr>
            <a:picLocks noChangeAspect="1" noChangeArrowheads="1"/>
          </p:cNvPicPr>
          <p:nvPr/>
        </p:nvPicPr>
        <p:blipFill>
          <a:blip r:embed="rId3" cstate="print"/>
          <a:srcRect l="6557" r="6557"/>
          <a:stretch>
            <a:fillRect/>
          </a:stretch>
        </p:blipFill>
        <p:spPr bwMode="auto">
          <a:xfrm>
            <a:off x="6934200" y="1447800"/>
            <a:ext cx="2209800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>
    <p:zoom dir="in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6096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3600" b="1"/>
              <a:t>Some Common Bases</a:t>
            </a:r>
            <a:endParaRPr lang="en-US" b="1"/>
          </a:p>
        </p:txBody>
      </p:sp>
      <p:graphicFrame>
        <p:nvGraphicFramePr>
          <p:cNvPr id="6146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525463" y="914400"/>
          <a:ext cx="8629650" cy="551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639640" imgH="5524560" progId="Word.Document.8">
                  <p:embed/>
                </p:oleObj>
              </mc:Choice>
              <mc:Fallback>
                <p:oleObj name="Document" r:id="rId3" imgW="8639640" imgH="552456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914400"/>
                        <a:ext cx="8629650" cy="551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05000" y="6248400"/>
            <a:ext cx="5793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a lot of the </a:t>
            </a:r>
            <a:r>
              <a:rPr lang="en-US" dirty="0" err="1"/>
              <a:t>cations</a:t>
            </a:r>
            <a:r>
              <a:rPr lang="en-US" dirty="0"/>
              <a:t> are metals!!!</a:t>
            </a:r>
          </a:p>
        </p:txBody>
      </p:sp>
    </p:spTree>
    <p:custDataLst>
      <p:tags r:id="rId1"/>
    </p:custDataLst>
  </p:cSld>
  <p:clrMapOvr>
    <a:masterClrMapping/>
  </p:clrMapOvr>
  <p:transition>
    <p:zoom dir="in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ANDSHOWBAR" val="True"/>
  <p:tag name="BULLETTYPE" val="3"/>
  <p:tag name="RESPCOUNTERSTYLE" val="-1"/>
  <p:tag name="INPUTSOURCE" val="1"/>
  <p:tag name="BACKUPMAINTENANCE" val="7"/>
  <p:tag name="ROTATIONINTERVAL" val="2"/>
  <p:tag name="RACERSMAXDISPLAYED" val="5"/>
  <p:tag name="TEAMSINLEADERBOARD" val="5"/>
  <p:tag name="BUBBLEVALUEFORMAT" val="0.0"/>
  <p:tag name="CUSTOMCELLFORECOLOR" val="-16777216"/>
  <p:tag name="CUSTOMCELLBACKCOLOR4" val="-8355712"/>
  <p:tag name="DISPLAYDEVICEID" val="True"/>
  <p:tag name="GRIDSIZE" val="{Width=800, Height=600}"/>
  <p:tag name="CHARTLABELS" val="1"/>
  <p:tag name="PARTLISTDEFAULT" val="1"/>
  <p:tag name="INCORRECTPOINTVALUE" val="0"/>
  <p:tag name="AUTOADJUSTPARTRANGE" val="True"/>
  <p:tag name="FIBNUMRESULTS" val="5"/>
  <p:tag name="PRRESPONSE2" val="9"/>
  <p:tag name="PRRESPONSE6" val="5"/>
  <p:tag name="PRRESPONSE10" val="1"/>
  <p:tag name="POWERPOINTVERSION" val="12.0"/>
  <p:tag name="CSVFORMAT" val="0"/>
  <p:tag name="RESPCOUNTERFORMAT" val="0"/>
  <p:tag name="ALLOWDUPLICATES" val="False"/>
  <p:tag name="REVIEWONLY" val="False"/>
  <p:tag name="RACEANIMATIONSPEED" val="3"/>
  <p:tag name="BUBBLENAMEVISIBLE" val="True"/>
  <p:tag name="CUSTOMGRIDBACKCOLOR" val="-722948"/>
  <p:tag name="USESCHEMECOLORS" val="True"/>
  <p:tag name="GRIDROTATIONINTERVAL" val="2"/>
  <p:tag name="CHARTCOLORS" val="0"/>
  <p:tag name="INCLUDEPPT" val="True"/>
  <p:tag name="REALTIMEBACKUPPATH" val="(None)"/>
  <p:tag name="FIBDISPLAYRESULTS" val="True"/>
  <p:tag name="PRRESPONSE3" val="8"/>
  <p:tag name="PRRESPONSE8" val="3"/>
  <p:tag name="TPVERSION" val="2008"/>
  <p:tag name="ANSWERNOWSTYLE" val="-1"/>
  <p:tag name="COUNTDOWNSECONDS" val="10"/>
  <p:tag name="AUTOADVANCE" val="False"/>
  <p:tag name="SKIPREMAININGRACESLIDES" val="True"/>
  <p:tag name="BUBBLEGROUPING" val="3"/>
  <p:tag name="CUSTOMCELLBACKCOLOR3" val="-268652"/>
  <p:tag name="AUTOSIZEGRID" val="True"/>
  <p:tag name="INCLUDENONRESPONDERS" val="False"/>
  <p:tag name="REALTIMEBACKUP" val="False"/>
  <p:tag name="FIBINCLUDEOTHER" val="True"/>
  <p:tag name="PRRESPONSE5" val="6"/>
  <p:tag name="ALWAYSOPENPOLL" val="False"/>
  <p:tag name="ANSWERNOWTEXT" val="Answer Now"/>
  <p:tag name="BACKUPSESSIONS" val="True"/>
  <p:tag name="RACEENDPOINTS" val="100"/>
  <p:tag name="DEFAULTNUMTEAMS" val="5"/>
  <p:tag name="DISPLAYDEVICENUMBER" val="True"/>
  <p:tag name="RESETCHARTS" val="True"/>
  <p:tag name="ZEROBASED" val="False"/>
  <p:tag name="PRRESPONSE1" val="10"/>
  <p:tag name="SHOWFLASHWARNING" val="True"/>
  <p:tag name="COUNTDOWNSTYLE" val="-1"/>
  <p:tag name="AUTOUPDATEALIASES" val="True"/>
  <p:tag name="BUBBLESIZEVISIBLE" val="True"/>
  <p:tag name="GRIDOPACITY" val="90"/>
  <p:tag name="ALLOWUSERFEEDBACK" val="True"/>
  <p:tag name="FIBDISPLAYKEYWORDS" val="True"/>
  <p:tag name="SHOWBARVISIBLE" val="True"/>
  <p:tag name="NUMRESPONSES" val="1"/>
  <p:tag name="MAXRESPONDERS" val="5"/>
  <p:tag name="GRIDPOSITION" val="1"/>
  <p:tag name="CHARTSCALE" val="True"/>
  <p:tag name="PRRESPONSE9" val="2"/>
  <p:tag name="CHARTVALUEFORMAT" val="0%"/>
  <p:tag name="CUSTOMCELLBACKCOLOR2" val="-13395457"/>
  <p:tag name="CORRECTPOINTVALUE" val="1"/>
  <p:tag name="USESECONDARYMONITOR" val="True"/>
  <p:tag name="PARTICIPANTSINLEADERBOARD" val="5"/>
  <p:tag name="MULTIRESPDIVISOR" val="1"/>
  <p:tag name="SAVECSVWITHSESSION" val="True"/>
  <p:tag name="DISPLAYNAME" val="True"/>
  <p:tag name="PRRESPONSE7" val="4"/>
  <p:tag name="POLLINGCYCLE" val="2"/>
  <p:tag name="STDCHART" val="1"/>
  <p:tag name="RESPTABLESTYLE" val="-1"/>
  <p:tag name="CUSTOMCELLBACKCOLOR1" val="-657956"/>
  <p:tag name="PRRESPONSE4" val="7"/>
  <p:tag name="ADVANCEDSETTINGSVIEW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3922</TotalTime>
  <Words>4307</Words>
  <Application>Microsoft Macintosh PowerPoint</Application>
  <PresentationFormat>On-screen Show (4:3)</PresentationFormat>
  <Paragraphs>521</Paragraphs>
  <Slides>85</Slides>
  <Notes>6</Notes>
  <HiddenSlides>6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Calibri</vt:lpstr>
      <vt:lpstr>Symbol</vt:lpstr>
      <vt:lpstr>Times New Roman</vt:lpstr>
      <vt:lpstr>Wingdings</vt:lpstr>
      <vt:lpstr>Blank Presentation</vt:lpstr>
      <vt:lpstr>Equation</vt:lpstr>
      <vt:lpstr>Document</vt:lpstr>
      <vt:lpstr>Why are Reactions Important?</vt:lpstr>
      <vt:lpstr>How do reactions happen?</vt:lpstr>
      <vt:lpstr>How do reactions happen?</vt:lpstr>
      <vt:lpstr>What is a Chemical Reaction?</vt:lpstr>
      <vt:lpstr>Symbols Used in Chemical Equations</vt:lpstr>
      <vt:lpstr>PowerPoint Presentation</vt:lpstr>
      <vt:lpstr> Balancing Chemical Equations</vt:lpstr>
      <vt:lpstr>PowerPoint Presentation</vt:lpstr>
      <vt:lpstr>H2(g) +   O2(g) →    H2O(g)</vt:lpstr>
      <vt:lpstr>Example: Combustion of Methane</vt:lpstr>
      <vt:lpstr>PowerPoint Presentation</vt:lpstr>
      <vt:lpstr>How do reactions happen? Thermochemistry</vt:lpstr>
      <vt:lpstr>Remember: chemical reactions involve:</vt:lpstr>
      <vt:lpstr>Energetics of reactions: 1</vt:lpstr>
      <vt:lpstr>Will it dissolve?</vt:lpstr>
      <vt:lpstr>Energetics of reactions: 2</vt:lpstr>
      <vt:lpstr>Will it dissolve?</vt:lpstr>
      <vt:lpstr>Energetics of reactions: 3</vt:lpstr>
      <vt:lpstr>Another “hypothetical” reaction</vt:lpstr>
      <vt:lpstr>PowerPoint Presentation</vt:lpstr>
      <vt:lpstr>Another example</vt:lpstr>
      <vt:lpstr>Is ice melting endothermic or exothermic?</vt:lpstr>
      <vt:lpstr>All of this still doesn’t tell us how fast a reaction happens!!!</vt:lpstr>
      <vt:lpstr>Chemical kinetics</vt:lpstr>
      <vt:lpstr>Macroscopic factors that affect the rate of a reaction</vt:lpstr>
      <vt:lpstr>Multiple reaction steps</vt:lpstr>
      <vt:lpstr>Chemical kinetics</vt:lpstr>
      <vt:lpstr>What determines the rate of a reaction (microscopic)?</vt:lpstr>
      <vt:lpstr>PowerPoint Presentation</vt:lpstr>
      <vt:lpstr>Transition state</vt:lpstr>
      <vt:lpstr>Reaction rate depends on Ea</vt:lpstr>
      <vt:lpstr>Orientation matters</vt:lpstr>
      <vt:lpstr>Orientation matters</vt:lpstr>
      <vt:lpstr>Higher Temperature,  higher reaction rate</vt:lpstr>
      <vt:lpstr>Higher Temperature,  higher reaction rate</vt:lpstr>
      <vt:lpstr>Reaction rates</vt:lpstr>
      <vt:lpstr>Reaction rates</vt:lpstr>
      <vt:lpstr>Is there another way to make the reaction go faster?</vt:lpstr>
      <vt:lpstr>Catalyst example</vt:lpstr>
      <vt:lpstr>Catalyst example</vt:lpstr>
      <vt:lpstr>Another catalysis example - enzymes</vt:lpstr>
      <vt:lpstr>Reaction rates</vt:lpstr>
      <vt:lpstr>Dependence on concentration</vt:lpstr>
      <vt:lpstr>Dependence on concentration</vt:lpstr>
      <vt:lpstr>Reaction rates</vt:lpstr>
      <vt:lpstr>Rate law or expression</vt:lpstr>
      <vt:lpstr>How do we find the orders?</vt:lpstr>
      <vt:lpstr>Reaction orders</vt:lpstr>
      <vt:lpstr>Overall order of reaction</vt:lpstr>
      <vt:lpstr>For example</vt:lpstr>
      <vt:lpstr>Summary of important  rate law points</vt:lpstr>
      <vt:lpstr>Reaction Mechanisms</vt:lpstr>
      <vt:lpstr>Elementary reactions</vt:lpstr>
      <vt:lpstr>Elementary reactions</vt:lpstr>
      <vt:lpstr>Elementary reactions</vt:lpstr>
      <vt:lpstr>Elementary reactions</vt:lpstr>
      <vt:lpstr>Multistep reactions</vt:lpstr>
      <vt:lpstr>Multistep reactions</vt:lpstr>
      <vt:lpstr>Rate limiting or rate determining step</vt:lpstr>
      <vt:lpstr>Multistep reactions</vt:lpstr>
      <vt:lpstr>Another multistep mechanism</vt:lpstr>
      <vt:lpstr>Another multistep mechanism</vt:lpstr>
      <vt:lpstr>Summary of important  rate law points</vt:lpstr>
      <vt:lpstr>Extra materials</vt:lpstr>
      <vt:lpstr>Balance the following reactions</vt:lpstr>
      <vt:lpstr>Practice more examples</vt:lpstr>
      <vt:lpstr>Practice more examples</vt:lpstr>
      <vt:lpstr>Types of Reactions</vt:lpstr>
      <vt:lpstr>Combination Reactions</vt:lpstr>
      <vt:lpstr>Decomposition Reactions</vt:lpstr>
      <vt:lpstr>Single Displacement (or Replacement) Reactions</vt:lpstr>
      <vt:lpstr>Thermite reaction</vt:lpstr>
      <vt:lpstr>PowerPoint Presentation</vt:lpstr>
      <vt:lpstr>Practice—Classify the Following Reactions as Combination, Decomposition, Single Displacement, or Double Displacement.</vt:lpstr>
      <vt:lpstr>Type of Reactions – Cont…</vt:lpstr>
      <vt:lpstr>Combustion Reactions</vt:lpstr>
      <vt:lpstr>Solubility and Precipitation Reactions</vt:lpstr>
      <vt:lpstr>PowerPoint Presentation</vt:lpstr>
      <vt:lpstr>Why do ionic compounds dissociate in water?</vt:lpstr>
      <vt:lpstr>Precipitation Reactions</vt:lpstr>
      <vt:lpstr>Acids and Bases</vt:lpstr>
      <vt:lpstr>Introduction to Acid-Base Reactions</vt:lpstr>
      <vt:lpstr>Some Common Acids</vt:lpstr>
      <vt:lpstr>Facts about Bases:</vt:lpstr>
      <vt:lpstr>Some Common Bases</vt:lpstr>
    </vt:vector>
  </TitlesOfParts>
  <Company>Iowa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Theresa Windus</dc:creator>
  <cp:lastModifiedBy>Windus, Theresa L [CHEM]</cp:lastModifiedBy>
  <cp:revision>444</cp:revision>
  <cp:lastPrinted>2010-01-07T20:34:07Z</cp:lastPrinted>
  <dcterms:created xsi:type="dcterms:W3CDTF">2010-01-06T23:11:25Z</dcterms:created>
  <dcterms:modified xsi:type="dcterms:W3CDTF">2026-06-01T17:14:40Z</dcterms:modified>
</cp:coreProperties>
</file>